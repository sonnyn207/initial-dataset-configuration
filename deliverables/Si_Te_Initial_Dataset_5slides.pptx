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来源与口径：沿用 HfO₂/ZrO₂ 多相分类范式；Si 相类别为补充建议，需结合可靠相图与 DFT 验证。</a:t>
            </a:r>
          </a:p>
          <a:p>
            <a:r>
              <a:t>图表建议：Si 多晶型结构拼图 + 条件相图区示意；不将预测相或高压相标成常压稳定相。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来源与口径：仿照数据集构建策略，第2页；扩充组会材料的位错、非晶与液态类别；数值均为建议。</a:t>
            </a:r>
          </a:p>
          <a:p>
            <a:r>
              <a:t>图表建议：统计表配晶型、位错、非晶、液态、空位五类缩略图；端点与跨类重复结构仅计一次。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来源与口径：数据集构建策略，第3页；激光组会10.7，第4页；新增 Si 相变与缺陷生成策略。</a:t>
            </a:r>
          </a:p>
          <a:p>
            <a:r>
              <a:t>图表建议：位错滑移、熔化—淬火与空位诱导局域熔化的三条采样路线图；一步 AIMD 不算热采样。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来源与口径：数据集构建策略，第4页；Si 多相与缺陷的具体准确性须经基准测试。</a:t>
            </a:r>
          </a:p>
          <a:p>
            <a:r>
              <a:t>图表建议：泛函选型表 + 代表晶相相对能 / 体积曲线示意；不套用氧化物计算耗时。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来源与口径：激光组会10.7，第3–4页；参数与数量均待试算确认；模型适用范围须明确。</a:t>
            </a:r>
          </a:p>
          <a:p>
            <a:r>
              <a:t>图表建议：验收矩阵：晶相排序、缺陷 / 位错、非晶 / 熔体；势垒与晶相可达性作为主动学习补点依据。</a:t>
            </a:r>
          </a:p>
          <a:p>
            <a:r>
              <a:t>说明：本稿为研究方案；构型数量、验收阈值、参数范围和工期均为建议，非已完成实验或计算结果。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初始构型设计｜金刚石相 + 高压相 + 亚稳相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各相按压力、温度与制备路径筛选，不视为常压下均稳定。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覆盖结构 R × 体积 / 应变 × Tₑ；高压相权重按激光可达压力调整。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/>
                <a:gridCol w="3581400"/>
                <a:gridCol w="3581400"/>
              </a:tblGrid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晶体类型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物理地位 / 采样条件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构型目标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立方金刚石 Si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常压平衡晶相；含扰动与应变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140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β-Sn 型 Si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高压相；压缩与卸压采样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40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简单六方 sh-Si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更高压区间相；仅在工况需要时保留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30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BC8 / R8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高压卸载后可保留的亚稳相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30 / 30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六方金刚石型 / ST12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可选亚稳候选；验证结构、排除混相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20 / 10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Si 多晶型结构拼图 + 条件相图区示意；不将预测相或高压相标成常压稳定相。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沿用 HfO₂/ZrO₂ 多相分类范式；Si 相类别为补充建议，需结合可靠相图与 DFT 验证。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构型分类与数量统计｜多相、位错、无序与缺陷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去重后目标共 1 000 个几何结构；以下为预算，非已完成数据。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200 个锚点 × 6 个 Tₑ + 其余 800 个 × 2 个 Tₑ = 2 800 次标注。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/>
                <a:gridCol w="3581400"/>
                <a:gridCol w="3581400"/>
              </a:tblGrid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构型组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细分类别与数量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小计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金刚石基线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完美 20；随机扰动 60；应变 60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140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其他晶相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高压相 70；BC8/R8 60；其余候选 30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160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点缺陷与团簇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空位 100；自间隙 80；团簇 / 空洞胚胎 80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260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扩展缺陷与表面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位错 80；层错 / 孪晶 40；表面 40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160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非晶、熔体与相界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非晶 60；液态 60；相界 / 空位诱导熔化 60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180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245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迁移与转变路径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缺陷迁移 / 复合；相变；位错滑移中间态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100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统计表配晶型、位错、非晶、液态、空位五类缩略图；端点与跨类重复结构仅计一次。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仿照数据集构建策略，第2页；扩充组会材料的位错、非晶与液态类别；数值均为建议。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构型生成策略｜压卸载、位错滑移与空位诱导熔化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晶态空位与液态低配位 / 自由体积分别统计，不混用定义。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Tₑ 起始网格：300、3 000、6 000、9 000、12 000、15 000 K；Tᵢ 独立。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/>
                <a:gridCol w="3581400"/>
                <a:gridCol w="3581400"/>
              </a:tblGrid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构型类别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生成方法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重点覆盖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多晶相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晶胞优化；压缩 / 卸载；各相扰动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多体积、多应变；相间过渡结构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空位 / 间隙 / 团簇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删 / 插原子；局域弛豫与热扰动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单空位、多空位；Frenkel 对与复合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位错 / 层错 / 孪晶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刃型、螺型或部分位错；剪切驱动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缺陷核、核重构与滑移邻域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非晶 / 液态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多路径熔化—淬火；不同密度与 Tᵢ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局域配位；短 / 中程有序；去相关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空位诱导熔化 / 相界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含空位晶体加热；固液共存采样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空洞胚胎、熔化前沿、再凝固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245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反应 / 转变路径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固定 Tₑ 的 NEB 或受控形变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鞍点邻域；路径端点去重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位错滑移、熔化—淬火与空位诱导局域熔化的三条采样路线图；一步 AIMD 不算热采样。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数据集构建策略，第3页；激光组会10.7，第4页；新增 Si 相变与缺陷生成策略。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DFT 泛函选型｜兼顾多相排序与缺陷能量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拟以 PBE 统一主标签；先校验相间自由能、缺陷与压力响应。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其他泛函用于独立基准，不将不同泛函标签直接混训。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050"/>
                <a:gridCol w="2686050"/>
                <a:gridCol w="2686050"/>
                <a:gridCol w="2686050"/>
              </a:tblGrid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泛函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优点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局限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本课题用途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LDA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传统固体基准；成本较低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过结合；带隙低估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多相与体积对照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PBE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通用；便于批量标注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相对能、缺陷能仍需校验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拟用统一主标签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PBEsol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结构 / 应力基准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不保证相变和缺陷能更准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状态方程与弹性对照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SCAN / r²SCAN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部分相对能量可改善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成本、收敛要求提高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相排序、缺陷形成能校验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HSE06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带隙与缺陷态校验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昂贵；高激发应用需验证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代表结构电子态 / 光学校验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泛函选型表 + 代表晶相相对能 / 体积曲线示意；不套用氧化物计算耗时。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数据集构建策略，第4页；Si 多相与缺陷的具体准确性须经基准测试。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20624"/>
            <a:ext cx="73152" cy="438912"/>
          </a:xfrm>
          <a:prstGeom prst="rect">
            <a:avLst/>
          </a:prstGeom>
          <a:solidFill>
            <a:srgbClr val="44D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F4F7FC"/>
                </a:solidFill>
                <a:latin typeface="Noto Sans CJK SC"/>
              </a:defRPr>
            </a:pPr>
            <a:r>
              <a:t>DFT 参数与验收｜多相和缺陷均需独立验证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024128"/>
            <a:ext cx="10881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44D3C2"/>
                </a:solidFill>
                <a:latin typeface="Noto Sans CJK SC"/>
              </a:defRPr>
            </a:pPr>
            <a:r>
              <a:t>Si  /  ELECTRON-TEMPERATURE-DEPENDENT DEEP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35640" cy="1234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Mermin-DFT 标注 A = E − TₑSₑ、原子力与应力；使用物理 Fermi–Dirac 占据。</a:t>
            </a:r>
          </a:p>
          <a:p>
            <a:pPr>
              <a:spcAft>
                <a:spcPts val="900"/>
              </a:spcAft>
              <a:defRPr sz="1800" b="0">
                <a:solidFill>
                  <a:srgbClr val="F4F7FC"/>
                </a:solidFill>
                <a:latin typeface="Noto Sans CJK SC"/>
              </a:defRPr>
            </a:pPr>
            <a:r>
              <a:t>• 固定 Tₑ 比较 A(V) 与 A+PV 的条件排序；有限 Tᵢ 相稳定性还需离子自由能。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8880"/>
          <a:ext cx="10744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/>
                <a:gridCol w="3581400"/>
                <a:gridCol w="3581400"/>
              </a:tblGrid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参数 / 验收对象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起始设置或计算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验收原则</a:t>
                      </a:r>
                    </a:p>
                  </a:txBody>
                  <a:tcPr marL="109728" marR="73152" marT="27432" marB="18288" anchor="ctr">
                    <a:solidFill>
                      <a:srgbClr val="26505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超胞 / 边界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体相 64/216 原子起测；位错用兼容超胞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尺寸、真空、位错镜像收敛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截断能 / k 点 / 空带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逐项收敛；高压金属相加密 k 点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高 Tₑ 检查 NBANDS 与尾占据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晶相物理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A(V)、压力响应；弛豫与稳定性检查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不以单次优化证明热力学稳定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缺陷与无序物理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形成自由能、势垒、滑移；RDF 与配位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缺陷化学势一致；液态不套晶格空位判据</a:t>
                      </a:r>
                    </a:p>
                  </a:txBody>
                  <a:tcPr marL="109728" marR="73152" marT="27432" marB="18288" anchor="ctr">
                    <a:solidFill>
                      <a:srgbClr val="182A43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质控与划分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统一单位 / 赝势；按母结构与轨迹分组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F4F7FC"/>
                          </a:solidFill>
                          <a:latin typeface="Noto Sans CJK SC"/>
                        </a:defRPr>
                      </a:pPr>
                      <a:r>
                        <a:t>同 R 多 Tₑ / 同路径不跨组；失败点重算</a:t>
                      </a:r>
                    </a:p>
                  </a:txBody>
                  <a:tcPr marL="109728" marR="73152" marT="27432" marB="18288" anchor="ctr">
                    <a:solidFill>
                      <a:srgbClr val="21334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96128"/>
            <a:ext cx="10835640" cy="603504"/>
          </a:xfrm>
          <a:prstGeom prst="rect">
            <a:avLst/>
          </a:prstGeom>
          <a:solidFill>
            <a:srgbClr val="213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5650992"/>
            <a:ext cx="10515600" cy="48463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AABAD0"/>
                </a:solidFill>
                <a:latin typeface="Noto Sans CJK SC"/>
              </a:defRPr>
            </a:pPr>
            <a:r>
              <a:t>图 / 表建议  验收矩阵：晶相排序、缺陷 / 位错、非晶 / 熔体；势垒与晶相可达性作为主动学习补点依据。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428232"/>
            <a:ext cx="1033272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ABAD0"/>
                </a:solidFill>
                <a:latin typeface="Noto Sans CJK SC"/>
              </a:defRPr>
            </a:pPr>
            <a:r>
              <a:t>激光组会10.7，第3–4页；参数与数量均待试算确认；模型适用范围须明确。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409944"/>
            <a:ext cx="594360" cy="2743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44D3C2"/>
                </a:solidFill>
                <a:latin typeface="Noto Sans CJK SC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