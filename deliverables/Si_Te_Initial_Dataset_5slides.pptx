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68" r:id="rId2"/>
    <p:sldId id="1974" r:id="rId3"/>
    <p:sldId id="1969" r:id="rId4"/>
    <p:sldId id="1966" r:id="rId5"/>
    <p:sldId id="197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ED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4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A64C2-50CB-4C9A-AA69-B69ABBACDB3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A143-6F37-4B20-AA81-00D95A42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依据原模板第1页重新组织。晶相、缺陷与电子温度是并行覆盖维度。需要正式相图与基准计算决定条件候选；不宣称它们都会在激光辐照中出现。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图表建议：完全沿用原模板并列分类统计表，不另加装饰图。全部 89 类候选共 1394 个：基础 1175，条件备选 219；跨类去重后重算。路径数按中间态计；端点不重复计数。</a:t>
            </a:r>
          </a:p>
          <a:p>
            <a:r>
              <a:t>该表为几何候选配额而非已完成数据；极小值、前驱与热扰动态可能重合，实际去重后的保留量应报告。</a:t>
            </a:r>
          </a:p>
          <a:p>
            <a:r>
              <a:t>位错族须明确滑移系、柏氏矢量、线方向、核心结构和边界条件，多个变量组合后采样，不能以单个构型代表全族。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21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基础标注预算 = 2N + 4×ceil(0.2N)，锚点是基础候选子集。条件候选启用后单独追加并更新预算；去重后再重算实际工作量。物理 Te 与晶格温度 Ti 独立。轨迹需电子自洽与结构统计平衡；一步 AIMD 不代表热采样。最小距离、SCF 收敛和相关性过滤先于正式入库。图表沿用原模板第3页。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703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图表建议：完全沿用原模板并列分类统计表，不另加装饰图。建议候选配额，按几何 R 计数，不含重复 Tₑ。〔备〕为条件候选：按压力 / 路径可达性启用；笼型指纯 Si 空框架。</a:t>
            </a:r>
          </a:p>
          <a:p>
            <a:r>
              <a:t>该表为几何候选配额而非已完成数据；极小值、前驱与热扰动态可能重合，实际去重后的保留量应报告。</a:t>
            </a:r>
          </a:p>
          <a:p>
            <a:r>
              <a:t>位错族须明确滑移系、柏氏矢量、线方向、核心结构和边界条件，多个变量组合后采样，不能以单个构型代表全族。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依据原模板第4页重写适用方向；避免将原氧化物算例的 CPU 耗时及固定成本倍数外推到 Si。不得混训不同泛函标签。PBE 为拟定基线而非已确认最优选择。缺陷形成自由能需统一 Si 化学势，不直接比较不同原子数的总 A。单个弛豫极小值不等于热力学稳定相；动力学稳定性与可达性需独立检验。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56C7-D0BB-405B-A40B-E5078A24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5A72B-29AA-4311-8D97-3C9B6AAF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0B007-35ED-403A-9C07-718C38DA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BF50-141D-4DE6-A29B-8053ED2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C6F9-5ED9-41A0-B848-16FE70A6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D1C2-0D6C-494E-A550-62EC917D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8455-5CF1-4486-BE2F-B38107BA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60ED8-F251-4617-BEF1-F1561DE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B11C3-416A-4A32-AD76-67590E08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F2C4-FE4D-4782-8096-370C3E9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41505-8B7E-4AFF-9A42-8007EE6E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40D3E-783D-4F74-9AEC-DA9FEC67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AAD93-43F6-4052-96CD-FDB5EB97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10A13-77C2-4C85-9E06-2233570F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4DF7-C138-4C21-87FD-1B49EE1D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17FFA-80FA-4CF1-B446-CF3DA1A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F4A9-7906-4142-AA9A-15B676C2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B7DDE-B2F1-4DEF-A28C-8DAE6AA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0FF3A-ECEF-40F7-AC98-D90C5812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44691-5368-44B4-8153-A1A98E85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DAA84-5744-40E4-9694-E976F233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17531-5BDB-4BA8-9ABE-D76D3BC5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16EE39-403A-449A-9D44-D44C6B29F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F1D24-B3DA-4754-904A-B2502C32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81682-07C0-46A1-8FBC-CB72510C7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FDDB-C676-4574-8B55-FB83C3EA3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B97E78-3B20-49B4-99C4-5B0FB543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A4C4E4-2B5F-4A85-A11F-4F375E8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65F43-F2F4-46FC-B561-C60F19E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C2A3C-CF88-4BEB-AE1B-3C2D724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9AC66-F62D-4103-99FF-9E9DADD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DAC482-CC77-4518-9372-8A012411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89EF65-BEC6-45A4-AF0F-A6CA0D92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08729-D1DC-409B-A7AF-DD52B1C7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66D1-6ED9-4D82-AC3C-4947869F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E54E4-9029-412D-94B3-551914BB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3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A58-7B6D-4DBD-9DF3-7FC8E76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6FD5A-372A-4BCC-921F-3DAC5FCF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A83A0-979E-40F7-A338-031CAF48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8131C-8184-4B9C-B623-77787EA5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4A0EE8-8B3D-46C4-A5DB-009F454B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FD71-7F47-486F-8859-77CCE70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B292-5FE1-4093-AD42-B415C9A1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5E6B3-6F1A-4DD1-98B2-7553B5A58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A8B8B-5D32-4CA1-AC9B-F13AF666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359B0-C63D-4A63-9546-D5E2B6FA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3243B-7250-4085-AD68-AA8ADA2C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A967E-0FD5-42CE-B5FA-F24CDE6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E53D-5CC9-4653-A9E3-7DB3AF5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44AE1-2E9F-45A6-9D1E-9F1D4D6D8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F5AE9-C140-491D-A6EA-B8B72FE0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99578-9F39-4451-BB3E-383A83A1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DFA78-BBAF-43FC-8417-875A05C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65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69575-472E-46A1-8EF9-9EDDB742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E4C8F-ACF1-4C8D-9D80-CE6AC467A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5EA6B-4B90-415C-8A3C-4E89CE5E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6D9D0-7F1C-4445-AAC7-5FD842D5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ECC1-85CD-409D-93D4-58A1ADFD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7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AA2BB-9504-4189-B840-54ED67D0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161862"/>
            <a:ext cx="1152569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36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7691E1-50FC-481C-A0B4-BBBEE439F289}"/>
              </a:ext>
            </a:extLst>
          </p:cNvPr>
          <p:cNvCxnSpPr>
            <a:cxnSpLocks/>
          </p:cNvCxnSpPr>
          <p:nvPr userDrawn="1"/>
        </p:nvCxnSpPr>
        <p:spPr>
          <a:xfrm>
            <a:off x="0" y="81754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896C1A8-51E3-4600-8481-2CBB686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38" y="6433470"/>
            <a:ext cx="995109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8F805578-1D46-46B1-B6A4-39E4C4437D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49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6915C-2F92-4CEC-BE4B-339C4551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9013A-0A05-467A-9EB6-79B0E325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32DEA-4495-4E2F-83E4-754A4AB8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7D5D-FFFF-43D9-94F2-4258923E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4839F-D8F4-423A-90AB-D223823A2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初始数据集构建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1097280"/>
          <a:ext cx="1186891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9849"/>
                <a:gridCol w="2729849"/>
                <a:gridCol w="3441984"/>
                <a:gridCol w="2967228"/>
              </a:tblGrid>
              <a:tr h="7184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模型不足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增补构型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评价指标（与 DFT 对比）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多晶相稳定性与转变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仅有金刚石构型，无法覆盖压缩与卸压路径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dc、β-Sn、sh、BC8/R8；其他晶相按工况扩展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A(V)、压力响应、相对能；相变路径排序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点缺陷形成、迁移与复合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缺少空位团簇、间隙和复合前驱环境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单 / 多空位、空洞胚胎；间隙、Frenkel 对及路径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形成自由能、迁移 / 复合势垒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位错与面缺陷演化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缺位错核、层错、孪晶与晶界环境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完全 / 部分位错、核重构、滑移、位错环及面缺陷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核结构、层错能、滑移势垒与受力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熔化—非晶化—再凝固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缺少非平衡无序与相界构型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多密度液态、多速率非晶、固液界面、空位诱导熔化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RDF、配位、结构演化；相界与动力学稳定性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表面与缺陷耦合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缺少低配位和内部自由表面环境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重构表面、台阶、表面缺陷与微裂纹；烧蚀态按需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表面能、重构、局域力与应力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电子温度影响自由能面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只有单 Tₑ 标签，难分离结构与电子效应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 R 多 Tₑ；联合结构演化轨迹覆盖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A(Tₑ)、力与应力；未见结构和 Tₑ 插值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图表：沿用原模板任务矩阵。范围为纯 Si；默认中性缺陷。相稳定条件须核实，不把所有候选相视为常压稳定。</a:t>
            </a:r>
          </a:p>
        </p:txBody>
      </p:sp>
    </p:spTree>
    <p:extLst>
      <p:ext uri="{BB962C8B-B14F-4D97-AF65-F5344CB8AC3E}">
        <p14:creationId xmlns:p14="http://schemas.microsoft.com/office/powerpoint/2010/main" val="22390334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初始数据集构建｜晶相与点缺陷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晶相构型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453896"/>
          <a:ext cx="28346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金刚石 dc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六方金刚石〔备〕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β-Sn（高压）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Imma（高压）〔备〕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简单六方 sh（高压）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Cmca（高压）〔备〕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hcp（高压）〔备〕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fcc（高压）〔备〕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BC8（卸压亚稳）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R8（卸压亚稳）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ST12（亚稳候选）〔备〕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Si24 开放框架〔备〕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笼型 I〔备〕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笼型 II〔备〕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候选合计（含备选 135）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82112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体相扰动与应变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82112" y="1453896"/>
          <a:ext cx="2834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静水拉伸 / 压缩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单轴拉伸 / 压缩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多轴非等体积应变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剪切与滑移前驱态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独立随机原子位移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热扰动 / 声子快照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低密度膨胀晶体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高密度局部压缩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63056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空位与空洞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63056" y="1453896"/>
          <a:ext cx="28346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单空位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相邻双空位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分离双空位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三空位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四空位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5–10 空位小团簇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纳米空洞胚胎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空位局域重构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应变下空位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 Tᵢ 空位邻域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间隙与复合缺陷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0" y="1453896"/>
          <a:ext cx="28346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四面体间隙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六角间隙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〈110〉分裂间隙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〈100〉分裂间隙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键中心间隙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双间隙团簇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多间隙小团簇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近邻 Frenkel 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远隔 Frenkel 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复合前驱构型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建议候选配额，按几何 R 计数，不含重复 Tₑ。〔备〕为条件候选：按压力 / 路径可达性启用；笼型指纯 Si 空框架。</a:t>
            </a:r>
          </a:p>
        </p:txBody>
      </p:sp>
    </p:spTree>
    <p:extLst>
      <p:ext uri="{BB962C8B-B14F-4D97-AF65-F5344CB8AC3E}">
        <p14:creationId xmlns:p14="http://schemas.microsoft.com/office/powerpoint/2010/main" val="32594885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初始数据集构建｜扩展缺陷与非平衡构型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位错与面缺陷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453896"/>
          <a:ext cx="28346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60° 完全位错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螺型完全位错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90° 部分位错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30° 部分位错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位错核重构 / 扭折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位错环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内禀层错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外禀层错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孪晶界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倾斜 / 扭转晶界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82112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表面、界面与烧蚀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82112" y="1453896"/>
          <a:ext cx="28346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(001) 重构表面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(110) 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(111) 重构表面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表面台阶 / 扭折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表面吸附 Si 原子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近表面空位 / 间隙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 / BC8 相界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 / R8 相界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晶体 / 非晶界面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微裂纹 / 内表面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孤立 Si 原子〔备〕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Si₂ / Si₃ 小团簇〔备〕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稀薄喷射 / 断键态〔备〕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短程近碰构型〔备〕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候选合计（含备选 60）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63056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非晶、熔体与相界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63056" y="1453896"/>
          <a:ext cx="2834640" cy="374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熔点附近液态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 Tᵢ 熔体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过冷液态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多密度液态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快速淬火非晶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慢速淬火非晶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高密度非晶候选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低密度非晶候选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固液共存界面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空位诱导局部熔化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再凝固 / 重结晶前沿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1051560"/>
            <a:ext cx="28346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迁移与转变路径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0" y="1453896"/>
          <a:ext cx="283464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566928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 / 子类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空位迁移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间隙原子迁移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Frenkel 对复合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缺陷团簇聚并 / 重排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位错滑移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空位吸收 / 位错攀移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 → β-Sn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β-Sn → Imma〔备〕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Imma → sh〔备〕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β-Sn → BC8 / R8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BC8 ↔ R8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C00000"/>
                          </a:solidFill>
                          <a:latin typeface="Noto Serif CJK SC"/>
                        </a:defRPr>
                      </a:pPr>
                      <a:r>
                        <a:t>dc → 六方堆垛〔备〕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候选合计（含备选 24）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19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104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全部 89 类候选共 1394 个：基础 1175，条件备选 219；跨类去重后重算。路径数按中间态计；端点不重复计数。</a:t>
            </a:r>
          </a:p>
        </p:txBody>
      </p:sp>
    </p:spTree>
    <p:extLst>
      <p:ext uri="{BB962C8B-B14F-4D97-AF65-F5344CB8AC3E}">
        <p14:creationId xmlns:p14="http://schemas.microsoft.com/office/powerpoint/2010/main" val="39592979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数据产生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56" y="1097280"/>
          <a:ext cx="1174089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361"/>
                <a:gridCol w="2817815"/>
                <a:gridCol w="6809719"/>
              </a:tblGrid>
              <a:tr h="724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如何构建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具体做法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晶相与应变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各相晶胞 + 多体积 / 多应变扰动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初始按线性缩放 0.95/1/1.05 × 5 个扰动取 15 个候选；高压相以其适用密度为中心。压缩、卸压与受控形变补充过渡环境。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空位、间隙与复合缺陷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删 / 插原子 + 局域重构 + 热采样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空位数、团簇几何、间隙取向、Frenkel 对距离分层取样；同时保留弛豫态和非平衡态。初始候选可不稳定，按弛豫去向重新分类。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位错、层错与表面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缺陷构建 + 受控剪切 / 表面弛豫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构建代表滑移系、位错核、层错、孪晶、晶界及重构表面；检查周期镜像与真空。烧蚀工况再补单原子、团簇、断键喷射及短程近碰态。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非晶、熔体与熔化缺陷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多路径 AIMD + 熔化 / 淬火 / 共存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覆盖多密度、多 Tᵢ、多淬火速率；补含空位晶体局域熔化、固液共存和再凝固。液态统计低配位 / 自由体积，不直接沿用晶格空位定义。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迁移与相变路径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 Tₑ 的 NEB / 受控路径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路径初始约 8 个中间图像，检查图像数与势垒收敛；变胞仅在需要时使用。熔化和无序化主要取动力学快照，不以单一 NEB 路径替代。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249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Tₑ 采样与标签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 R 扫温 + 轨迹结构标注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Tₑ 起点：300 / 3k / 6k / 9k / 12k / 15k K。基础候选先取 2 个相关 Tₑ，再选约 20% 锚点补齐 6 点；统一输出 A、原子力、应力。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图表：沿用原模板生成策略表。AIMD 先平衡再去相关抽帧；按核心 1175 个候选估算，235 个锚点对应约 3290 次标注。</a:t>
            </a:r>
          </a:p>
        </p:txBody>
      </p:sp>
    </p:spTree>
    <p:extLst>
      <p:ext uri="{BB962C8B-B14F-4D97-AF65-F5344CB8AC3E}">
        <p14:creationId xmlns:p14="http://schemas.microsoft.com/office/powerpoint/2010/main" val="18690567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DFT 泛函选型与标注要求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" y="1069848"/>
          <a:ext cx="118872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2734056"/>
                <a:gridCol w="2971800"/>
                <a:gridCol w="3209544"/>
                <a:gridCol w="1901952"/>
              </a:tblGrid>
              <a:tr h="5812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泛函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优点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适合方向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相对计算成本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LDA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成本较低；传统固体基准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过结合；带隙低估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多相、体积的独立对照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较低；需 Si 实测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通用、数值成熟，便于批量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相间能量、缺陷能和带隙需验证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拟用统一主标签；先做 Si 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GGA 基线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PBEsol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固体结构、弹性和应力基准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不保证相变 / 缺陷能更准确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晶格、状态方程和应力对照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与 GGA 同量级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SCAN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部分相对能量与成键可改善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数值与收敛要求高，成本提高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代表晶相与缺陷独立校验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高于 GGA；需实测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r²SCAN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正则化后通常更易数值处理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仍需网格 / 截断能与体系验证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相序、缺陷形成能校验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高于 GGA；需实测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HSE06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带隙、缺陷态基准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昂贵；金属 / 高激发需谨慎验证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少量代表结构电子态 / 光学校验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显著较高；不套固定倍数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0312" y="5321808"/>
            <a:ext cx="1175004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11111"/>
                </a:solidFill>
                <a:latin typeface="Noto Serif CJK SC"/>
              </a:defRPr>
            </a:pPr>
            <a:r>
              <a:t>标注：Fermi–Dirac 占据；A = E − TₑSₑ；统一赝势 / 泛函 / 单位 / 应力符号，高 Tₑ 收敛空带。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11111"/>
                </a:solidFill>
                <a:latin typeface="Noto Serif CJK SC"/>
              </a:defRPr>
            </a:pPr>
            <a:r>
              <a:t>收敛：逐类检查超胞、k 点、截断能和电子自洽；高压金属相、位错及表面另做尺寸 / 边界测试。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11111"/>
                </a:solidFill>
                <a:latin typeface="Noto Serif CJK SC"/>
              </a:defRPr>
            </a:pPr>
            <a:r>
              <a:t>验证：相序 / 缺陷势垒 / 位错核 / RDF；按母构型、轨迹和路径分组，同 R 的多 Tₑ 标签不跨组。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图表：沿用原模板泛函表。固定 Tₑ 可比较 A(V) 和 A+PV；有限 Tᵢ 稳定性还需离子自由能。数据量与参数均为建议。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1187</Words>
  <Application>Microsoft Office PowerPoint</Application>
  <PresentationFormat>宽屏</PresentationFormat>
  <Paragraphs>190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quote-cjk-patch</vt:lpstr>
      <vt:lpstr>等线</vt:lpstr>
      <vt:lpstr>等线 Light</vt:lpstr>
      <vt:lpstr>微软雅黑</vt:lpstr>
      <vt:lpstr>Arial</vt:lpstr>
      <vt:lpstr>Times New Roman</vt:lpstr>
      <vt:lpstr>Office 主题​​</vt:lpstr>
      <vt:lpstr>微调数据集构建</vt:lpstr>
      <vt:lpstr>界面数据</vt:lpstr>
      <vt:lpstr>数据产生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超晶格</dc:title>
  <dc:creator>QB</dc:creator>
  <cp:lastModifiedBy>QB</cp:lastModifiedBy>
  <cp:revision>252</cp:revision>
  <dcterms:created xsi:type="dcterms:W3CDTF">2026-01-05T02:03:48Z</dcterms:created>
  <dcterms:modified xsi:type="dcterms:W3CDTF">2026-06-23T06:37:18Z</dcterms:modified>
</cp:coreProperties>
</file>