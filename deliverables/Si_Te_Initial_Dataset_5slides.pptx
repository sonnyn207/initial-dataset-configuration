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1968" r:id="rId2"/>
    <p:sldId id="1974" r:id="rId3"/>
    <p:sldId id="1969" r:id="rId4"/>
    <p:sldId id="1966" r:id="rId5"/>
    <p:sldId id="197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5686"/>
    <a:srgbClr val="ED1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044" autoAdjust="0"/>
  </p:normalViewPr>
  <p:slideViewPr>
    <p:cSldViewPr snapToGrid="0">
      <p:cViewPr varScale="1">
        <p:scale>
          <a:sx n="99" d="100"/>
          <a:sy n="99" d="100"/>
        </p:scale>
        <p:origin x="9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5A64C2-50CB-4C9A-AA69-B69ABBACDB3D}" type="datetimeFigureOut">
              <a:rPr lang="zh-CN" altLang="en-US" smtClean="0"/>
              <a:t>2026/6/23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2BA143-6F37-4B20-AA81-00D95A421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278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依据《数据集构建策略》第1页任务矩阵和《激光组会10.7》第3–4页。压缩为代表性初始种子集，不宣称120个几何构型即可获得通用可靠势。各高压相和卸压亚稳相依据条件选择，不视为常压稳定。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BA143-6F37-4B20-AA81-00D95A4214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25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本页保持原模板《数据产生》的三列表格。若结构沿不同Te动力学变化，应另标记为不同几何结构；固定R多Te支路则绝不在扫温之间改变R。结构生成与DFT标注使用一致的单位、赝势和泛函。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BA143-6F37-4B20-AA81-00D95A4214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821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PBE是待基准确认的方案选择，而非已证明最优。不同泛函用于独立误差诊断。高Te空带、自洽、截断能与k点须分别收敛，不能以相同泛函代替数值一致性检查。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2BA143-6F37-4B20-AA81-00D95A4214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67034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晶相参考20个候选：dc 8、β-Sn 4、sh 4、BC8 2、R8 2。点缺陷20个：空位10、间隙5、Frenkel对5。扩展缺陷10个：代表位错6、层错/孪晶4。表面5个含低指数表面和近表面低配位环境。每类配额偏小，首轮只用于起步；按模型偏差和物理基准扩充。液态和非晶同样使用6个电子温度标签；Ti记录在结构元数据中。kBT值四舍五入显示，实际设置用精确常数。720为120个去重几何结构在6个Te上的标注预算，非已计算数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一Te假设电子子系统可用热化占据描述；载流子数独立变化或明显非热分布时需重新检验适用性。对于固定R锚点扫温不重新弛豫；其他动态采样中的结构变化作为另一几何候选。插值验证结构应按母构型分组，保持独立性，且清楚报告结构泛化与温度插值两种任务。若以Te导数估计电子熵/热容，必须另验证导数；本初始训练不自动证明其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8B56C7-D0BB-405B-A40B-E5078A24B7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75A72B-29AA-4311-8D97-3C9B6AAFE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90B007-35ED-403A-9C07-718C38DA8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60BF50-141D-4DE6-A29B-8053ED201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99C6F9-5ED9-41A0-B848-16FE70A6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430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65D1C2-0D6C-494E-A550-62EC917D6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F48455-5CF1-4486-BE2F-B38107BAE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F60ED8-F251-4617-BEF1-F1561DE8C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7B11C3-416A-4A32-AD76-67590E08E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8FF2C4-FE4D-4782-8096-370C3E904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084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541505-8B7E-4AFF-9A42-8007EE6E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A40D3E-783D-4F74-9AEC-DA9FEC670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5AAD93-43F6-4052-96CD-FDB5EB97A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AC10A13-77C2-4C85-9E06-2233570FF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F04DF7-C138-4C21-87FD-1B49EE1D5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042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17FFA-80FA-4CF1-B446-CF3DA1A19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FFF4A9-7906-4142-AA9A-15B676C29C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AEB7DDE-B2F1-4DEF-A28C-8DAE6AA95E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A0FF3A-ECEF-40F7-AC98-D90C58129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044691-5368-44B4-8153-A1A98E855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8DAA84-5744-40E4-9694-E976F2336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9584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117531-5BDB-4BA8-9ABE-D76D3BC55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F16EE39-403A-449A-9D44-D44C6B29F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0EF1D24-B3DA-4754-904A-B2502C3270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581682-07C0-46A1-8FBC-CB72510C74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82AFDDB-C676-4574-8B55-FB83C3EA33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9B97E78-3B20-49B4-99C4-5B0FB5437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6A4C4E4-2B5F-4A85-A11F-4F375E85B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2265F43-F2F4-46FC-B561-C60F19EEC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DC2A3C-CF88-4BEB-AE1B-3C2D7247F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D9AC66-F62D-4103-99FF-9E9DADD7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CDAC482-CC77-4518-9372-8A012411A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89EF65-BEC6-45A4-AF0F-A6CA0D925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613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C08729-D1DC-409B-A7AF-DD52B1C7F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E3666D1-6ED9-4D82-AC3C-4947869F0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FE54E4-9029-412D-94B3-551914BB3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353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B32A58-7B6D-4DBD-9DF3-7FC8E7633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06FD5A-372A-4BCC-921F-3DAC5FCF0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EA83A0-979E-40F7-A338-031CAF4809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88131C-8184-4B9C-B623-77787EA59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4A0EE8-8B3D-46C4-A5DB-009F454B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923FD71-7F47-486F-8859-77CCE706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8907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A5B292-5FE1-4093-AD42-B415C9A14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645E6B3-6F1A-4DD1-98B2-7553B5A58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8A8B8B-5D32-4CA1-AC9B-F13AF6665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42359B0-C63D-4A63-9546-D5E2B6FAE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B3243B-7250-4085-AD68-AA8ADA2C3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AA967E-0FD5-42CE-B5FA-F24CDE625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016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76E53D-5CC9-4653-A9E3-7DB3AF5A2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C44AE1-2E9F-45A6-9D1E-9F1D4D6D8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CF5AE9-C140-491D-A6EA-B8B72FE00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899578-9F39-4451-BB3E-383A83A15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FDFA78-BBAF-43FC-8417-875A05CC5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7652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2669575-472E-46A1-8EF9-9EDDB742AF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4E4C8F-ACF1-4C8D-9D80-CE6AC467A3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45EA6B-4B90-415C-8A3C-4E89CE5E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66D9D0-7F1C-4445-AAC7-5FD842D55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CAECC1-85CD-409D-93D4-58A1ADFDC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872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7AA2BB-9504-4189-B840-54ED67D0D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45" y="161862"/>
            <a:ext cx="11525692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>
              <a:defRPr sz="3600" b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987691E1-50FC-481C-A0B4-BBBEE439F289}"/>
              </a:ext>
            </a:extLst>
          </p:cNvPr>
          <p:cNvCxnSpPr>
            <a:cxnSpLocks/>
          </p:cNvCxnSpPr>
          <p:nvPr userDrawn="1"/>
        </p:nvCxnSpPr>
        <p:spPr>
          <a:xfrm>
            <a:off x="0" y="817540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3896C1A8-51E3-4600-8481-2CBB686F6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76038" y="6433470"/>
            <a:ext cx="995109" cy="365125"/>
          </a:xfrm>
        </p:spPr>
        <p:txBody>
          <a:bodyPr/>
          <a:lstStyle>
            <a:lvl1pPr>
              <a:defRPr sz="1600" b="1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defRPr>
            </a:lvl1pPr>
          </a:lstStyle>
          <a:p>
            <a:fld id="{8F805578-1D46-46B1-B6A4-39E4C4437D99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0649881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F56915C-2F92-4CEC-BE4B-339C4551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9013A-0A05-467A-9EB6-79B0E3259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D32DEA-4495-4E2F-83E4-754A4AB86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3E7D5D-FFFF-43D9-94F2-4258923EEE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D4839F-D8F4-423A-90AB-D223823A21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C99F9-44F7-422B-AFB0-895161D5A8B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2093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初始数据集构建｜结构空间 × 电子温度 Tₑ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" y="1188720"/>
          <a:ext cx="1186891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093"/>
                <a:gridCol w="2848538"/>
                <a:gridCol w="3679362"/>
                <a:gridCol w="3085917"/>
              </a:tblGrid>
              <a:tr h="8686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任务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模型不足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增补构型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评价指标（与 DFT 对比）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覆盖代表晶相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只用常温金刚石，缺少压缩 / 卸压环境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dc、β-Sn、sh、BC8、R8；各相稳定条件分别核实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A(V)、压力与相对能；非平衡相变路径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覆盖关键缺陷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缺少低配位和非平衡局域环境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空位、间隙、Frenkel 对；代表位错、层错 / 孪晶、表面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形成自由能、迁移势垒、缺陷核与局域受力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覆盖熔化与无序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缺少激光加热后的结构状态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非晶、液态、固液界面、空位诱导局域熔化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RDF、配位、缺陷及熔化邻域动力学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显式学习 Tₑ 依赖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单一 Tₑ 无法学习电子激发自由能面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同一几何 R 在 6 个 Tₑ 分别计算 A、原子力和应力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6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固定 R 的 A(Tₑ)、力 / 应力；Tₑ 插值与敏感性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6032" y="5760720"/>
            <a:ext cx="11612880" cy="41148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002060"/>
                </a:solidFill>
                <a:latin typeface="Noto Serif CJK SC"/>
              </a:defRPr>
            </a:pPr>
            <a:r>
              <a:t>首轮采用 120 个几何构型 × 6 个 Tₑ = 720 组标签；这是初始种子集，后续按模型偏差补点。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图表：沿用原模板任务矩阵。Tₑ 通过电子占据进入 Mermin-DFT；晶格温度 Tᵢ 用于原子构型采样，两者独立。</a:t>
            </a:r>
          </a:p>
        </p:txBody>
      </p:sp>
    </p:spTree>
    <p:extLst>
      <p:ext uri="{BB962C8B-B14F-4D97-AF65-F5344CB8AC3E}">
        <p14:creationId xmlns:p14="http://schemas.microsoft.com/office/powerpoint/2010/main" val="223903349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构型数量统计｜120 个几何结构 × 6 个 Tₑ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1042415"/>
            <a:ext cx="6400800" cy="3200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11111"/>
                </a:solidFill>
                <a:latin typeface="Noto Serif CJK SC"/>
              </a:defRPr>
            </a:pPr>
            <a:r>
              <a:t>结构分类与标注数量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042415"/>
            <a:ext cx="5120640" cy="32004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11111"/>
                </a:solidFill>
                <a:latin typeface="Noto Serif CJK SC"/>
              </a:defRPr>
            </a:pPr>
            <a:r>
              <a:t>明确列出 Tₑ 网格与电子展宽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1168" y="1463040"/>
          <a:ext cx="640080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896112"/>
                <a:gridCol w="768096"/>
                <a:gridCol w="1216152"/>
              </a:tblGrid>
              <a:tr h="41979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构型类别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几何数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Tₑ 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标签数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晶相参考（dc/β-Sn/sh/BC8/R8）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随机扰动与应变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空位 / 间隙 / Frenkel 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位错 / 层错 / 孪晶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代表表面与近表面缺陷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非晶（两种淬火路径）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液态（两种晶格温度）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固液界面 / 空位诱导熔化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迁移路径中间态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15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90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19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合计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720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76288" y="1463040"/>
          <a:ext cx="5074918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2475"/>
                <a:gridCol w="1826971"/>
                <a:gridCol w="1725472"/>
              </a:tblGrid>
              <a:tr h="44005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Tₑ / K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kBTₑ / eV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标注组数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0.026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3,000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0.259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0.517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9,000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0.776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1.034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15,000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1.293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120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合计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6 个温度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720 组标签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31152" y="5230368"/>
            <a:ext cx="4937760" cy="73152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0">
                <a:solidFill>
                  <a:srgbClr val="002060"/>
                </a:solidFill>
                <a:latin typeface="Noto Serif CJK SC"/>
              </a:defRPr>
            </a:pPr>
            <a:r>
              <a:t>固定 R、晶胞和原子数，仅改变 Tₑ；不在每个 Tₑ 重新弛豫同一锚点。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图表：沿用原模板并列统计表。数量为建议预算；跨类去重，路径端点不重复计数。高 Tₑ 范围经试算后调整。</a:t>
            </a:r>
          </a:p>
        </p:txBody>
      </p:sp>
    </p:spTree>
    <p:extLst>
      <p:ext uri="{BB962C8B-B14F-4D97-AF65-F5344CB8AC3E}">
        <p14:creationId xmlns:p14="http://schemas.microsoft.com/office/powerpoint/2010/main" val="3259488512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数据产生｜构型生成 + 固定结构多 Tₑ 标注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56" y="1115568"/>
          <a:ext cx="11740895" cy="4956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361"/>
                <a:gridCol w="2817815"/>
                <a:gridCol w="6809719"/>
              </a:tblGrid>
              <a:tr h="82600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任务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如何构建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具体做法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260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晶相、扰动与应变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代表晶胞 + 小幅缩放 / 扰动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各相以适用密度为中心；选择体积、剪切与独立随机扰动。先取少量差异明显的结构，不穷举相 / 缺陷组合。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260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点缺陷与扩展缺陷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删 / 插原子；位错 / 面缺陷构建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空位、间隙、Frenkel 对取弛豫态和少量热扰动态；位错选代表核环境。表面、位错分别检查真空、周期兼容性与镜像效应。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260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非晶、熔体与熔化邻域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熔化—淬火；固液共存与含空位加热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两种淬火路径生成非晶；两个 Tᵢ 生成液态。AIMD 平衡后去相关抽帧；液态按配位 / 自由体积描述，不直接定义晶格空位。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260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迁移路径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弛豫端点 + 固定 Tₑ NEB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选择空位 / 间隙的代表迁移路径，筛选约 15 个中间态；检查图像数收敛。生成后固定中间态 R，分别进行多 Tₑ 单点。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8260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电子温度维度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同一 R 扫描全部六个 Tₑ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固定结构 → 设置 Fermi–Dirac 占据 → 逐 Tₑ 自洽 → 导出 A、原子力、应力；构成一一对应的 R×Tₑ 数据矩阵。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图表：沿用原模板生成策略表。Tᵢ 控制几何采样；Tₑ 控制电子标注。单步 AIMD 不作为平衡热构型采样。</a:t>
            </a:r>
          </a:p>
        </p:txBody>
      </p:sp>
    </p:spTree>
    <p:extLst>
      <p:ext uri="{BB962C8B-B14F-4D97-AF65-F5344CB8AC3E}">
        <p14:creationId xmlns:p14="http://schemas.microsoft.com/office/powerpoint/2010/main" val="3959297944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DFT 泛函选型｜统一主标签与独立验证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" y="1143000"/>
          <a:ext cx="118872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9848"/>
                <a:gridCol w="2734056"/>
                <a:gridCol w="2971800"/>
                <a:gridCol w="3209544"/>
                <a:gridCol w="1901952"/>
              </a:tblGrid>
              <a:tr h="6400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泛函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优点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适合方向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相对计算成本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LDA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传统固体基准；成本较低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过结合、带隙低估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体积与相对能对照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较低，Si 实测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PBE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通用，适合批量标注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缺陷 / 相对能和带隙需验证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拟定统一主标签；先做基准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GGA 基线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PBEsol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结构、弹性与应力基准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相变 / 缺陷能未必更优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结构、状态方程对照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与 GGA 同量级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SCAN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部分相对能量可改善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数值收敛要求高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少量晶相 / 缺陷校验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高于 GGA，实测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r²SCAN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正则化后通常更易计算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仍需网格和截断能验证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关键结构独立校验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高于 GGA，实测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HSE06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带隙、缺陷态校验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昂贵；高 Tₑ 应用需验证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少量代表结构光学校验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显著较高，实测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6032" y="5806440"/>
            <a:ext cx="1161288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0">
                <a:solidFill>
                  <a:srgbClr val="002060"/>
                </a:solidFill>
                <a:latin typeface="Noto Serif CJK SC"/>
              </a:defRPr>
            </a:pPr>
            <a:r>
              <a:t>PBE 暂作首轮基线；全部 Tₑ 使用同一泛函和赝势，不直接混合不同泛函的训练标签。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图表：沿用原模板泛函选型表；氧化物案例的耗时与固定倍数不直接用于 Si。光学量独立计算，不作为势训练标签。</a:t>
            </a:r>
          </a:p>
        </p:txBody>
      </p:sp>
    </p:spTree>
    <p:extLst>
      <p:ext uri="{BB962C8B-B14F-4D97-AF65-F5344CB8AC3E}">
        <p14:creationId xmlns:p14="http://schemas.microsoft.com/office/powerpoint/2010/main" val="1869056731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0896" y="210312"/>
            <a:ext cx="11521440" cy="5943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000" b="0">
                <a:solidFill>
                  <a:srgbClr val="002060"/>
                </a:solidFill>
                <a:latin typeface="Noto Sans CJK SC"/>
              </a:defRPr>
            </a:pPr>
            <a:r>
              <a:t>Tₑ 依赖标注与训练｜输入、标签、验证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2104"/>
            <a:ext cx="12191695" cy="7315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" y="1115568"/>
          <a:ext cx="11868911" cy="4974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6404"/>
                <a:gridCol w="3085917"/>
                <a:gridCol w="6646590"/>
              </a:tblGrid>
              <a:tr h="7106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项目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核心设置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1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具体执行与验收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71061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Tₑ 如何进入 DFT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Fermi–Dirac 占据，电子热化假设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若使用 VASP：ISMEAR = −1，SIGMA = kBTₑ（eV）；不是任意数值展宽。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71061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训练目标是什么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电子 Helmholtz 自由能及其导数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A(R,Tₑ) = E − TₑSₑ；原子力 F = −∂A/∂R｜Tₑ；记录与之对应的应力。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71061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Tₑ 如何进入模型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Tₑ 作为显式条件输入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Aθ(R,Tₑ) = Σᵢ aθ(Dᵢ(R),Tₑ)；联合拟合 A、原子力与应力。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71061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计算参数如何确认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逐类收敛超胞、截断能、k 点与空带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体相64/216原子可作起点；位错、表面另检边界。随 Tₑ 增加 NBANDS，检查高能端占据和 SCF。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71061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如何验证 Tₑ 依赖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固定结构对照曲线 + 未见 Tₑ 测试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比较 A(Tₑ)、原子力和应力；可在1 500 / 4 500 K 追加少量插值验证，不计入首轮720。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  <a:tr h="71062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如何划分与扩充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母构型 / 轨迹 / 路径分组；模型偏差补点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  <a:defRPr sz="1450" b="0">
                          <a:solidFill>
                            <a:srgbClr val="111111"/>
                          </a:solidFill>
                          <a:latin typeface="Noto Serif CJK SC"/>
                        </a:defRPr>
                      </a:pPr>
                      <a:r>
                        <a:t>同 R 的六个 Tₑ 标签不跨结构组；120个仅为种子集。优先补大误差的结构和温区，不盲目加类别。</a:t>
                      </a:r>
                    </a:p>
                  </a:txBody>
                  <a:tcPr marL="64008" marR="54864" marT="22860" marB="22860" anchor="ctr">
                    <a:solidFill>
                      <a:srgbClr val="FFFFFF"/>
                    </a:solidFill>
                    <a:lnL w="6350">
                      <a:solidFill>
                        <a:srgbClr val="555555"/>
                      </a:solidFill>
                    </a:lnL>
                    <a:lnR w="6350">
                      <a:solidFill>
                        <a:srgbClr val="555555"/>
                      </a:solidFill>
                    </a:lnR>
                    <a:lnT w="6350">
                      <a:solidFill>
                        <a:srgbClr val="555555"/>
                      </a:solidFill>
                    </a:lnT>
                    <a:lnB w="6350">
                      <a:solidFill>
                        <a:srgbClr val="5555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" y="6345936"/>
            <a:ext cx="11704320" cy="365760"/>
          </a:xfrm>
          <a:prstGeom prst="rect">
            <a:avLst/>
          </a:prstGeom>
          <a:noFill/>
        </p:spPr>
        <p:txBody>
          <a:bodyPr wrap="square" lIns="22860" rIns="2286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06060"/>
                </a:solidFill>
                <a:latin typeface="Noto Serif CJK SC"/>
              </a:defRPr>
            </a:pPr>
            <a:r>
              <a:t>图表：固定 R 的多 Tₑ 数据矩阵 / A(Tₑ) 对照曲线。720 组为首轮预算；Tₑ 与 Tᵢ 独立，缺陷能需统一化学势。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3949</TotalTime>
  <Words>1187</Words>
  <Application>Microsoft Office PowerPoint</Application>
  <PresentationFormat>宽屏</PresentationFormat>
  <Paragraphs>190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quote-cjk-patch</vt:lpstr>
      <vt:lpstr>等线</vt:lpstr>
      <vt:lpstr>等线 Light</vt:lpstr>
      <vt:lpstr>微软雅黑</vt:lpstr>
      <vt:lpstr>Arial</vt:lpstr>
      <vt:lpstr>Times New Roman</vt:lpstr>
      <vt:lpstr>Office 主题​​</vt:lpstr>
      <vt:lpstr>微调数据集构建</vt:lpstr>
      <vt:lpstr>界面数据</vt:lpstr>
      <vt:lpstr>数据产生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超晶格</dc:title>
  <dc:creator>QB</dc:creator>
  <cp:lastModifiedBy>QB</cp:lastModifiedBy>
  <cp:revision>252</cp:revision>
  <dcterms:created xsi:type="dcterms:W3CDTF">2026-01-05T02:03:48Z</dcterms:created>
  <dcterms:modified xsi:type="dcterms:W3CDTF">2026-06-23T06:37:18Z</dcterms:modified>
</cp:coreProperties>
</file>