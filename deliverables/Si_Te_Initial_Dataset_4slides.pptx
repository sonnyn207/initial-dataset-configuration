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1968" r:id="rId2"/>
    <p:sldId id="1974" r:id="rId3"/>
    <p:sldId id="1969" r:id="rId4"/>
    <p:sldId id="1975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5686"/>
    <a:srgbClr val="ED13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7044" autoAdjust="0"/>
  </p:normalViewPr>
  <p:slideViewPr>
    <p:cSldViewPr snapToGrid="0">
      <p:cViewPr varScale="1">
        <p:scale>
          <a:sx n="99" d="100"/>
          <a:sy n="99" d="100"/>
        </p:scale>
        <p:origin x="9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5A64C2-50CB-4C9A-AA69-B69ABBACDB3D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2BA143-6F37-4B20-AA81-00D95A4214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22789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沿用用户《数据集构建策略》第1页。所有数值为首轮执行起点，需基准确认；不是已经验证的最优参数。不扩大首轮构型类别，保留用户要求的晶相、位错、非晶、液态与空位诱导熔化。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2BA143-6F37-4B20-AA81-00D95A4214BB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25258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来源：用户《数据集构建策略.pptx》第3页。沿用“已有构型 / 端点 + 生成手段 + 具体操作及产出”写法，保留120×6=720，不扩充类别。</a:t>
            </a:r>
          </a:p>
          <a:p>
            <a:r>
              <a:t>执行要点：1. 晶相参考压力起点dc/BC8/R8=0 GPa、β-Sn=12 GPa、sh=20 GPa，需可靠原型CIF、相结构与稳定性确认；线性缩放不是体积缩放。体相随机扰动3个缩放取0.97/1/1.03，每个seed独立；5个剪切γxy=−4/−2/0/2/4%。</a:t>
            </a:r>
          </a:p>
          <a:p>
            <a:r>
              <a:t>2. 缺陷母体在216原子dc中构建；Frenkel空位—间隙距离约4–8 Å，局域弛豫至max|F|&lt;0.02 eV/Å。若弛豫复合，保存弛豫前的前驱态并重分类，不把已复合结构当缺陷。</a:t>
            </a:r>
          </a:p>
          <a:p>
            <a:r>
              <a:t>3. 位错采用(111)面、b=a/2[1 −1 0]；螺型线方向[1 −1 0]，60°线方向[1 0 −1]。层错取u=a/12[1 1 −2]、a/6[1 1 −2]；孪晶取2和4双层厚度。表面≥12层、15 Å真空、固定底4层；Si(001)含2×1重构，小Si(111)胞不声称覆盖7×7重构。所有尺寸须检查镜像收敛。</a:t>
            </a:r>
          </a:p>
          <a:p>
            <a:r>
              <a:t>4. SW只作候选生成：Δt=1fs；3500 K熔化20ps；淬火速率10^13/10^14 K/s，各5独立初速度种子，300 K平衡5ps后每轨迹取1帧。液态两Ti各NPT0bar平衡10ps后固定平均体积NVT10ps，每2ps取一帧；相关性未衰减则延长。</a:t>
            </a:r>
          </a:p>
          <a:p>
            <a:r>
              <a:t>5. 固液界面216原子半固定半3500K加热15ps，解冻1700K；确认两相仍在后每≥2ps取5帧。含空位升温使用216原子删3个距离≥5 Å原子；100 K/ps升温至1600/1750/1900/2050/2200 K各保持2ps取1帧；按RDF/配位/扩散确认状态，未熔不强称液态。液态用低配位与自由体积描述，不套晶格空位。</a:t>
            </a:r>
          </a:p>
          <a:p>
            <a:r>
              <a:t>6. NEB固定300K，端点力&lt;0.02 eV/Å，路径F_perp&lt;0.05 eV/Å；5图像不足则加到9或更多检验，再选5代表中间态。若Frenkel端点无可维持的母态，换用第二种可核实的缺陷迁移路径，并更新路径名称，几何预算不自动增加。</a:t>
            </a:r>
          </a:p>
          <a:p>
            <a:r>
              <a:t>7. 同R的6个Te不跨结构分组；轨迹按母轨迹、路径按整条NEB分组。最高温度收敛空带，全部标签同一泛函 / 赝势；SW的E/F不能混入监督标签。720仅指最终静态标签，不含弛豫 / NEB / 收敛测试。</a:t>
            </a:r>
          </a:p>
          <a:p>
            <a:r>
              <a:t>所有数值为待试算起点，未实际运行DFT。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2BA143-6F37-4B20-AA81-00D95A4214B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08212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Tₑ网格使用精确 kB=8.617333262×10^-5 eV/K换算，表中仅显示三位小数；Tᵢ是几何采样的热浴温度，不由Tₑ替代。首轮按结构、轨迹和路径家族分组；不得随机打散相邻轨迹帧及同R不同Te。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参数仅以VASP为例，使用同一套PAW-PBE Si赝势；PREC=Accurate、LREAL=.FALSE.、ISYM=0可作为初始设置。Nocc指占满价带所需能带数，依据电子数和自旋设置确定，不打印或依赖凭空指定NBANDS。最高带占据需覆盖所有k点/自旋；必要时尾部多带检查及A/F/应力二次收敛。母结构弛豫和NEB参数另设，不要复用NSW=0。最终静态标签冻结几何，不附加SW能量，不使用E0替代有限Te自由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8B56C7-D0BB-405B-A40B-E5078A24B7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E75A72B-29AA-4311-8D97-3C9B6AAFE3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90B007-35ED-403A-9C07-718C38DA8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B60BF50-141D-4DE6-A29B-8053ED201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699C6F9-5ED9-41A0-B848-16FE70A66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C99F9-44F7-422B-AFB0-895161D5A8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9430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65D1C2-0D6C-494E-A550-62EC917D6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9F48455-5CF1-4486-BE2F-B38107BAE3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0F60ED8-F251-4617-BEF1-F1561DE8C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D7B11C3-416A-4A32-AD76-67590E08E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88FF2C4-FE4D-4782-8096-370C3E904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C99F9-44F7-422B-AFB0-895161D5A8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0843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541505-8B7E-4AFF-9A42-8007EE6E8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EA40D3E-783D-4F74-9AEC-DA9FEC6708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E5AAD93-43F6-4052-96CD-FDB5EB97A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AC10A13-77C2-4C85-9E06-2233570FF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FF04DF7-C138-4C21-87FD-1B49EE1D5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C99F9-44F7-422B-AFB0-895161D5A8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10427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C17FFA-80FA-4CF1-B446-CF3DA1A19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5FFF4A9-7906-4142-AA9A-15B676C29C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AEB7DDE-B2F1-4DEF-A28C-8DAE6AA95E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1A0FF3A-ECEF-40F7-AC98-D90C58129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3044691-5368-44B4-8153-A1A98E855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58DAA84-5744-40E4-9694-E976F2336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C99F9-44F7-422B-AFB0-895161D5A8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9584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117531-5BDB-4BA8-9ABE-D76D3BC55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F16EE39-403A-449A-9D44-D44C6B29F4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0EF1D24-B3DA-4754-904A-B2502C3270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3581682-07C0-46A1-8FBC-CB72510C74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82AFDDB-C676-4574-8B55-FB83C3EA33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9B97E78-3B20-49B4-99C4-5B0FB5437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6A4C4E4-2B5F-4A85-A11F-4F375E85B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2265F43-F2F4-46FC-B561-C60F19EEC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C99F9-44F7-422B-AFB0-895161D5A8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218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DC2A3C-CF88-4BEB-AE1B-3C2D7247F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1D9AC66-F62D-4103-99FF-9E9DADD70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CDAC482-CC77-4518-9372-8A012411A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589EF65-BEC6-45A4-AF0F-A6CA0D925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C99F9-44F7-422B-AFB0-895161D5A8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6139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1C08729-D1DC-409B-A7AF-DD52B1C7F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E3666D1-6ED9-4D82-AC3C-4947869F0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6FE54E4-9029-412D-94B3-551914BB3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C99F9-44F7-422B-AFB0-895161D5A8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35367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B32A58-7B6D-4DBD-9DF3-7FC8E7633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06FD5A-372A-4BCC-921F-3DAC5FCF0B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6EA83A0-979E-40F7-A338-031CAF4809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288131C-8184-4B9C-B623-77787EA59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64A0EE8-8B3D-46C4-A5DB-009F454BA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923FD71-7F47-486F-8859-77CCE7065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C99F9-44F7-422B-AFB0-895161D5A8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8907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A5B292-5FE1-4093-AD42-B415C9A14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645E6B3-6F1A-4DD1-98B2-7553B5A585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78A8B8B-5D32-4CA1-AC9B-F13AF66659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42359B0-C63D-4A63-9546-D5E2B6FAE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8B3243B-7250-4085-AD68-AA8ADA2C3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4AA967E-0FD5-42CE-B5FA-F24CDE625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C99F9-44F7-422B-AFB0-895161D5A8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70167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76E53D-5CC9-4653-A9E3-7DB3AF5A2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DC44AE1-2E9F-45A6-9D1E-9F1D4D6D85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CF5AE9-C140-491D-A6EA-B8B72FE00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5899578-9F39-4451-BB3E-383A83A15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4FDFA78-BBAF-43FC-8417-875A05CC5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C99F9-44F7-422B-AFB0-895161D5A8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76520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2669575-472E-46A1-8EF9-9EDDB742AF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04E4C8F-ACF1-4C8D-9D80-CE6AC467A3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545EA6B-4B90-415C-8A3C-4E89CE5EE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A66D9D0-7F1C-4445-AAC7-5FD842D55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ACAECC1-85CD-409D-93D4-58A1ADFDC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C99F9-44F7-422B-AFB0-895161D5A8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08726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7AA2BB-9504-4189-B840-54ED67D0D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45" y="161862"/>
            <a:ext cx="11525692" cy="646331"/>
          </a:xfrm>
          <a:prstGeom prst="rect">
            <a:avLst/>
          </a:prstGeom>
        </p:spPr>
        <p:txBody>
          <a:bodyPr wrap="square">
            <a:spAutoFit/>
          </a:bodyPr>
          <a:lstStyle>
            <a:lvl1pPr algn="l">
              <a:defRPr sz="3600" b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987691E1-50FC-481C-A0B4-BBBEE439F289}"/>
              </a:ext>
            </a:extLst>
          </p:cNvPr>
          <p:cNvCxnSpPr>
            <a:cxnSpLocks/>
          </p:cNvCxnSpPr>
          <p:nvPr userDrawn="1"/>
        </p:nvCxnSpPr>
        <p:spPr>
          <a:xfrm>
            <a:off x="0" y="817540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3896C1A8-51E3-4600-8481-2CBB686F6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76038" y="6433470"/>
            <a:ext cx="995109" cy="365125"/>
          </a:xfrm>
        </p:spPr>
        <p:txBody>
          <a:bodyPr/>
          <a:lstStyle>
            <a:lvl1pPr>
              <a:defRPr sz="16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fld id="{8F805578-1D46-46B1-B6A4-39E4C4437D99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06498810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F56915C-2F92-4CEC-BE4B-339C45517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3C9013A-0A05-467A-9EB6-79B0E3259E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3D32DEA-4495-4E2F-83E4-754A4AB864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B3E7D5D-FFFF-43D9-94F2-4258923EEE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D4839F-D8F4-423A-90AB-D223823A21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C99F9-44F7-422B-AFB0-895161D5A8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2093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0896" y="210312"/>
            <a:ext cx="11521440" cy="59436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3000" b="0">
                <a:solidFill>
                  <a:srgbClr val="002060"/>
                </a:solidFill>
                <a:latin typeface="Noto Sans CJK SC"/>
              </a:defRPr>
            </a:pPr>
            <a:r>
              <a:t>初始数据集构建｜结构空间 × 电子温度 Tₑ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32104"/>
            <a:ext cx="12191695" cy="7315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64592" y="1143000"/>
          <a:ext cx="1186891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6404"/>
                <a:gridCol w="2729849"/>
                <a:gridCol w="3798051"/>
                <a:gridCol w="3204606"/>
              </a:tblGrid>
              <a:tr h="87782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600" b="1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任务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600" b="1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模型不足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600" b="1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增补构型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600" b="1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评价指标（与 DFT 对比）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6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晶相与受载响应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6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只有常压金刚石，缺压缩 / 卸压环境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6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dc、β-Sn、sh、BC8、R8；体积扰动与剪切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6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A(V)、压力、相对能与局域受力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6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缺陷与低配位环境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6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缺迁移前驱、位错核与表面构型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6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单 / 双空位、分裂间隙、Frenkel对；位错、面缺陷、表面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6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形成自由能、迁移势垒、核结构及表面响应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6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熔化与无序化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6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缺非平衡无序及界面构型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6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两速率非晶、两温度液态、固液界面、空位诱导局部熔化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6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RDF、配位、结构及热动力学稳定性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6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学习 Tₑ 依赖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6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不能用单温标签表示电子激发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6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固定120个几何 R，各标注6个 Tₑ；共720组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6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A(Tₑ)、力、应力；未见结构 / 温度插值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56032" y="5779008"/>
            <a:ext cx="11612880" cy="384048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600" b="0">
                <a:solidFill>
                  <a:srgbClr val="002060"/>
                </a:solidFill>
                <a:latin typeface="Noto Serif CJK SC"/>
              </a:defRPr>
            </a:pPr>
            <a:r>
              <a:t>执行顺序：参数基准 → 生成并去重120个R → 固定R扫6个Tₑ → 质控导出 → 分组训练 / 补点。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345936"/>
            <a:ext cx="11704320" cy="36576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06060"/>
                </a:solidFill>
                <a:latin typeface="Noto Serif CJK SC"/>
              </a:defRPr>
            </a:pPr>
            <a:r>
              <a:t>图表：原模板任务矩阵。120为初始种子集目标；720仅指最终单点标签，不含母结构弛豫、NEB与额外收敛测试。</a:t>
            </a:r>
          </a:p>
        </p:txBody>
      </p:sp>
    </p:spTree>
    <p:extLst>
      <p:ext uri="{BB962C8B-B14F-4D97-AF65-F5344CB8AC3E}">
        <p14:creationId xmlns:p14="http://schemas.microsoft.com/office/powerpoint/2010/main" val="2239033495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0896" y="210312"/>
            <a:ext cx="11521440" cy="59436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3000" b="0">
                <a:solidFill>
                  <a:srgbClr val="002060"/>
                </a:solidFill>
                <a:latin typeface="Noto Sans CJK SC"/>
              </a:defRPr>
            </a:pPr>
            <a:r>
              <a:t>构型数量统计｜每一项均对应具体生成步骤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32104"/>
            <a:ext cx="12191695" cy="7315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1024128"/>
            <a:ext cx="7132320" cy="32004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1800" b="0">
                <a:solidFill>
                  <a:srgbClr val="111111"/>
                </a:solidFill>
                <a:latin typeface="Noto Serif CJK SC"/>
              </a:defRPr>
            </a:pPr>
            <a:r>
              <a:t>几何构型预算与生成算式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71231" y="1024128"/>
            <a:ext cx="4389120" cy="32004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1800" b="0">
                <a:solidFill>
                  <a:srgbClr val="111111"/>
                </a:solidFill>
                <a:latin typeface="Noto Serif CJK SC"/>
              </a:defRPr>
            </a:pPr>
            <a:r>
              <a:t>6 个 Tₑ 与 Fermi–Dirac 展宽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01168" y="1435608"/>
          <a:ext cx="7150607" cy="4645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3676"/>
                <a:gridCol w="2931749"/>
                <a:gridCol w="929579"/>
                <a:gridCol w="1215603"/>
              </a:tblGrid>
              <a:tr h="42228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280" b="1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构型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280" b="1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数量来源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280" b="1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几何数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280" b="1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标签数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42228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28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晶相参考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28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5相×4体积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28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20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28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120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42228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28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扰动 / 应变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28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3缩放×5扰动+5剪切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28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20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28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120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42228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28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点缺陷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28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4类×5扰动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28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20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28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120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42228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28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位错 / 层错 / 孪晶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28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6+2+2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28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10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28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60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42228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28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表面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28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3+2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28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5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28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30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42228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28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非晶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28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2淬火速率×5种子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28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10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28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60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42228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28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液态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28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2温度×5帧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28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10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28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60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42228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28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界面 / 局部熔化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28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5+5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28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10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28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60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42228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28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迁移路径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28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3路径×5中间态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28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15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28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90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42229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28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合计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28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全部固定R扫6个Tₑ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28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120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28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720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571231" y="1435608"/>
          <a:ext cx="4407407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0370"/>
                <a:gridCol w="1674815"/>
                <a:gridCol w="1322222"/>
              </a:tblGrid>
              <a:tr h="4400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1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Tₑ / K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1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kBTₑ / eV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1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标注数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300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0.026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120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3,000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0.259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120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6,000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0.517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120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9,000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0.776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120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12,000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1.034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120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15,000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1.293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120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合计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6个温度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720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607808" y="5212080"/>
            <a:ext cx="4297680" cy="77724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500" b="0">
                <a:solidFill>
                  <a:srgbClr val="002060"/>
                </a:solidFill>
                <a:latin typeface="Noto Serif CJK SC"/>
              </a:defRPr>
            </a:pPr>
            <a:r>
              <a:t>同一 R 不随 Tₑ 重弛豫。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500" b="0">
                <a:solidFill>
                  <a:srgbClr val="002060"/>
                </a:solidFill>
                <a:latin typeface="Noto Serif CJK SC"/>
              </a:defRPr>
            </a:pPr>
            <a:r>
              <a:t>跨类重复只计一次；不足按原生成规则补足。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6345936"/>
            <a:ext cx="11704320" cy="36576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06060"/>
                </a:solidFill>
                <a:latin typeface="Noto Serif CJK SC"/>
              </a:defRPr>
            </a:pPr>
            <a:r>
              <a:t>图表：原模板并列数量表。路径端点归母构型，不重复计数；固定R多Tₑ标签保持在同一结构数据分组。</a:t>
            </a:r>
          </a:p>
        </p:txBody>
      </p:sp>
    </p:spTree>
    <p:extLst>
      <p:ext uri="{BB962C8B-B14F-4D97-AF65-F5344CB8AC3E}">
        <p14:creationId xmlns:p14="http://schemas.microsoft.com/office/powerpoint/2010/main" val="3259488512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0896" y="210312"/>
            <a:ext cx="11521440" cy="59436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3000" b="0">
                <a:solidFill>
                  <a:srgbClr val="002060"/>
                </a:solidFill>
                <a:latin typeface="Noto Sans CJK SC"/>
              </a:defRPr>
            </a:pPr>
            <a:r>
              <a:t>数据产生｜单晶硅 Tₑ 依赖势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32104"/>
            <a:ext cx="12191695" cy="7315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19456" y="1051560"/>
          <a:ext cx="11740895" cy="5093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5952"/>
                <a:gridCol w="2582997"/>
                <a:gridCol w="7161946"/>
              </a:tblGrid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1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任务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1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如何构建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1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具体做法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晶相与体相扰动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40个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已有晶相原型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+ DFT弛豫与扰动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以dc、β-Sn、sh、BC8、R8的相应参考压力弛豫结构为母体，各取4个线性缩放点（0.97/0.99/1.01/1.03），得20个；另对dc作3种缩放×5次σ=0.03 Å随机扰动，再加5个剪切态，得20个。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点缺陷构型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20个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完美Si超胞删 / 插原子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+ DFT局域弛豫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在216原子dc中分别构建单空位、近邻双空位、〈110〉分裂间隙和Frenkel对；每类母体局域弛豫后，施加5次σ=0.02 Å独立扰动，得4×5=20个。扰动后不再整体弛豫，避免回到同一极小值。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位错、面缺陷与表面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15个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已有缺陷母胞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+ 受控剪切 / 重构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螺型与60°位错采用周期相容、净柏氏矢量为0的偶极母胞，各取−2/0/2%剪切态，得6个；补2个层错态、2个孪晶厚度态；再取(001)完整/空位/加Si原子和(111)完整/空位5个表面态，共15个。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非晶、液态与熔化邻域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30个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可靠Si势生成轨迹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+ DFT重新标注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熔体按两种速率淬火，各取5个独立非晶终态，得10个；在Tᵢ=2000/3000 K平衡后，各取5个去相关液态帧，得10个；另取固液界面5帧、含空位晶体升温过程5帧，得10个。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缺陷迁移路径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15个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DFT优化初末态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+ 固定Tₑ的NEB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选择空位迁移、分裂间隙迁移、Frenkel复合3条路径；用IDPP插值并在Tₑ=300 K做NEB，每条筛选5个中间态，得15个，端点不重复计数。图像数收敛后再筛选；变胞仅在物理问题需要时使用。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固定结构多Tₑ标注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720组标签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同一R改变电子占据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+ Mermin-DFT单点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将上述120个几何结构逐一固定R与晶胞，在Tₑ=300/3000/6000/9000/12000/15000 K分别单点计算，得120×6=720组A、原子力、应力；使用Fermi–Dirac占据和一致DFT参数，不按Tₑ重新弛豫R。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28600" y="6345936"/>
            <a:ext cx="11704320" cy="36576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06060"/>
                </a:solidFill>
                <a:latin typeface="Noto Serif CJK SC"/>
              </a:defRPr>
            </a:pPr>
            <a:r>
              <a:t>图表：沿用原模板生成策略表。前5类合计120个R，末行为720组Tₑ标签；参数为试算起点，详细边界与程序见执行清单。</a:t>
            </a:r>
          </a:p>
        </p:txBody>
      </p:sp>
    </p:spTree>
    <p:extLst>
      <p:ext uri="{BB962C8B-B14F-4D97-AF65-F5344CB8AC3E}">
        <p14:creationId xmlns:p14="http://schemas.microsoft.com/office/powerpoint/2010/main" val="3959297944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0896" y="210312"/>
            <a:ext cx="11521440" cy="59436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3000" b="0">
                <a:solidFill>
                  <a:srgbClr val="002060"/>
                </a:solidFill>
                <a:latin typeface="Noto Sans CJK SC"/>
              </a:defRPr>
            </a:pPr>
            <a:r>
              <a:t>DFT 选型与标注设置｜先试算，再统一批量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32104"/>
            <a:ext cx="12191695" cy="7315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46304" y="1060704"/>
          <a:ext cx="1188720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5336"/>
                <a:gridCol w="2615184"/>
                <a:gridCol w="2971800"/>
                <a:gridCol w="3090672"/>
                <a:gridCol w="1664208"/>
              </a:tblGrid>
              <a:tr h="4953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300" b="1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泛函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300" b="1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优点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300" b="1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缺点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300" b="1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适合方向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300" b="1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相对成本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3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LDA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3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便宜；传统结构基准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3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过结合；带隙低估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3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仅作体积 / 相对能对照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3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较低，实测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3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PBE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3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通用、便于批量标注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3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缺陷能与相序需验证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3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拟用统一主标签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3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GGA基线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3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PBEsol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3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结构与应力基准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3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缺陷能未必更好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3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状态方程 / 弹性对照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3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同量级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3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SCAN / r²SCAN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3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部分相对能量可改善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3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更贵，需数值收敛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3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少量晶相 / 缺陷独立验证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3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高于GGA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3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HSE06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3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带隙、缺陷态校验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3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昂贵；高Tₑ需谨慎验证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3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少量电子态 / 光学校验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3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显著较高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4592" y="4251960"/>
          <a:ext cx="11868911" cy="1810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093"/>
                <a:gridCol w="9613818"/>
              </a:tblGrid>
              <a:tr h="45262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260" b="1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项目（以 VASP 为例）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260" b="1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初始设置与验收规则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26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固定R单点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26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ISMEAR=−1；SIGMA=kBTₑ；IBRION=−1；NSW=0；PSTRESS=0；EDIFF=10⁻⁶ eV；NELM=200。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26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数值起点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26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ENCUT=500 eV，比较400/500/600；64原子试2³/3³ k点，216原子试Γ/2³；高压金属相独立收敛。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26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高Tₑ与验收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26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NBANDS从2Nocc起测，按25%加带至最高带占据&lt;10⁻⁵；收敛目标 ΔA&lt;1 meV/atom、ΔF&lt;0.01 eV/Å、Δσ&lt;0.1 GPa。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28600" y="6345936"/>
            <a:ext cx="11704320" cy="36576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06060"/>
                </a:solidFill>
                <a:latin typeface="Noto Serif CJK SC"/>
              </a:defRPr>
            </a:pPr>
            <a:r>
              <a:t>图表：原模板泛函表 + 参数卡。导出自由能 TOTEN（A）、对应原子力 / 应力；保留Tₑ。其他泛函不与PBE标签直接混训。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3949</TotalTime>
  <Words>1187</Words>
  <Application>Microsoft Office PowerPoint</Application>
  <PresentationFormat>宽屏</PresentationFormat>
  <Paragraphs>190</Paragraphs>
  <Slides>4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1" baseType="lpstr">
      <vt:lpstr>quote-cjk-patch</vt:lpstr>
      <vt:lpstr>等线</vt:lpstr>
      <vt:lpstr>等线 Light</vt:lpstr>
      <vt:lpstr>微软雅黑</vt:lpstr>
      <vt:lpstr>Arial</vt:lpstr>
      <vt:lpstr>Times New Roman</vt:lpstr>
      <vt:lpstr>Office 主题​​</vt:lpstr>
      <vt:lpstr>微调数据集构建</vt:lpstr>
      <vt:lpstr>界面数据</vt:lpstr>
      <vt:lpstr>数据产生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超晶格</dc:title>
  <dc:creator>QB</dc:creator>
  <cp:lastModifiedBy>QB</cp:lastModifiedBy>
  <cp:revision>252</cp:revision>
  <dcterms:created xsi:type="dcterms:W3CDTF">2026-01-05T02:03:48Z</dcterms:created>
  <dcterms:modified xsi:type="dcterms:W3CDTF">2026-06-23T06:37:18Z</dcterms:modified>
</cp:coreProperties>
</file>