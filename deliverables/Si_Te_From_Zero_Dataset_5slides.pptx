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1968" r:id="rId2"/>
    <p:sldId id="1974" r:id="rId3"/>
    <p:sldId id="1969" r:id="rId4"/>
    <p:sldId id="1976" r:id="rId5"/>
    <p:sldId id="1975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5686"/>
    <a:srgbClr val="ED1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44" autoAdjust="0"/>
  </p:normalViewPr>
  <p:slideViewPr>
    <p:cSldViewPr snapToGrid="0">
      <p:cViewPr varScale="1">
        <p:scale>
          <a:sx n="99" d="100"/>
          <a:sy n="99" d="100"/>
        </p:scale>
        <p:origin x="9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5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5A64C2-50CB-4C9A-AA69-B69ABBACDB3D}" type="datetimeFigureOut">
              <a:rPr lang="zh-CN" altLang="en-US" smtClean="0"/>
              <a:t>2026/6/23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2BA143-6F37-4B20-AA81-00D95A4214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227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当前用户没有任何构型，不再要求其提供母胞。首轮4类晶体用ASE晶格/空间群生成；晶格参数是几何起点而非已验证平衡值。R8不从错误的其他元素原型替换得来，待可靠坐标核验后再增补。120/720仍为计划，附件仅提供14个未弛豫几何例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2525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几何起点：dc a=5.43 Å；β-Sn I41/amd #141 setting=2，4a (0,3/4,1/8)，a=4.69,c=2.57 Å；sh P6/mmm #191，1a (0,0,0)，a=2.55,c=2.39 Å；BC8 Ia-3 #206，16c u=0.1003，a=6.64 Å。这些是待DFT优化的初始值，不宣称高压相在0GPa稳定。β-Sn先在约12GPa、sh约20GPa验证结构；dc/BC8以0GPa起测。空间群setting非常重要；本次测试β-Sn setting2才生成4原子而非误用8原子胞。点缺陷Frenkel先造后优化，可能复合；若不能保持，应标为复合前驱。表面重构和孪晶不能只靠文件名命名，须检查实际结构。Tᵢ与Tₑ独立，结构生成阶段均未产生DFT标签。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2BA143-6F37-4B20-AA81-00D95A4214B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8212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本次实际运行ASE3.29.0 + Atomman1.5.4：先由完整晶胞构造各向异性位错解，再dipole()生成384原子周期偶极与对应无位错参考。先测试shiftindex0发现核附近近碰，再比较0–5并采用1；螺型最短距离约2.054 Å、60°约2.094 Å。这是几何检查，不是核心能、力或稳定性验证。未运行SW弛豫、DFT、DXA；不宣称已获得正确重构核。刚生成的原型、点缺陷、位错均不能直接当作弛豫后训练数据。Atomman dipole实现参考Li et al., Phys. Rev. B 70,104113 (2004), doi:10.1103/PhysRevB.70.104113。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晶相20个改为dc/β-Sn/sh/BC8四原型×5个线性缩放0.96/0.98/1/1.02/1.04。其余数量沿用20+20+10+5+10+10+10+15，总计120。先弛豫各相原型再缩放。为避免与晶体扰动组重复，训练入库按R去重、缺失项补独立小扰动。120×6=720不包含母体优化、NEB和收敛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参数仅以VASP为例，使用同一套PAW-PBE Si赝势；PREC=Accurate、LREAL=.FALSE.、ISYM=0可作为初始设置。Nocc指占满价带所需能带数，依据电子数和自旋设置确定，不打印或依赖凭空指定NBANDS。最高带占据需覆盖所有k点/自旋；必要时尾部多带检查及A/F/应力二次收敛。母结构弛豫和NEB参数另设，不要复用NSW=0。最终静态标签冻结几何，不附加SW能量，不使用E0替代有限Te自由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8B56C7-D0BB-405B-A40B-E5078A24B7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E75A72B-29AA-4311-8D97-3C9B6AAFE3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90B007-35ED-403A-9C07-718C38DA8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60BF50-141D-4DE6-A29B-8053ED20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99C6F9-5ED9-41A0-B848-16FE70A66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430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65D1C2-0D6C-494E-A550-62EC917D6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9F48455-5CF1-4486-BE2F-B38107BAE3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F60ED8-F251-4617-BEF1-F1561DE8C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D7B11C3-416A-4A32-AD76-67590E08E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8FF2C4-FE4D-4782-8096-370C3E904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84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541505-8B7E-4AFF-9A42-8007EE6E8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EA40D3E-783D-4F74-9AEC-DA9FEC670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5AAD93-43F6-4052-96CD-FDB5EB97A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AC10A13-77C2-4C85-9E06-2233570FF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F04DF7-C138-4C21-87FD-1B49EE1D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1042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C17FFA-80FA-4CF1-B446-CF3DA1A19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5FFF4A9-7906-4142-AA9A-15B676C29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AEB7DDE-B2F1-4DEF-A28C-8DAE6AA95E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1A0FF3A-ECEF-40F7-AC98-D90C58129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3044691-5368-44B4-8153-A1A98E855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8DAA84-5744-40E4-9694-E976F233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95842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117531-5BDB-4BA8-9ABE-D76D3BC55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F16EE39-403A-449A-9D44-D44C6B29F4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F1D24-B3DA-4754-904A-B2502C32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3581682-07C0-46A1-8FBC-CB72510C74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82AFDDB-C676-4574-8B55-FB83C3EA33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9B97E78-3B20-49B4-99C4-5B0FB5437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6A4C4E4-2B5F-4A85-A11F-4F375E85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2265F43-F2F4-46FC-B561-C60F19EEC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8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DC2A3C-CF88-4BEB-AE1B-3C2D7247F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D9AC66-F62D-4103-99FF-9E9DADD7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CDAC482-CC77-4518-9372-8A012411A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589EF65-BEC6-45A4-AF0F-A6CA0D92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613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1C08729-D1DC-409B-A7AF-DD52B1C7F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3666D1-6ED9-4D82-AC3C-4947869F0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FE54E4-9029-412D-94B3-551914BB3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53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32A58-7B6D-4DBD-9DF3-7FC8E76337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06FD5A-372A-4BCC-921F-3DAC5FCF0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EA83A0-979E-40F7-A338-031CAF48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288131C-8184-4B9C-B623-77787EA59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4A0EE8-8B3D-46C4-A5DB-009F454B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23FD71-7F47-486F-8859-77CCE7065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90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5B292-5FE1-4093-AD42-B415C9A14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645E6B3-6F1A-4DD1-98B2-7553B5A585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78A8B8B-5D32-4CA1-AC9B-F13AF6665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2359B0-C63D-4A63-9546-D5E2B6FAE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B3243B-7250-4085-AD68-AA8ADA2C3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4AA967E-0FD5-42CE-B5FA-F24CDE625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7016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76E53D-5CC9-4653-A9E3-7DB3AF5A2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C44AE1-2E9F-45A6-9D1E-9F1D4D6D8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CF5AE9-C140-491D-A6EA-B8B72FE00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899578-9F39-4451-BB3E-383A83A15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FDFA78-BBAF-43FC-8417-875A05CC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652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2669575-472E-46A1-8EF9-9EDDB742A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4E4C8F-ACF1-4C8D-9D80-CE6AC467A3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45EA6B-4B90-415C-8A3C-4E89CE5EE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66D9D0-7F1C-4445-AAC7-5FD842D55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CAECC1-85CD-409D-93D4-58A1ADFD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72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7AA2BB-9504-4189-B840-54ED67D0D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45" y="161862"/>
            <a:ext cx="11525692" cy="646331"/>
          </a:xfrm>
          <a:prstGeom prst="rect">
            <a:avLst/>
          </a:prstGeom>
        </p:spPr>
        <p:txBody>
          <a:bodyPr wrap="square">
            <a:spAutoFit/>
          </a:bodyPr>
          <a:lstStyle>
            <a:lvl1pPr algn="l">
              <a:defRPr sz="3600" b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87691E1-50FC-481C-A0B4-BBBEE439F289}"/>
              </a:ext>
            </a:extLst>
          </p:cNvPr>
          <p:cNvCxnSpPr>
            <a:cxnSpLocks/>
          </p:cNvCxnSpPr>
          <p:nvPr userDrawn="1"/>
        </p:nvCxnSpPr>
        <p:spPr>
          <a:xfrm>
            <a:off x="0" y="81754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3896C1A8-51E3-4600-8481-2CBB686F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6038" y="6433470"/>
            <a:ext cx="995109" cy="365125"/>
          </a:xfrm>
        </p:spPr>
        <p:txBody>
          <a:bodyPr/>
          <a:lstStyle>
            <a:lvl1pPr>
              <a:defRPr sz="16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</a:lstStyle>
          <a:p>
            <a:fld id="{8F805578-1D46-46B1-B6A4-39E4C4437D99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6498810"/>
      </p:ext>
    </p:extLst>
  </p:cSld>
  <p:clrMapOvr>
    <a:masterClrMapping/>
  </p:clrMapOvr>
  <p:transition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F56915C-2F92-4CEC-BE4B-339C45517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9013A-0A05-467A-9EB6-79B0E3259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D32DEA-4495-4E2F-83E4-754A4AB864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3E7D5D-FFFF-43D9-94F2-4258923EEE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9D4839F-D8F4-423A-90AB-D223823A21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C99F9-44F7-422B-AFB0-895161D5A8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093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defRPr sz="2900">
                <a:solidFill>
                  <a:srgbClr val="002060"/>
                </a:solidFill>
                <a:latin typeface="Noto Sans CJK SC"/>
              </a:defRPr>
            </a:pPr>
            <a:r>
              <a:t>初始数据集构建｜从零建模 × 电子温度 Tₑ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4592" y="1143000"/>
          <a:ext cx="1186891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6404"/>
                <a:gridCol w="2729849"/>
                <a:gridCol w="3798051"/>
                <a:gridCol w="3204606"/>
              </a:tblGrid>
              <a:tr h="8778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模型不足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增补构型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评价指标（与 DFT 对比）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晶相与受载响应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Noto Serif CJK SC"/>
                        </a:defRPr>
                      </a:pPr>
                      <a:r>
                        <a:t>尚无起始构型；需从零建立晶相与受载基线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600">
                          <a:latin typeface="Noto Serif CJK SC"/>
                        </a:defRPr>
                      </a:pPr>
                      <a:r>
                        <a:t>先由原型生成dc、β-Sn、sh、BC8；R8待核验结构后扩展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A(V)、压力、相对能与局域受力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缺陷与低配位环境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缺迁移前驱、位错核与表面构型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单 / 双空位、分裂间隙、Frenkel对；位错、面缺陷、表面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形成自由能、迁移势垒、核结构及表面响应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熔化与无序化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缺非平衡无序及界面构型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两速率非晶、两温度液态、固液界面、空位诱导局部熔化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RDF、配位、结构及热动力学稳定性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学习 Tₑ 依赖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不能用单温标签表示电子激发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固定120个几何 R，各标注6个 Tₑ；共720组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6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A(Tₑ)、力、应力；未见结构 / 温度插值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56032" y="5779008"/>
            <a:ext cx="11612880" cy="384048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>
              <a:defRPr sz="1600">
                <a:solidFill>
                  <a:srgbClr val="002060"/>
                </a:solidFill>
                <a:latin typeface="Noto Serif CJK SC"/>
              </a:defRPr>
            </a:pPr>
            <a:r>
              <a:t>起点：无任何现成构型。ASE建完美晶格 → 原子操作 / 位移场造缺陷 → 弛豫与采样 → 固定R扫Tₑ。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图表：原模板任务矩阵。120为初始种子集目标；720仅指最终单点标签，不含母结构弛豫、NEB与额外收敛测试。</a:t>
            </a:r>
          </a:p>
        </p:txBody>
      </p:sp>
    </p:spTree>
    <p:extLst>
      <p:ext uri="{BB962C8B-B14F-4D97-AF65-F5344CB8AC3E}">
        <p14:creationId xmlns:p14="http://schemas.microsoft.com/office/powerpoint/2010/main" val="22390334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构型数量统计｜每一项均对应具体生成步骤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01168" y="1024128"/>
            <a:ext cx="713232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几何构型预算与生成算式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1231" y="1024128"/>
            <a:ext cx="4389120" cy="3200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  <a:defRPr sz="1800" b="0">
                <a:solidFill>
                  <a:srgbClr val="111111"/>
                </a:solidFill>
                <a:latin typeface="Noto Serif CJK SC"/>
              </a:defRPr>
            </a:pPr>
            <a:r>
              <a:t>6 个 Tₑ 与 Fermi–Dirac 展宽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01168" y="1435608"/>
          <a:ext cx="7150607" cy="4645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3676"/>
                <a:gridCol w="2931749"/>
                <a:gridCol w="929579"/>
                <a:gridCol w="1215603"/>
              </a:tblGrid>
              <a:tr h="42228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构型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数量来源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几何数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标签数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晶相参考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280">
                          <a:latin typeface="Noto Serif CJK SC"/>
                        </a:defRPr>
                      </a:pPr>
                      <a:r>
                        <a:t>4种原型×5个缩放点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扰动 / 应变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3缩放×5扰动+5剪切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点缺陷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4类×5扰动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 / 层错 / 孪晶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6+2+2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表面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3+2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非晶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2淬火速率×5种子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液态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2温度×5帧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界面 / 局部熔化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5+5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86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迁移路径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3路径×5中间态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90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222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全部固定R扫6个Tₑ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8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571231" y="1435608"/>
          <a:ext cx="4407407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70"/>
                <a:gridCol w="1674815"/>
                <a:gridCol w="1322222"/>
              </a:tblGrid>
              <a:tr h="4400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Tₑ / K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kBTₑ / eV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标注数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0.026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0.259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0.517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9,000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0.776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1.034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15,000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1.293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40055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合计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6个温度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607808" y="5212080"/>
            <a:ext cx="4297680" cy="77724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500" b="0">
                <a:solidFill>
                  <a:srgbClr val="002060"/>
                </a:solidFill>
                <a:latin typeface="Noto Serif CJK SC"/>
              </a:defRPr>
            </a:pPr>
            <a:r>
              <a:t>同一 R 不随 Tₑ 重弛豫。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1500" b="0">
                <a:solidFill>
                  <a:srgbClr val="002060"/>
                </a:solidFill>
                <a:latin typeface="Noto Serif CJK SC"/>
              </a:defRPr>
            </a:pPr>
            <a:r>
              <a:t>跨类重复只计一次；不足按原生成规则补足。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图表：原模板并列数量表。路径端点归母构型，不重复计数；固定R多Tₑ标签保持在同一结构数据分组。</a:t>
            </a:r>
          </a:p>
        </p:txBody>
      </p:sp>
    </p:spTree>
    <p:extLst>
      <p:ext uri="{BB962C8B-B14F-4D97-AF65-F5344CB8AC3E}">
        <p14:creationId xmlns:p14="http://schemas.microsoft.com/office/powerpoint/2010/main" val="325948851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数据产生｜没有现成构型，如何从零获得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42415"/>
          <a:ext cx="11832335" cy="5102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497"/>
                <a:gridCol w="2721437"/>
                <a:gridCol w="7099401"/>
              </a:tblGrid>
              <a:tr h="43891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任务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如何构建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具体做法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晶相与扰动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40个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ASE按晶格 / 空间群建晶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→ DFT弛豫 → 扰动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dc：bulk(Si, diamond, a=5.43 Å)；β-Sn、sh、BC8分别按空间群141、191、206生成原型。4相弛豫后各取5个缩放点，得20个；dc再取15个独立随机扰动与5个剪切态，共40个。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点缺陷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20个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完美dc超胞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→ 删 / 插原子 → 局域弛豫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把8原子dc常规胞扩为3×3×3、共216原子；删1原子造空位，删最近邻2原子造双空位；把1原子替换为沿〈110〉的一对原子造分裂间隙，另配空位造Frenkel对。4类弛豫后各取5个扰动态，得20个。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位错 / 面缺陷 / 表面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从dc取向晶格出发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→ 位移场 / 切层 / 镜像 / 切面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Atomman在完整dc中插入螺型、60°位错偶极，弛豫后各取3个受载态，得6个；在(111)面切层平移造2个层错，镜像堆垛造2个孪晶；ASE切(001)/(111)面，再删 / 加表面Si，得5个。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非晶 / 液态 / 熔化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30个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ASE完整晶格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→ SW-MD熔化 → 淬火 / 取帧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从64原子dc熔化起步，两条淬火速率各5种子得到10个非晶；Tᵢ=2000/3000 K各取5帧得到10个液态。216原子半区加热造界面取5帧；删3个原子后升温取5帧，共30个。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迁移路径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15个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先造缺陷初末态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→ IDPP插值 → NEB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移动空位近邻Si生成跳跃终态；移动分裂间隙位置生成迁移终态；将间隙移回空位生成复合终态。端点弛豫后做固定Tₑ NEB，3条路径各选5个中间态，得15个；端点另归母结构。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Tₑ标注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720组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上述120个R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→ 固定几何 → Mermin-DFT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7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对120个几何构型逐一固定原子与晶胞，取Tₑ=300/3000/6000/9000/12000/15000 K，用Fermi–Dirac占据计算A、原子力和应力；120×6=720。SW仅造候选，不提供监督标签。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图表：沿用原模板三列表。原型参数不是已验证相稳定性；所有新造几何先查近碰 / 边界、再弛豫、最后标注；位错流程见下一页。</a:t>
            </a:r>
          </a:p>
        </p:txBody>
      </p:sp>
    </p:spTree>
    <p:extLst>
      <p:ext uri="{BB962C8B-B14F-4D97-AF65-F5344CB8AC3E}">
        <p14:creationId xmlns:p14="http://schemas.microsoft.com/office/powerpoint/2010/main" val="395929794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DFT 选型与标注设置｜先试算，再统一批量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46304" y="1060704"/>
          <a:ext cx="11887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336"/>
                <a:gridCol w="2615184"/>
                <a:gridCol w="2971800"/>
                <a:gridCol w="3090672"/>
                <a:gridCol w="1664208"/>
              </a:tblGrid>
              <a:tr h="49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泛函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优点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适合方向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相对成本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LDA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便宜；传统结构基准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过结合；带隙低估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仅作体积 / 相对能对照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较低，实测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PBE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通用、便于批量标注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缺陷能与相序需验证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拟用统一主标签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GGA基线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PBEsol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结构与应力基准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缺陷能未必更好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状态方程 / 弹性对照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同量级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SCAN / r²SCAN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部分相对能量可改善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更贵，需数值收敛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少量晶相 / 缺陷独立验证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高于GGA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HSE06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带隙、缺陷态校验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昂贵；高Tₑ需谨慎验证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少量电子态 / 光学校验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30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显著较高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4592" y="4251960"/>
          <a:ext cx="11868911" cy="1810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093"/>
                <a:gridCol w="9613818"/>
              </a:tblGrid>
              <a:tr h="45262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项目（以 VASP 为例）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初始设置与验收规则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固定R单点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ISMEAR=−1；SIGMA=kBTₑ；IBRION=−1；NSW=0；PSTRESS=0；EDIFF=10⁻⁶ eV；NELM=200。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数值起点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ENCUT=500 eV，比较400/500/600；64原子试2³/3³ k点，216原子试Γ/2³；高压金属相独立收敛。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4526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高Tₑ与验收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26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NBANDS从2Nocc起测，按25%加带至最高带占据&lt;10⁻⁵；收敛目标 ΔA&lt;1 meV/atom、ΔF&lt;0.01 eV/Å、Δσ&lt;0.1 GPa。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图表：原模板泛函表 + 参数卡。导出自由能 TOTEN（A）、对应原子力 / 应力；保留Tₑ。其他泛函不与PBE标签直接混训。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210312"/>
            <a:ext cx="11521440" cy="5943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3000" b="0">
                <a:solidFill>
                  <a:srgbClr val="002060"/>
                </a:solidFill>
                <a:latin typeface="Noto Sans CJK SC"/>
              </a:defRPr>
            </a:pPr>
            <a:r>
              <a:t>位错怎么得到｜完美Si → 周期偶极 → 弛豫核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32104"/>
            <a:ext cx="12191695" cy="7315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82880" y="1060704"/>
          <a:ext cx="11832335" cy="5010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497"/>
                <a:gridCol w="2958084"/>
                <a:gridCol w="6862754"/>
              </a:tblGrid>
              <a:tr h="8351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步骤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工具 / 输入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1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具体操作与产出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① 建完整晶格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ASE生成dc-Si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bulk("Si", "diamond", a=5.43, cubic=True)得到8原子常规胞；输入Si弹性常数起点C₁₁/C₁₂/C₄₄=166/64/80 GPa，用于初始各向异性弹性位移场。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② 定义位错几何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给出滑移面、b和线方向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滑移面(111)，b=a/2[1 −1 0]；螺型线方向[1 −1 0]，60°线方向[1 0 −1]。这些向量用于构造取向晶胞，而非从小立方胞直接删几行原子。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③ 插入周期位错偶极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Atomman Volterra / Stroh位移场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Dislocation(ucell,C,[.5,−.5,0],ξ,[1,1,1],conventional_setting="f")，ξ取上述线方向；dipole(sizemults=(1,4,4),boxtilt=True,shiftindex=1)。已生成两类各384原子几何；一对相反b，净b=0。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④ 先优化缺陷核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先Si势预弛豫，再DFT核验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周期相容且净b=0仍不足以证明核心正确：检查最小距离，试不同滑移面层间偏移；先固定胞形优化原子，再核验尺寸收敛。用OVITO DXA / 位移差分图确认线方向、b及核。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⑤ 得到训练候选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两类弛豫核各取3个受载态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  <a:defRPr sz="1420" b="0">
                          <a:solidFill>
                            <a:srgbClr val="111111"/>
                          </a:solidFill>
                          <a:latin typeface="Noto Serif CJK SC"/>
                        </a:defRPr>
                      </a:pPr>
                      <a:r>
                        <a:t>沿滑移方向分别施加−2/0/+2%剪切，保留6个有区别的几何；再进入六Tₑ单点。必要时后续扩充部分位错、不同滑移面间隙和位错环，不在首轮穷举。</a:t>
                      </a:r>
                    </a:p>
                  </a:txBody>
                  <a:tcPr marL="64008" marR="54864" marT="22860" marB="22860" anchor="ctr">
                    <a:solidFill>
                      <a:srgbClr val="FFFFFF"/>
                    </a:solidFill>
                    <a:lnL w="6350">
                      <a:solidFill>
                        <a:srgbClr val="555555"/>
                      </a:solidFill>
                    </a:lnL>
                    <a:lnR w="6350">
                      <a:solidFill>
                        <a:srgbClr val="555555"/>
                      </a:solidFill>
                    </a:lnR>
                    <a:lnT w="6350">
                      <a:solidFill>
                        <a:srgbClr val="555555"/>
                      </a:solidFill>
                    </a:lnT>
                    <a:lnB w="6350">
                      <a:solidFill>
                        <a:srgbClr val="55555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28600" y="6345936"/>
            <a:ext cx="11704320" cy="365760"/>
          </a:xfrm>
          <a:prstGeom prst="rect">
            <a:avLst/>
          </a:prstGeom>
          <a:noFill/>
        </p:spPr>
        <p:txBody>
          <a:bodyPr wrap="square" lIns="22860" rIns="2286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1000" b="0">
                <a:solidFill>
                  <a:srgbClr val="606060"/>
                </a:solidFill>
                <a:latin typeface="Noto Serif CJK SC"/>
              </a:defRPr>
            </a:pPr>
            <a:r>
              <a:t>图表：从完美晶格到位错核的五步表；可配OVITO前后对比。附件有脚本和14个未弛豫例子，包含两类位错及各自无位错参照。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3949</TotalTime>
  <Words>1187</Words>
  <Application>Microsoft Office PowerPoint</Application>
  <PresentationFormat>宽屏</PresentationFormat>
  <Paragraphs>190</Paragraphs>
  <Slides>4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quote-cjk-patch</vt:lpstr>
      <vt:lpstr>等线</vt:lpstr>
      <vt:lpstr>等线 Light</vt:lpstr>
      <vt:lpstr>微软雅黑</vt:lpstr>
      <vt:lpstr>Arial</vt:lpstr>
      <vt:lpstr>Times New Roman</vt:lpstr>
      <vt:lpstr>Office 主题​​</vt:lpstr>
      <vt:lpstr>微调数据集构建</vt:lpstr>
      <vt:lpstr>界面数据</vt:lpstr>
      <vt:lpstr>数据产生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超晶格</dc:title>
  <dc:creator>QB</dc:creator>
  <cp:lastModifiedBy>QB</cp:lastModifiedBy>
  <cp:revision>252</cp:revision>
  <dcterms:created xsi:type="dcterms:W3CDTF">2026-01-05T02:03:48Z</dcterms:created>
  <dcterms:modified xsi:type="dcterms:W3CDTF">2026-06-23T06:37:18Z</dcterms:modified>
</cp:coreProperties>
</file>