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62" r:id="rId3"/>
    <p:sldId id="266" r:id="rId4"/>
    <p:sldId id="264" r:id="rId6"/>
    <p:sldId id="265" r:id="rId7"/>
    <p:sldId id="281" r:id="rId8"/>
    <p:sldId id="267" r:id="rId9"/>
    <p:sldId id="276" r:id="rId10"/>
    <p:sldId id="277" r:id="rId11"/>
    <p:sldId id="268" r:id="rId12"/>
    <p:sldId id="280" r:id="rId13"/>
    <p:sldId id="270" r:id="rId14"/>
    <p:sldId id="274" r:id="rId15"/>
    <p:sldId id="271" r:id="rId16"/>
    <p:sldId id="275"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C8E8"/>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90" autoAdjust="0"/>
    <p:restoredTop sz="94660"/>
  </p:normalViewPr>
  <p:slideViewPr>
    <p:cSldViewPr snapToGrid="0" showGuides="1">
      <p:cViewPr varScale="1">
        <p:scale>
          <a:sx n="85" d="100"/>
          <a:sy n="85" d="100"/>
        </p:scale>
        <p:origin x="595" y="58"/>
      </p:cViewPr>
      <p:guideLst>
        <p:guide orient="horz" pos="2081"/>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1.wmf"/><Relationship Id="rId8" Type="http://schemas.openxmlformats.org/officeDocument/2006/relationships/image" Target="../media/image10.wmf"/><Relationship Id="rId7" Type="http://schemas.openxmlformats.org/officeDocument/2006/relationships/image" Target="../media/image9.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 Id="rId3" Type="http://schemas.openxmlformats.org/officeDocument/2006/relationships/image" Target="../media/image5.wmf"/><Relationship Id="rId2" Type="http://schemas.openxmlformats.org/officeDocument/2006/relationships/image" Target="../media/image4.wmf"/><Relationship Id="rId10" Type="http://schemas.openxmlformats.org/officeDocument/2006/relationships/image" Target="../media/image12.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emf"/><Relationship Id="rId1"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emf"/><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39.wmf"/><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我的思路是从有限电子温度 </a:t>
            </a:r>
            <a:r>
              <a:rPr lang="en-US" altLang="zh-CN"/>
              <a:t>DFT </a:t>
            </a:r>
            <a:r>
              <a:rPr lang="zh-CN" altLang="en-US"/>
              <a:t>出发。</a:t>
            </a:r>
            <a:r>
              <a:rPr lang="zh-CN" altLang="en-US">
                <a:sym typeface="+mn-ea"/>
              </a:rPr>
              <a:t>所以这里实际上形成了两条支路</a:t>
            </a:r>
            <a:endParaRPr lang="zh-CN" altLang="en-US"/>
          </a:p>
          <a:p>
            <a:r>
              <a:rPr lang="zh-CN" altLang="en-US"/>
              <a:t>第一类是与</a:t>
            </a:r>
            <a:r>
              <a:rPr lang="zh-CN" altLang="en-US" b="1" i="1" u="sng"/>
              <a:t>原子运动直接相关的量</a:t>
            </a:r>
            <a:r>
              <a:rPr lang="zh-CN" altLang="en-US"/>
              <a:t>：</a:t>
            </a:r>
            <a:endParaRPr lang="zh-CN" altLang="en-US"/>
          </a:p>
          <a:p>
            <a:r>
              <a:rPr lang="zh-CN" altLang="en-US" b="1" i="1" u="sng"/>
              <a:t>电子温度升高以后，原子之间的相互作用到底发生了什么变化？</a:t>
            </a:r>
            <a:endParaRPr lang="zh-CN" altLang="en-US" b="1" i="1" u="sng"/>
          </a:p>
          <a:p>
            <a:r>
              <a:rPr lang="zh-CN" altLang="en-US">
                <a:sym typeface="+mn-ea"/>
              </a:rPr>
              <a:t>第二类是</a:t>
            </a:r>
            <a:r>
              <a:rPr lang="zh-CN" altLang="en-US" b="1" i="1" u="sng">
                <a:sym typeface="+mn-ea"/>
              </a:rPr>
              <a:t>电子结构对应的复介电函数</a:t>
            </a:r>
            <a:r>
              <a:rPr lang="en-US" altLang="zh-CN">
                <a:sym typeface="+mn-ea"/>
              </a:rPr>
              <a:t>ε(ω,Te)</a:t>
            </a:r>
            <a:endParaRPr lang="en-US" altLang="zh-CN">
              <a:sym typeface="+mn-ea"/>
            </a:endParaRPr>
          </a:p>
          <a:p>
            <a:r>
              <a:rPr lang="zh-CN" altLang="en-US" b="1" i="1" u="sng"/>
              <a:t>电子激发以后，硅对激光的吸收能力如何变化？</a:t>
            </a:r>
            <a:r>
              <a:rPr lang="zh-CN" altLang="en-US"/>
              <a:t>。</a:t>
            </a:r>
            <a:endParaRPr lang="zh-CN" altLang="en-US"/>
          </a:p>
          <a:p>
            <a:r>
              <a:rPr lang="zh-CN" altLang="en-US" b="1" i="1" u="sng"/>
              <a:t>动态吸收系数决定激光能量沉积，也就是热源项</a:t>
            </a:r>
            <a:r>
              <a:rPr lang="en-US" altLang="zh-CN" b="1" i="1" u="sng"/>
              <a:t>S(r,t)，</a:t>
            </a:r>
            <a:r>
              <a:rPr lang="zh-CN" altLang="en-US" b="1" i="1" u="sng"/>
              <a:t>从而影响电子温度 </a:t>
            </a:r>
            <a:r>
              <a:rPr lang="en-US" altLang="zh-CN" b="1" i="1" u="sng"/>
              <a:t>Te(r,t)；</a:t>
            </a:r>
            <a:r>
              <a:rPr lang="zh-CN" altLang="en-US" b="1" i="1" u="sng"/>
              <a:t>而这个电子温度又作为机器学习势的输入，改变每一个时间步的原子受力。</a:t>
            </a:r>
            <a:endParaRPr lang="zh-CN" altLang="en-US" b="1" i="1" u="sng"/>
          </a:p>
          <a:p>
            <a:r>
              <a:rPr lang="zh-CN" altLang="en-US"/>
              <a:t>最终导致相应的缺陷演化和性能响应。</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那么首先需要解决的问题就是：</a:t>
            </a:r>
            <a:endParaRPr lang="zh-CN" altLang="en-US"/>
          </a:p>
          <a:p>
            <a:r>
              <a:rPr lang="zh-CN" altLang="en-US" b="1" i="1" u="sng"/>
              <a:t>电子温度到底怎样进入量子计算，并最终影响原子力？</a:t>
            </a:r>
            <a:r>
              <a:rPr lang="zh-CN" altLang="en-US"/>
              <a:t>采用的是</a:t>
            </a:r>
            <a:r>
              <a:rPr lang="zh-CN" altLang="en-US" b="1" i="1" u="sng"/>
              <a:t>有限电子温度 </a:t>
            </a:r>
            <a:r>
              <a:rPr lang="en-US" altLang="zh-CN" b="1" i="1" u="sng"/>
              <a:t>DFT</a:t>
            </a:r>
            <a:r>
              <a:rPr lang="en-US" altLang="zh-CN"/>
              <a:t>。Te</a:t>
            </a:r>
            <a:r>
              <a:rPr lang="zh-CN" altLang="en-US"/>
              <a:t>是</a:t>
            </a:r>
            <a:r>
              <a:rPr lang="zh-CN" altLang="en-US" b="1" i="1" u="sng"/>
              <a:t>直接通过电子占据、自洽电子密度，进入</a:t>
            </a:r>
            <a:r>
              <a:rPr lang="en-US" altLang="zh-CN" b="1" i="1" u="sng"/>
              <a:t>Kohn–Sham</a:t>
            </a:r>
            <a:r>
              <a:rPr lang="zh-CN" altLang="en-US" b="1" i="1" u="sng"/>
              <a:t>电子结构自洽计算</a:t>
            </a:r>
            <a:r>
              <a:rPr lang="zh-CN" altLang="en-US"/>
              <a:t>。</a:t>
            </a:r>
            <a:endParaRPr lang="zh-CN" altLang="en-US"/>
          </a:p>
          <a:p>
            <a:r>
              <a:rPr lang="zh-CN" altLang="en-US"/>
              <a:t>这里补充一点：</a:t>
            </a:r>
            <a:r>
              <a:rPr lang="zh-CN" altLang="en-US" b="1" i="1" u="sng"/>
              <a:t>赝势一般保持不变；电子温度</a:t>
            </a:r>
            <a:r>
              <a:rPr lang="en-US" altLang="zh-CN" b="1" i="1" u="sng"/>
              <a:t>Te</a:t>
            </a:r>
            <a:r>
              <a:rPr lang="zh-CN" altLang="en-US" b="1" i="1" u="sng"/>
              <a:t>主要是通过**价电子占据的改变**，来改变自洽电子密度，进而改变体系的成键状态。</a:t>
            </a:r>
            <a:endParaRPr lang="zh-CN" altLang="en-US" b="1" i="1" u="sng"/>
          </a:p>
          <a:p>
            <a:endParaRPr lang="zh-CN" altLang="en-US"/>
          </a:p>
          <a:p>
            <a:r>
              <a:rPr lang="zh-CN" altLang="en-US"/>
              <a:t>中间，我们基于自由能而非 0</a:t>
            </a:r>
            <a:r>
              <a:rPr lang="en-US" altLang="zh-CN"/>
              <a:t>K </a:t>
            </a:r>
            <a:r>
              <a:rPr lang="zh-CN" altLang="en-US"/>
              <a:t>势能，求解原子力与应力，作为机器学习势的训练标签。</a:t>
            </a:r>
            <a:endParaRPr lang="zh-CN" altLang="en-US"/>
          </a:p>
          <a:p>
            <a:endParaRPr lang="zh-CN" altLang="en-US"/>
          </a:p>
          <a:p>
            <a:r>
              <a:rPr lang="zh-CN" altLang="en-US"/>
              <a:t>最后右侧，是这套理论框架下，我们需要回答的三个核心量子问题。</a:t>
            </a:r>
            <a:endParaRPr lang="zh-CN" altLang="en-US"/>
          </a:p>
          <a:p>
            <a:r>
              <a:rPr lang="zh-CN" altLang="en-US"/>
              <a:t>第一，电子占据变化：随着电子温度升高，费米狄拉克分布展宽，费米面附近发生电子跃迁，轨道占据不再只有0或者1。</a:t>
            </a:r>
            <a:endParaRPr lang="zh-CN" altLang="en-US"/>
          </a:p>
          <a:p>
            <a:r>
              <a:rPr lang="zh-CN" altLang="en-US"/>
              <a:t>第二，共价键削弱：热激发让反键态占据增加，电子在成键、反键态之间重新分布，直接造成键强减弱。</a:t>
            </a:r>
            <a:endParaRPr lang="zh-CN" altLang="en-US"/>
          </a:p>
          <a:p>
            <a:r>
              <a:rPr lang="zh-CN" altLang="en-US"/>
              <a:t>第三，自由能面重构：电子熵带来额外贡献，整个体系的自由能面会随电子温度发生改变。</a:t>
            </a:r>
            <a:endParaRPr lang="en-US" altLang="zh-CN"/>
          </a:p>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覆盖</a:t>
            </a:r>
            <a:r>
              <a:rPr lang="zh-CN" altLang="en-US" b="1" i="1" u="sng"/>
              <a:t>两个维度：一个是结构空间，另一个是电子温度空间</a:t>
            </a:r>
            <a:r>
              <a:rPr lang="zh-CN" altLang="en-US"/>
              <a:t>。 </a:t>
            </a:r>
            <a:endParaRPr lang="zh-CN" altLang="en-US"/>
          </a:p>
          <a:p>
            <a:r>
              <a:rPr lang="zh-CN" altLang="en-US"/>
              <a:t>结构空间方面，需要尽可能覆盖激光作用过程中可能出现的各种构型。</a:t>
            </a:r>
            <a:endParaRPr lang="zh-CN" altLang="en-US"/>
          </a:p>
          <a:p>
            <a:r>
              <a:rPr lang="zh-CN" altLang="en-US"/>
              <a:t>也就是说，希望数据库可以覆盖从一个比较宽的构型空间。</a:t>
            </a:r>
            <a:endParaRPr lang="zh-CN" altLang="en-US"/>
          </a:p>
          <a:p>
            <a:endParaRPr lang="zh-CN" altLang="en-US"/>
          </a:p>
          <a:p>
            <a:r>
              <a:rPr lang="zh-CN" altLang="en-US"/>
              <a:t>另外一个就是电子温度空间。</a:t>
            </a:r>
            <a:endParaRPr lang="zh-CN" altLang="en-US"/>
          </a:p>
          <a:p>
            <a:r>
              <a:rPr lang="zh-CN" altLang="en-US"/>
              <a:t>目前考虑从接近室温一直到上万 </a:t>
            </a:r>
            <a:r>
              <a:rPr lang="en-US" altLang="zh-CN"/>
              <a:t>K，</a:t>
            </a:r>
            <a:r>
              <a:rPr lang="zh-CN" altLang="en-US" b="1" i="1" u="sng"/>
              <a:t>覆盖电子强激发状态</a:t>
            </a:r>
            <a:r>
              <a:rPr lang="zh-CN" altLang="en-US"/>
              <a:t>。</a:t>
            </a:r>
            <a:endParaRPr lang="zh-CN" altLang="en-US"/>
          </a:p>
          <a:p>
            <a:r>
              <a:rPr lang="zh-CN" altLang="en-US"/>
              <a:t>第一类是结构演化主数据集。</a:t>
            </a:r>
            <a:endParaRPr lang="zh-CN" altLang="en-US"/>
          </a:p>
          <a:p>
            <a:r>
              <a:rPr lang="zh-CN" altLang="en-US"/>
              <a:t>第二类是固定结构、多电子温度数据集。</a:t>
            </a:r>
            <a:endParaRPr lang="zh-CN" altLang="en-US"/>
          </a:p>
          <a:p>
            <a:r>
              <a:rPr lang="zh-CN" altLang="en-US"/>
              <a:t>如果同一个结构，在不同 </a:t>
            </a:r>
            <a:r>
              <a:rPr lang="en-US" altLang="zh-CN"/>
              <a:t>Te</a:t>
            </a:r>
            <a:r>
              <a:rPr lang="zh-CN" altLang="en-US"/>
              <a:t>下模型预测仍然完全相同，那就说明模型实际上没有真正学到电子温度效应。</a:t>
            </a:r>
            <a:endParaRPr lang="zh-CN" altLang="en-US"/>
          </a:p>
          <a:p>
            <a:endParaRPr lang="zh-CN" altLang="en-US"/>
          </a:p>
          <a:p>
            <a:r>
              <a:rPr lang="zh-CN" altLang="en-US"/>
              <a:t>这个流程的师实现是通过</a:t>
            </a:r>
            <a:r>
              <a:rPr lang="en-US" altLang="zh-CN"/>
              <a:t>DP-GEN</a:t>
            </a:r>
            <a:r>
              <a:rPr lang="zh-CN" altLang="en-US"/>
              <a:t>探索新的高激发构型，不断迭代扩充数据库。</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目前整个方法里面最关键的一部分。</a:t>
            </a:r>
            <a:endParaRPr lang="zh-CN" altLang="en-US"/>
          </a:p>
          <a:p>
            <a:r>
              <a:rPr lang="zh-CN" altLang="en-US" b="1" i="1" u="sng"/>
              <a:t>把电子温度</a:t>
            </a:r>
            <a:r>
              <a:rPr lang="en-US" altLang="zh-CN" b="1" i="1" u="sng"/>
              <a:t>Te</a:t>
            </a:r>
            <a:r>
              <a:rPr lang="zh-CN" altLang="en-US" b="1" i="1" u="sng"/>
              <a:t>作为一个显式描述符输入神经网络</a:t>
            </a:r>
            <a:endParaRPr lang="zh-CN" altLang="en-US" b="1" i="1" u="sng"/>
          </a:p>
          <a:p>
            <a:r>
              <a:rPr lang="zh-CN" altLang="en-US" b="1" i="1" u="sng"/>
              <a:t>使得在这个势函数里面，</a:t>
            </a:r>
            <a:r>
              <a:rPr lang="en-US" altLang="zh-CN" b="1" i="1" u="sng"/>
              <a:t>Te</a:t>
            </a:r>
            <a:r>
              <a:rPr lang="zh-CN" altLang="en-US" b="1" i="1" u="sng"/>
              <a:t>直接参与对自由能的映射。</a:t>
            </a:r>
            <a:endParaRPr lang="zh-CN" altLang="en-US" b="1" i="1" u="sng"/>
          </a:p>
          <a:p>
            <a:r>
              <a:rPr lang="zh-CN" altLang="en-US"/>
              <a:t>这样一来，同一个结构在不同电子温度下，机器学习势就能够给出不同的自由能和原子受力。</a:t>
            </a:r>
            <a:endParaRPr lang="zh-CN" altLang="en-US"/>
          </a:p>
          <a:p>
            <a:r>
              <a:rPr lang="zh-CN" altLang="en-US"/>
              <a:t>模型训练完成以后，再把这个势接入 </a:t>
            </a:r>
            <a:r>
              <a:rPr lang="en-US" altLang="zh-CN"/>
              <a:t>DPMD。</a:t>
            </a:r>
            <a:r>
              <a:rPr lang="zh-CN" altLang="en-US"/>
              <a:t>结合</a:t>
            </a:r>
            <a:r>
              <a:rPr lang="en-US" altLang="zh-CN"/>
              <a:t>TTM </a:t>
            </a:r>
            <a:r>
              <a:rPr lang="zh-CN" altLang="en-US"/>
              <a:t>给出当前空间位置上的局域电子温度：</a:t>
            </a:r>
            <a:r>
              <a:rPr lang="en-US" altLang="zh-CN"/>
              <a:t>Te(r,t)</a:t>
            </a:r>
            <a:endParaRPr lang="en-US" altLang="zh-CN"/>
          </a:p>
          <a:p>
            <a:r>
              <a:rPr lang="zh-CN" altLang="en-US"/>
              <a:t>机器学习势读取当前的原子环境和</a:t>
            </a:r>
            <a:r>
              <a:rPr lang="en-US" altLang="zh-CN"/>
              <a:t>Te，</a:t>
            </a:r>
            <a:r>
              <a:rPr lang="zh-CN" altLang="en-US"/>
              <a:t>驱动下一步原子运动。</a:t>
            </a:r>
            <a:endParaRPr lang="zh-CN" altLang="en-US"/>
          </a:p>
          <a:p>
            <a:r>
              <a:rPr lang="zh-CN" altLang="en-US"/>
              <a:t>这也是</a:t>
            </a:r>
            <a:r>
              <a:rPr lang="zh-CN" altLang="en-US" b="1" i="1" u="sng"/>
              <a:t>把电子激发信息从量子尺度真正传递到了大尺度分子动力学。</a:t>
            </a:r>
            <a:endParaRPr lang="zh-CN" altLang="en-US" b="1" i="1" u="sng"/>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整个体系拆成两部分。</a:t>
            </a:r>
            <a:endParaRPr lang="zh-CN" altLang="en-US"/>
          </a:p>
          <a:p>
            <a:r>
              <a:rPr lang="zh-CN" altLang="en-US" b="1" i="1" u="sng"/>
              <a:t>蓝色离散的部分，是原子系统</a:t>
            </a:r>
            <a:r>
              <a:rPr lang="en-US" altLang="zh-CN" b="1" i="1" u="sng"/>
              <a:t>；</a:t>
            </a:r>
            <a:r>
              <a:rPr lang="zh-CN" altLang="en-US" b="1" i="1" u="sng"/>
              <a:t>红色标注的，就是电子连续谱</a:t>
            </a:r>
            <a:r>
              <a:rPr lang="zh-CN" altLang="en-US"/>
              <a:t>。</a:t>
            </a:r>
            <a:endParaRPr lang="zh-CN" altLang="en-US"/>
          </a:p>
          <a:p>
            <a:r>
              <a:rPr lang="en-US" altLang="zh-CN"/>
              <a:t>TTM </a:t>
            </a:r>
            <a:r>
              <a:rPr lang="zh-CN" altLang="en-US"/>
              <a:t>双温模型里，对电子子系统采用的**连续场近似**。</a:t>
            </a:r>
            <a:endParaRPr lang="en-US" altLang="zh-CN"/>
          </a:p>
          <a:p>
            <a:r>
              <a:rPr lang="zh-CN" altLang="en-US"/>
              <a:t>电子本身是量子费米子，并不是天然的连续介质。</a:t>
            </a:r>
            <a:r>
              <a:rPr lang="zh-CN" altLang="en-US" b="1" i="1" u="sng"/>
              <a:t>看作连续场，只是一种**时空粗粒化**的近似手段。我们不再去追踪每一个电子的运动轨迹，转而使用局域统计量 —— 也就是电子温度场</a:t>
            </a:r>
            <a:r>
              <a:rPr lang="en-US" altLang="zh-CN" b="1" i="1" u="sng"/>
              <a:t>Te，</a:t>
            </a:r>
            <a:r>
              <a:rPr lang="zh-CN" altLang="en-US" b="1" i="1" u="sng"/>
              <a:t>描述大量激发电子的集体行为。放到能量输运的视角理解：就是把海量离散的电子粒子，粗粒化成空间上连续的温度场，这是 </a:t>
            </a:r>
            <a:r>
              <a:rPr lang="en-US" altLang="zh-CN" b="1" i="1" u="sng"/>
              <a:t>TTM </a:t>
            </a:r>
            <a:r>
              <a:rPr lang="zh-CN" altLang="en-US" b="1" i="1" u="sng"/>
              <a:t>双温模型电子能量守恒方程的核心思想。</a:t>
            </a:r>
            <a:endParaRPr lang="zh-CN" altLang="en-US" b="1" i="1" u="sng"/>
          </a:p>
          <a:p>
            <a:endParaRPr lang="zh-CN" altLang="en-US"/>
          </a:p>
          <a:p>
            <a:r>
              <a:rPr lang="zh-CN" altLang="en-US"/>
              <a:t>**原子系统**：采用**量子信息驱动的经典分子动力学</a:t>
            </a:r>
            <a:r>
              <a:rPr lang="en-US" altLang="zh-CN"/>
              <a:t>MD**。</a:t>
            </a:r>
            <a:endParaRPr lang="en-US" altLang="zh-CN"/>
          </a:p>
          <a:p>
            <a:r>
              <a:rPr lang="zh-CN" altLang="en-US"/>
              <a:t>原子仍然逐个保留，用牛顿运动方程来描述，分为三项：</a:t>
            </a:r>
            <a:endParaRPr lang="zh-CN" altLang="en-US"/>
          </a:p>
          <a:p>
            <a:r>
              <a:rPr lang="zh-CN" altLang="en-US" b="1" i="1" u="sng"/>
              <a:t>第一项是**量子自由能面项**</a:t>
            </a:r>
            <a:r>
              <a:rPr lang="zh-CN" altLang="en-US"/>
              <a:t>；第二项是摩擦项；第三项是随机力。</a:t>
            </a:r>
            <a:endParaRPr lang="zh-CN" altLang="en-US"/>
          </a:p>
          <a:p>
            <a:r>
              <a:rPr lang="zh-CN" altLang="en-US"/>
              <a:t>简单来说：</a:t>
            </a:r>
            <a:r>
              <a:rPr lang="zh-CN" altLang="en-US" b="1" i="1" u="sng"/>
              <a:t>**原子受力是由包含电子温度的量子自由能面给出**，把电子激发的量子效应，嵌入到原子受力当中</a:t>
            </a:r>
            <a:r>
              <a:rPr lang="zh-CN" altLang="en-US"/>
              <a:t>。</a:t>
            </a:r>
            <a:endParaRPr lang="zh-CN" altLang="en-US"/>
          </a:p>
          <a:p>
            <a:endParaRPr lang="en-US" altLang="zh-CN"/>
          </a:p>
          <a:p>
            <a:r>
              <a:rPr lang="zh-CN" altLang="en-US"/>
              <a:t>电子温度场输入 </a:t>
            </a:r>
            <a:r>
              <a:rPr lang="en-US" altLang="zh-CN"/>
              <a:t>DPMD </a:t>
            </a:r>
            <a:r>
              <a:rPr lang="zh-CN" altLang="en-US"/>
              <a:t>势，调制量子自由能面，得到原子力并驱动原子运动；原子运动的统计结果给出局域晶格温度。电子温度与晶格温度之间通过电子声子耦合双向交换能量，更新电子温度场，完成双温耦合闭环。</a:t>
            </a:r>
            <a:endParaRPr lang="zh-CN" altLang="en-US"/>
          </a:p>
          <a:p>
            <a:endParaRPr lang="zh-CN" altLang="en-US"/>
          </a:p>
          <a:p>
            <a:r>
              <a:rPr lang="zh-CN" altLang="en-US"/>
              <a:t> 所以整套方法的核心就是：**电子输运连续化 + 原子运动离散化 + 原子作用力保留量子信息**，实现统计电子温度场和原子体系的耦合模拟。</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i="1" u="sng">
                <a:sym typeface="+mn-ea"/>
              </a:rPr>
              <a:t>**连续体将局域电子温度传递给原子区域，改变原子受力；原子演化带来的晶格能量变化再反馈回连续场，更新温度场，实现跨尺度闭环模拟。**</a:t>
            </a:r>
            <a:endParaRPr lang="zh-CN" altLang="en-US" b="1" i="1" u="sng"/>
          </a:p>
          <a:p>
            <a:r>
              <a:rPr lang="zh-CN" altLang="en-US" b="1" i="1" u="sng"/>
              <a:t>**原子模拟得到缺陷结构对应的电子温度依赖吸收系数，计算光生载流子空间产生分布，将其作为源项输入漂移扩散连续模型，实现从原子缺陷到宏观光电响应的跨尺度关联。**</a:t>
            </a:r>
            <a:endParaRPr lang="en-US" altLang="zh-CN"/>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前面讲的是机器学习势这一条支路。还需要另外建立一条动态光学吸收支路。</a:t>
            </a:r>
            <a:endParaRPr lang="zh-CN" altLang="en-US"/>
          </a:p>
          <a:p>
            <a:r>
              <a:rPr lang="zh-CN" altLang="en-US"/>
              <a:t>原因是，在激光作用过程中，材料的吸收系数实际上并不是一个固定常数。当电子温度改变以后，电子占据和电子结构都会发生变化，因此介电响应也会变化，最终激光吸收系数同样会随 </a:t>
            </a:r>
            <a:r>
              <a:rPr lang="en-US" altLang="zh-CN"/>
              <a:t>Te </a:t>
            </a:r>
            <a:r>
              <a:rPr lang="zh-CN" altLang="en-US"/>
              <a:t>改变。 </a:t>
            </a:r>
            <a:endParaRPr lang="zh-CN" altLang="en-US"/>
          </a:p>
          <a:p>
            <a:r>
              <a:rPr lang="zh-CN" altLang="en-US"/>
              <a:t>所以这一部分的计算路线是：</a:t>
            </a:r>
            <a:endParaRPr lang="zh-CN" altLang="en-US"/>
          </a:p>
          <a:p>
            <a:r>
              <a:rPr lang="zh-CN" altLang="en-US"/>
              <a:t>首先在有限电子温度 </a:t>
            </a:r>
            <a:r>
              <a:rPr lang="en-US" altLang="zh-CN"/>
              <a:t>DFT </a:t>
            </a:r>
            <a:r>
              <a:rPr lang="zh-CN" altLang="en-US"/>
              <a:t>下计算复介电函数：</a:t>
            </a:r>
            <a:r>
              <a:rPr lang="en-US" altLang="zh-CN"/>
              <a:t>ε(ω,Te)=ε1+iε2</a:t>
            </a:r>
            <a:r>
              <a:rPr lang="zh-CN" altLang="en-US"/>
              <a:t>然后由 </a:t>
            </a:r>
            <a:r>
              <a:rPr lang="en-US" altLang="zh-CN"/>
              <a:t>ε1 </a:t>
            </a:r>
            <a:r>
              <a:rPr lang="zh-CN" altLang="en-US"/>
              <a:t>和 </a:t>
            </a:r>
            <a:r>
              <a:rPr lang="en-US" altLang="zh-CN"/>
              <a:t>ε2 </a:t>
            </a:r>
            <a:r>
              <a:rPr lang="zh-CN" altLang="en-US"/>
              <a:t>得到消光系数 </a:t>
            </a:r>
            <a:r>
              <a:rPr lang="en-US" altLang="zh-CN"/>
              <a:t>κ，</a:t>
            </a:r>
            <a:r>
              <a:rPr lang="zh-CN" altLang="en-US"/>
              <a:t>进一步得到：</a:t>
            </a:r>
            <a:r>
              <a:rPr lang="en-US" altLang="zh-CN"/>
              <a:t>α(ω,Te) </a:t>
            </a:r>
            <a:r>
              <a:rPr lang="zh-CN" altLang="en-US"/>
              <a:t>也就是电子温度依赖的吸收系数。</a:t>
            </a:r>
            <a:endParaRPr lang="zh-CN" altLang="en-US"/>
          </a:p>
          <a:p>
            <a:r>
              <a:rPr lang="zh-CN" altLang="en-US"/>
              <a:t>这样，在后面的激光模拟中，吸收系数就不再是固定值，而可以根据当前局域电子温度进行更新。</a:t>
            </a:r>
            <a:endParaRPr lang="zh-CN" altLang="en-US"/>
          </a:p>
          <a:p>
            <a:r>
              <a:rPr lang="zh-CN" altLang="en-US"/>
              <a:t>也就是说：</a:t>
            </a:r>
            <a:r>
              <a:rPr lang="en-US" altLang="zh-CN"/>
              <a:t>Te→ε→α→S(r,t)→Te</a:t>
            </a:r>
            <a:r>
              <a:rPr lang="zh-CN" altLang="en-US"/>
              <a:t>形成一个反馈关系。电子温度改变光吸收，而光吸收又决定下一步的能量沉积和电子温度演化。</a:t>
            </a:r>
            <a:endParaRPr lang="zh-CN" altLang="en-US"/>
          </a:p>
          <a:p>
            <a:r>
              <a:rPr lang="zh-CN" altLang="en-US"/>
              <a:t>所以这一条支路最终是给 </a:t>
            </a:r>
            <a:r>
              <a:rPr lang="en-US" altLang="zh-CN"/>
              <a:t>TTM </a:t>
            </a:r>
            <a:r>
              <a:rPr lang="zh-CN" altLang="en-US"/>
              <a:t>中的激光热源项提供更加真实的输入。</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把前面</a:t>
            </a:r>
            <a:r>
              <a:rPr lang="zh-CN" altLang="en-US">
                <a:sym typeface="+mn-ea"/>
              </a:rPr>
              <a:t>各个模块</a:t>
            </a:r>
            <a:r>
              <a:rPr lang="zh-CN" altLang="en-US"/>
              <a:t>重新串起来，整个研究主要想回答三个科学问题。</a:t>
            </a:r>
            <a:endParaRPr lang="zh-CN" altLang="en-US"/>
          </a:p>
          <a:p>
            <a:r>
              <a:rPr lang="zh-CN" altLang="en-US"/>
              <a:t>第一个问题通过 </a:t>
            </a:r>
            <a:r>
              <a:rPr lang="en-US" altLang="zh-CN"/>
              <a:t>finite-Te DFT </a:t>
            </a:r>
            <a:r>
              <a:rPr lang="zh-CN" altLang="en-US"/>
              <a:t>和电子温度依赖机器学习势回答。</a:t>
            </a:r>
            <a:endParaRPr lang="zh-CN" altLang="en-US"/>
          </a:p>
          <a:p>
            <a:r>
              <a:rPr lang="zh-CN" altLang="en-US"/>
              <a:t>从物理上对应：电子激发</a:t>
            </a:r>
            <a:r>
              <a:rPr lang="en-US" altLang="zh-CN"/>
              <a:t>→</a:t>
            </a:r>
            <a:r>
              <a:rPr lang="zh-CN" altLang="en-US"/>
              <a:t>自由能面改变</a:t>
            </a:r>
            <a:r>
              <a:rPr lang="en-US" altLang="zh-CN"/>
              <a:t>→</a:t>
            </a:r>
            <a:r>
              <a:rPr lang="zh-CN" altLang="en-US"/>
              <a:t>原子间作用力改变</a:t>
            </a:r>
            <a:endParaRPr lang="zh-CN" altLang="en-US"/>
          </a:p>
          <a:p>
            <a:r>
              <a:rPr lang="zh-CN" altLang="en-US"/>
              <a:t>第二个问题是：通过 </a:t>
            </a:r>
            <a:r>
              <a:rPr lang="en-US" altLang="zh-CN"/>
              <a:t>Te-DPMD </a:t>
            </a:r>
            <a:r>
              <a:rPr lang="zh-CN" altLang="en-US"/>
              <a:t>和 </a:t>
            </a:r>
            <a:r>
              <a:rPr lang="en-US" altLang="zh-CN"/>
              <a:t>TTM </a:t>
            </a:r>
            <a:r>
              <a:rPr lang="zh-CN" altLang="en-US"/>
              <a:t>耦合进行。</a:t>
            </a:r>
            <a:endParaRPr lang="zh-CN" altLang="en-US"/>
          </a:p>
          <a:p>
            <a:r>
              <a:rPr lang="zh-CN" altLang="en-US"/>
              <a:t>也就是说，既考虑电子系统和晶格之间的能量交换，也让电子温度实时作用到原子势函数上。</a:t>
            </a:r>
            <a:endParaRPr lang="zh-CN" altLang="en-US"/>
          </a:p>
          <a:p>
            <a:r>
              <a:rPr lang="zh-CN" altLang="en-US"/>
              <a:t>最终研究激光条件下空位、无序结构、相变等缺陷是怎样产生和演化的。</a:t>
            </a:r>
            <a:endParaRPr lang="zh-CN" altLang="en-US"/>
          </a:p>
          <a:p>
            <a:r>
              <a:rPr lang="zh-CN" altLang="en-US"/>
              <a:t>第三个问题进一步结合 </a:t>
            </a:r>
            <a:r>
              <a:rPr lang="en-US" altLang="zh-CN"/>
              <a:t>HSE06、</a:t>
            </a:r>
            <a:r>
              <a:rPr lang="zh-CN" altLang="en-US"/>
              <a:t>介电函数、缺陷吸收以及漂移扩散等方法进行分析。</a:t>
            </a:r>
            <a:endParaRPr lang="zh-CN" altLang="en-US"/>
          </a:p>
          <a:p>
            <a:r>
              <a:rPr lang="zh-CN" altLang="en-US"/>
              <a:t>所以整个课题的完整逻辑实际上就是：</a:t>
            </a:r>
            <a:endParaRPr lang="zh-CN" altLang="en-US"/>
          </a:p>
          <a:p>
            <a:r>
              <a:rPr lang="zh-CN" altLang="en-US"/>
              <a:t>电子激发</a:t>
            </a:r>
            <a:r>
              <a:rPr lang="en-US" altLang="zh-CN"/>
              <a:t>→</a:t>
            </a:r>
            <a:r>
              <a:rPr lang="zh-CN" altLang="en-US"/>
              <a:t>自由能面改变</a:t>
            </a:r>
            <a:r>
              <a:rPr lang="en-US" altLang="zh-CN"/>
              <a:t>→</a:t>
            </a:r>
            <a:r>
              <a:rPr lang="zh-CN" altLang="en-US"/>
              <a:t>原子力改变</a:t>
            </a:r>
            <a:r>
              <a:rPr lang="en-US" altLang="zh-CN"/>
              <a:t>→</a:t>
            </a:r>
            <a:r>
              <a:rPr lang="zh-CN" altLang="en-US"/>
              <a:t>缺陷演化</a:t>
            </a:r>
            <a:r>
              <a:rPr lang="en-US" altLang="zh-CN"/>
              <a:t>→</a:t>
            </a:r>
            <a:r>
              <a:rPr lang="zh-CN" altLang="en-US"/>
              <a:t>电子/光学/输运变化</a:t>
            </a:r>
            <a:r>
              <a:rPr lang="en-US" altLang="zh-CN"/>
              <a:t>→</a:t>
            </a:r>
            <a:r>
              <a:rPr lang="zh-CN" altLang="en-US"/>
              <a:t>光电响应</a:t>
            </a:r>
            <a:endParaRPr lang="zh-CN" altLang="en-US"/>
          </a:p>
          <a:p>
            <a:r>
              <a:rPr lang="zh-CN" altLang="en-US"/>
              <a:t>而激光能量沉积则从另外一个方向，通过动态吸收和 </a:t>
            </a:r>
            <a:r>
              <a:rPr lang="en-US" altLang="zh-CN"/>
              <a:t>TTM </a:t>
            </a:r>
            <a:r>
              <a:rPr lang="zh-CN" altLang="en-US"/>
              <a:t>控制电子温度演化。</a:t>
            </a:r>
            <a:endParaRPr lang="zh-CN" altLang="en-US"/>
          </a:p>
          <a:p>
            <a:r>
              <a:rPr lang="zh-CN" altLang="en-US"/>
              <a:t>因此这里最终建立的是一个从量子电子结构 → 原子尺度动力学 → 连续体能量输运 → 器件性能响应的多尺度研究框架。</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下面几页是目前做的一些初步计算。</a:t>
            </a:r>
            <a:endParaRPr lang="zh-CN" altLang="en-US"/>
          </a:p>
          <a:p>
            <a:r>
              <a:rPr lang="zh-CN" altLang="en-US"/>
              <a:t>首先这一页比较的是完美 </a:t>
            </a:r>
            <a:r>
              <a:rPr lang="en-US" altLang="zh-CN"/>
              <a:t>Si </a:t>
            </a:r>
            <a:r>
              <a:rPr lang="zh-CN" altLang="en-US"/>
              <a:t>和含单空位 </a:t>
            </a:r>
            <a:r>
              <a:rPr lang="en-US" altLang="zh-CN"/>
              <a:t>Si </a:t>
            </a:r>
            <a:r>
              <a:rPr lang="zh-CN" altLang="en-US"/>
              <a:t>超胞的有限电子温度自由能随 </a:t>
            </a:r>
            <a:r>
              <a:rPr lang="en-US" altLang="zh-CN"/>
              <a:t>Te</a:t>
            </a:r>
            <a:r>
              <a:rPr lang="zh-CN" altLang="en-US"/>
              <a:t>的变化。 </a:t>
            </a:r>
            <a:endParaRPr lang="zh-CN" altLang="en-US"/>
          </a:p>
          <a:p>
            <a:r>
              <a:rPr lang="zh-CN" altLang="en-US"/>
              <a:t>从图中首先可以看到，随着电子温度升高，两种体系的自由能都逐渐降低，而且高电子温度区域变化更加明显。</a:t>
            </a:r>
            <a:endParaRPr lang="zh-CN" altLang="en-US"/>
          </a:p>
          <a:p>
            <a:r>
              <a:rPr lang="zh-CN" altLang="en-US"/>
              <a:t>这一点反映出有限电子温度下，电子熵项开始产生越来越明显的贡献。</a:t>
            </a:r>
            <a:endParaRPr lang="zh-CN" altLang="en-US"/>
          </a:p>
          <a:p>
            <a:r>
              <a:rPr lang="zh-CN" altLang="en-US"/>
              <a:t>另外，在相同电子温度下，完美晶胞的自由能始终低于含空位晶胞。</a:t>
            </a:r>
            <a:endParaRPr lang="zh-CN" altLang="en-US"/>
          </a:p>
          <a:p>
            <a:r>
              <a:rPr lang="zh-CN" altLang="en-US"/>
              <a:t>也就是说，对于当前所比较的两个体系，完美晶体对应的状态整体具有更低的自由能。</a:t>
            </a:r>
            <a:endParaRPr lang="zh-CN" altLang="en-US"/>
          </a:p>
          <a:p>
            <a:r>
              <a:rPr lang="zh-CN" altLang="en-US"/>
              <a:t>目前这一结果首先说明了一点：</a:t>
            </a:r>
            <a:endParaRPr lang="zh-CN" altLang="en-US"/>
          </a:p>
          <a:p>
            <a:r>
              <a:rPr lang="zh-CN" altLang="en-US"/>
              <a:t>电子温度确实能够显著调制体系的有限温度自由能。</a:t>
            </a:r>
            <a:endParaRPr lang="zh-CN" altLang="en-US"/>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这一页进一步看有限电子温度对应力的影响。</a:t>
            </a:r>
            <a:endParaRPr lang="zh-CN" altLang="en-US"/>
          </a:p>
          <a:p>
            <a:r>
              <a:rPr lang="zh-CN" altLang="en-US"/>
              <a:t>左边是完美的 64 原子 </a:t>
            </a:r>
            <a:r>
              <a:rPr lang="en-US" altLang="zh-CN"/>
              <a:t>Si </a:t>
            </a:r>
            <a:r>
              <a:rPr lang="zh-CN" altLang="en-US"/>
              <a:t>超胞。</a:t>
            </a:r>
            <a:endParaRPr lang="zh-CN" altLang="en-US"/>
          </a:p>
          <a:p>
            <a:r>
              <a:rPr lang="zh-CN" altLang="en-US"/>
              <a:t>可以看到三个对角应力分量</a:t>
            </a:r>
            <a:r>
              <a:rPr lang="en-US" altLang="zh-CN"/>
              <a:t>s11、s22、s33 </a:t>
            </a:r>
            <a:r>
              <a:rPr lang="zh-CN" altLang="en-US"/>
              <a:t>基本重合。</a:t>
            </a:r>
            <a:endParaRPr lang="zh-CN" altLang="en-US"/>
          </a:p>
          <a:p>
            <a:r>
              <a:rPr lang="zh-CN" altLang="en-US"/>
              <a:t>这是因为完整金刚石结构具有比较高的晶格对称性，因此三个方向上的响应非常接近。</a:t>
            </a:r>
            <a:endParaRPr lang="zh-CN" altLang="en-US"/>
          </a:p>
          <a:p>
            <a:r>
              <a:rPr lang="zh-CN" altLang="en-US"/>
              <a:t>随着电子温度不断升高，应力整体明显增加。</a:t>
            </a:r>
            <a:endParaRPr lang="zh-CN" altLang="en-US"/>
          </a:p>
          <a:p>
            <a:r>
              <a:rPr lang="zh-CN" altLang="en-US"/>
              <a:t>而右边是去掉一个原子以后的 63 原子空位体系。</a:t>
            </a:r>
            <a:endParaRPr lang="zh-CN" altLang="en-US"/>
          </a:p>
          <a:p>
            <a:r>
              <a:rPr lang="zh-CN" altLang="en-US"/>
              <a:t>第一个特点是，</a:t>
            </a:r>
            <a:r>
              <a:rPr lang="en-US" altLang="zh-CN"/>
              <a:t>s11、s22、s33 </a:t>
            </a:r>
            <a:r>
              <a:rPr lang="zh-CN" altLang="en-US"/>
              <a:t>不再完全重合。</a:t>
            </a:r>
            <a:endParaRPr lang="zh-CN" altLang="en-US"/>
          </a:p>
          <a:p>
            <a:r>
              <a:rPr lang="zh-CN" altLang="en-US"/>
              <a:t>这是因为引入空位以后，原本完整晶体的局域对称性被破坏，因此三个方向出现不同程度的应力响应。</a:t>
            </a:r>
            <a:endParaRPr lang="zh-CN" altLang="en-US"/>
          </a:p>
          <a:p>
            <a:r>
              <a:rPr lang="zh-CN" altLang="en-US"/>
              <a:t>第二个特点是，在相同电子温度下，空位体系整体应力明显高于完美晶体。</a:t>
            </a:r>
            <a:endParaRPr lang="zh-CN" altLang="en-US"/>
          </a:p>
          <a:p>
            <a:r>
              <a:rPr lang="zh-CN" altLang="en-US"/>
              <a:t>按照目前 </a:t>
            </a:r>
            <a:r>
              <a:rPr lang="en-US" altLang="zh-CN"/>
              <a:t>PPT </a:t>
            </a:r>
            <a:r>
              <a:rPr lang="zh-CN" altLang="en-US"/>
              <a:t>中的分析，这是由于空位引入局域缺陷态，局域电子在升温以后对电子压强产生额外贡献。</a:t>
            </a:r>
            <a:endParaRPr lang="zh-CN" altLang="en-US"/>
          </a:p>
          <a:p>
            <a:r>
              <a:rPr lang="zh-CN" altLang="en-US"/>
              <a:t>所以这组结果说明：</a:t>
            </a:r>
            <a:endParaRPr lang="zh-CN" altLang="en-US"/>
          </a:p>
          <a:p>
            <a:r>
              <a:rPr lang="zh-CN" altLang="en-US"/>
              <a:t>电子温度不仅改变体系的标量自由能，也能够明显影响应力状态以及缺陷附近的各向异性响应。</a:t>
            </a:r>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这一页对应的是前面说的第二条支路，也就是光学吸收。</a:t>
            </a:r>
            <a:endParaRPr lang="zh-CN" altLang="en-US"/>
          </a:p>
          <a:p>
            <a:r>
              <a:rPr lang="zh-CN" altLang="en-US"/>
              <a:t>先看 300 </a:t>
            </a:r>
            <a:r>
              <a:rPr lang="en-US" altLang="zh-CN"/>
              <a:t>K。</a:t>
            </a:r>
            <a:endParaRPr lang="en-US" altLang="zh-CN"/>
          </a:p>
          <a:p>
            <a:r>
              <a:rPr lang="zh-CN" altLang="en-US"/>
              <a:t>对于完美 </a:t>
            </a:r>
            <a:r>
              <a:rPr lang="en-US" altLang="zh-CN"/>
              <a:t>Si，</a:t>
            </a:r>
            <a:r>
              <a:rPr lang="zh-CN" altLang="en-US"/>
              <a:t>在比较低的光子能量范围内吸收非常弱。</a:t>
            </a:r>
            <a:endParaRPr lang="zh-CN" altLang="en-US"/>
          </a:p>
          <a:p>
            <a:r>
              <a:rPr lang="zh-CN" altLang="en-US"/>
              <a:t>但是引入空位以后，在 0 到 1 </a:t>
            </a:r>
            <a:r>
              <a:rPr lang="en-US" altLang="zh-CN"/>
              <a:t>eV </a:t>
            </a:r>
            <a:r>
              <a:rPr lang="zh-CN" altLang="en-US"/>
              <a:t>左右可以看到明显的亚带隙吸收。</a:t>
            </a:r>
            <a:endParaRPr lang="zh-CN" altLang="en-US"/>
          </a:p>
          <a:p>
            <a:r>
              <a:rPr lang="zh-CN" altLang="en-US"/>
              <a:t>按照目前的分析，这主要来自空位引入的局域缺陷态。</a:t>
            </a:r>
            <a:endParaRPr lang="zh-CN" altLang="en-US"/>
          </a:p>
          <a:p>
            <a:r>
              <a:rPr lang="zh-CN" altLang="en-US"/>
              <a:t>也就是说，在低电子温度下，结构缺陷本身会在吸收谱上留下比较明显的特征。</a:t>
            </a:r>
            <a:endParaRPr lang="zh-CN" altLang="en-US"/>
          </a:p>
          <a:p>
            <a:r>
              <a:rPr lang="zh-CN" altLang="en-US"/>
              <a:t>然后再看 15000 </a:t>
            </a:r>
            <a:r>
              <a:rPr lang="en-US" altLang="zh-CN"/>
              <a:t>K。</a:t>
            </a:r>
            <a:endParaRPr lang="en-US" altLang="zh-CN"/>
          </a:p>
          <a:p>
            <a:r>
              <a:rPr lang="zh-CN" altLang="en-US"/>
              <a:t>当电子温度升高以后，费米分布明显展宽，大量电子发生热激发。</a:t>
            </a:r>
            <a:endParaRPr lang="zh-CN" altLang="en-US"/>
          </a:p>
          <a:p>
            <a:r>
              <a:rPr lang="zh-CN" altLang="en-US"/>
              <a:t>这时原来低温下比较尖锐的吸收特征逐渐被抹平，两条高温曲线都表现得更加平滑。</a:t>
            </a:r>
            <a:endParaRPr lang="zh-CN" altLang="en-US"/>
          </a:p>
          <a:p>
            <a:r>
              <a:rPr lang="zh-CN" altLang="en-US"/>
              <a:t>也就是说，在强电子激发条件下，电子热激发本身对光学响应的影响开始占主导，低温条件下由缺陷产生的一些局部光学特征会被部分掩盖。</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172C45C-4E0D-4B81-8899-5F48BF0A369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AA3FAA-A1DB-4A43-8A5E-7DC6D26E919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172C45C-4E0D-4B81-8899-5F48BF0A369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8AA3FAA-A1DB-4A43-8A5E-7DC6D26E919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6.wmf"/><Relationship Id="rId7" Type="http://schemas.openxmlformats.org/officeDocument/2006/relationships/oleObject" Target="../embeddings/oleObject4.bin"/><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 Id="rId3" Type="http://schemas.openxmlformats.org/officeDocument/2006/relationships/oleObject" Target="../embeddings/oleObject2.bin"/><Relationship Id="rId23" Type="http://schemas.openxmlformats.org/officeDocument/2006/relationships/notesSlide" Target="../notesSlides/notesSlide2.xml"/><Relationship Id="rId22" Type="http://schemas.openxmlformats.org/officeDocument/2006/relationships/vmlDrawing" Target="../drawings/vmlDrawing1.vml"/><Relationship Id="rId21" Type="http://schemas.openxmlformats.org/officeDocument/2006/relationships/slideLayout" Target="../slideLayouts/slideLayout4.xml"/><Relationship Id="rId20" Type="http://schemas.openxmlformats.org/officeDocument/2006/relationships/image" Target="../media/image12.wmf"/><Relationship Id="rId2" Type="http://schemas.openxmlformats.org/officeDocument/2006/relationships/image" Target="../media/image3.wmf"/><Relationship Id="rId19" Type="http://schemas.openxmlformats.org/officeDocument/2006/relationships/oleObject" Target="../embeddings/oleObject10.bin"/><Relationship Id="rId18" Type="http://schemas.openxmlformats.org/officeDocument/2006/relationships/image" Target="../media/image11.wmf"/><Relationship Id="rId17" Type="http://schemas.openxmlformats.org/officeDocument/2006/relationships/oleObject" Target="../embeddings/oleObject9.bin"/><Relationship Id="rId16" Type="http://schemas.openxmlformats.org/officeDocument/2006/relationships/image" Target="../media/image10.wmf"/><Relationship Id="rId15" Type="http://schemas.openxmlformats.org/officeDocument/2006/relationships/oleObject" Target="../embeddings/oleObject8.bin"/><Relationship Id="rId14" Type="http://schemas.openxmlformats.org/officeDocument/2006/relationships/image" Target="../media/image9.wmf"/><Relationship Id="rId13" Type="http://schemas.openxmlformats.org/officeDocument/2006/relationships/oleObject" Target="../embeddings/oleObject7.bin"/><Relationship Id="rId12" Type="http://schemas.openxmlformats.org/officeDocument/2006/relationships/image" Target="../media/image8.wmf"/><Relationship Id="rId11" Type="http://schemas.openxmlformats.org/officeDocument/2006/relationships/oleObject" Target="../embeddings/oleObject6.bin"/><Relationship Id="rId10" Type="http://schemas.openxmlformats.org/officeDocument/2006/relationships/image" Target="../media/image7.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2.vml"/><Relationship Id="rId7" Type="http://schemas.openxmlformats.org/officeDocument/2006/relationships/slideLayout" Target="../slideLayouts/slideLayout4.xml"/><Relationship Id="rId6" Type="http://schemas.openxmlformats.org/officeDocument/2006/relationships/image" Target="../media/image15.wmf"/><Relationship Id="rId5" Type="http://schemas.openxmlformats.org/officeDocument/2006/relationships/oleObject" Target="../embeddings/oleObject13.bin"/><Relationship Id="rId4" Type="http://schemas.openxmlformats.org/officeDocument/2006/relationships/image" Target="../media/image14.wmf"/><Relationship Id="rId3" Type="http://schemas.openxmlformats.org/officeDocument/2006/relationships/oleObject" Target="../embeddings/oleObject12.bin"/><Relationship Id="rId2" Type="http://schemas.openxmlformats.org/officeDocument/2006/relationships/image" Target="../media/image13.wmf"/><Relationship Id="rId1"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vmlDrawing" Target="../drawings/vmlDrawing3.vml"/><Relationship Id="rId7" Type="http://schemas.openxmlformats.org/officeDocument/2006/relationships/slideLayout" Target="../slideLayouts/slideLayout4.xml"/><Relationship Id="rId6" Type="http://schemas.openxmlformats.org/officeDocument/2006/relationships/image" Target="../media/image18.wmf"/><Relationship Id="rId5" Type="http://schemas.openxmlformats.org/officeDocument/2006/relationships/oleObject" Target="../embeddings/oleObject16.bin"/><Relationship Id="rId4" Type="http://schemas.openxmlformats.org/officeDocument/2006/relationships/image" Target="../media/image17.emf"/><Relationship Id="rId3" Type="http://schemas.openxmlformats.org/officeDocument/2006/relationships/oleObject" Target="../embeddings/oleObject15.bin"/><Relationship Id="rId2" Type="http://schemas.openxmlformats.org/officeDocument/2006/relationships/image" Target="../media/image16.wmf"/><Relationship Id="rId1" Type="http://schemas.openxmlformats.org/officeDocument/2006/relationships/oleObject" Target="../embeddings/oleObject14.bin"/></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vmlDrawing" Target="../drawings/vmlDrawing4.vml"/><Relationship Id="rId7" Type="http://schemas.openxmlformats.org/officeDocument/2006/relationships/slideLayout" Target="../slideLayouts/slideLayout4.xml"/><Relationship Id="rId6" Type="http://schemas.openxmlformats.org/officeDocument/2006/relationships/image" Target="../media/image22.wmf"/><Relationship Id="rId5" Type="http://schemas.openxmlformats.org/officeDocument/2006/relationships/oleObject" Target="../embeddings/oleObject18.bin"/><Relationship Id="rId4" Type="http://schemas.openxmlformats.org/officeDocument/2006/relationships/image" Target="../media/image21.wmf"/><Relationship Id="rId3" Type="http://schemas.openxmlformats.org/officeDocument/2006/relationships/oleObject" Target="../embeddings/oleObject17.bin"/><Relationship Id="rId2" Type="http://schemas.openxmlformats.org/officeDocument/2006/relationships/image" Target="../media/image20.png"/><Relationship Id="rId1" Type="http://schemas.openxmlformats.org/officeDocument/2006/relationships/image" Target="../media/image19.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vmlDrawing" Target="../drawings/vmlDrawing5.vml"/><Relationship Id="rId7"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wmf"/><Relationship Id="rId4" Type="http://schemas.openxmlformats.org/officeDocument/2006/relationships/oleObject" Target="../embeddings/oleObject20.bin"/><Relationship Id="rId3" Type="http://schemas.openxmlformats.org/officeDocument/2006/relationships/image" Target="../media/image23.wmf"/><Relationship Id="rId2" Type="http://schemas.openxmlformats.org/officeDocument/2006/relationships/oleObject" Target="../embeddings/oleObject19.bin"/><Relationship Id="rId1" Type="http://schemas.openxmlformats.org/officeDocument/2006/relationships/image" Target="../media/image19.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image" Target="../media/image29.wmf"/><Relationship Id="rId7" Type="http://schemas.openxmlformats.org/officeDocument/2006/relationships/oleObject" Target="../embeddings/oleObject22.bin"/><Relationship Id="rId6" Type="http://schemas.openxmlformats.org/officeDocument/2006/relationships/image" Target="../media/image28.wmf"/><Relationship Id="rId5" Type="http://schemas.openxmlformats.org/officeDocument/2006/relationships/oleObject" Target="../embeddings/oleObject21.bin"/><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tags" Target="../tags/tag2.xml"/><Relationship Id="rId11" Type="http://schemas.openxmlformats.org/officeDocument/2006/relationships/notesSlide" Target="../notesSlides/notesSlide7.xml"/><Relationship Id="rId10" Type="http://schemas.openxmlformats.org/officeDocument/2006/relationships/vmlDrawing" Target="../drawings/vmlDrawing6.v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9" Type="http://schemas.openxmlformats.org/officeDocument/2006/relationships/image" Target="../media/image33.wmf"/><Relationship Id="rId8" Type="http://schemas.openxmlformats.org/officeDocument/2006/relationships/oleObject" Target="../embeddings/oleObject26.bin"/><Relationship Id="rId7" Type="http://schemas.openxmlformats.org/officeDocument/2006/relationships/image" Target="../media/image32.wmf"/><Relationship Id="rId6" Type="http://schemas.openxmlformats.org/officeDocument/2006/relationships/oleObject" Target="../embeddings/oleObject25.bin"/><Relationship Id="rId5" Type="http://schemas.openxmlformats.org/officeDocument/2006/relationships/image" Target="../media/image31.emf"/><Relationship Id="rId4" Type="http://schemas.openxmlformats.org/officeDocument/2006/relationships/oleObject" Target="../embeddings/oleObject24.bin"/><Relationship Id="rId3" Type="http://schemas.openxmlformats.org/officeDocument/2006/relationships/image" Target="../media/image30.wmf"/><Relationship Id="rId2" Type="http://schemas.openxmlformats.org/officeDocument/2006/relationships/oleObject" Target="../embeddings/oleObject23.bin"/><Relationship Id="rId14" Type="http://schemas.openxmlformats.org/officeDocument/2006/relationships/notesSlide" Target="../notesSlides/notesSlide8.xml"/><Relationship Id="rId13" Type="http://schemas.openxmlformats.org/officeDocument/2006/relationships/vmlDrawing" Target="../drawings/vmlDrawing7.vml"/><Relationship Id="rId12" Type="http://schemas.openxmlformats.org/officeDocument/2006/relationships/slideLayout" Target="../slideLayouts/slideLayout4.xml"/><Relationship Id="rId11" Type="http://schemas.openxmlformats.org/officeDocument/2006/relationships/image" Target="../media/image34.wmf"/><Relationship Id="rId10" Type="http://schemas.openxmlformats.org/officeDocument/2006/relationships/oleObject" Target="../embeddings/oleObject27.bin"/><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38.wmf"/><Relationship Id="rId7" Type="http://schemas.openxmlformats.org/officeDocument/2006/relationships/oleObject" Target="../embeddings/oleObject31.bin"/><Relationship Id="rId6" Type="http://schemas.openxmlformats.org/officeDocument/2006/relationships/image" Target="../media/image37.wmf"/><Relationship Id="rId5" Type="http://schemas.openxmlformats.org/officeDocument/2006/relationships/oleObject" Target="../embeddings/oleObject30.bin"/><Relationship Id="rId4" Type="http://schemas.openxmlformats.org/officeDocument/2006/relationships/image" Target="../media/image36.wmf"/><Relationship Id="rId3" Type="http://schemas.openxmlformats.org/officeDocument/2006/relationships/oleObject" Target="../embeddings/oleObject29.bin"/><Relationship Id="rId2" Type="http://schemas.openxmlformats.org/officeDocument/2006/relationships/image" Target="../media/image35.wmf"/><Relationship Id="rId19" Type="http://schemas.openxmlformats.org/officeDocument/2006/relationships/notesSlide" Target="../notesSlides/notesSlide9.xml"/><Relationship Id="rId18" Type="http://schemas.openxmlformats.org/officeDocument/2006/relationships/vmlDrawing" Target="../drawings/vmlDrawing8.vml"/><Relationship Id="rId17" Type="http://schemas.openxmlformats.org/officeDocument/2006/relationships/slideLayout" Target="../slideLayouts/slideLayout4.xml"/><Relationship Id="rId16" Type="http://schemas.openxmlformats.org/officeDocument/2006/relationships/tags" Target="../tags/tag9.xml"/><Relationship Id="rId15" Type="http://schemas.openxmlformats.org/officeDocument/2006/relationships/tags" Target="../tags/tag8.xml"/><Relationship Id="rId14" Type="http://schemas.openxmlformats.org/officeDocument/2006/relationships/tags" Target="../tags/tag7.xml"/><Relationship Id="rId13" Type="http://schemas.openxmlformats.org/officeDocument/2006/relationships/tags" Target="../tags/tag6.xml"/><Relationship Id="rId12" Type="http://schemas.openxmlformats.org/officeDocument/2006/relationships/tags" Target="../tags/tag5.xml"/><Relationship Id="rId11" Type="http://schemas.openxmlformats.org/officeDocument/2006/relationships/tags" Target="../tags/tag4.xml"/><Relationship Id="rId10" Type="http://schemas.openxmlformats.org/officeDocument/2006/relationships/image" Target="../media/image39.wmf"/><Relationship Id="rId1" Type="http://schemas.openxmlformats.org/officeDocument/2006/relationships/oleObject" Target="../embeddings/oleObject28.bin"/></Relationships>
</file>

<file path=ppt/slides/_rels/slide11.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4" Type="http://schemas.openxmlformats.org/officeDocument/2006/relationships/notesSlide" Target="../notesSlides/notesSlide10.xml"/><Relationship Id="rId13" Type="http://schemas.openxmlformats.org/officeDocument/2006/relationships/slideLayout" Target="../slideLayouts/slideLayout4.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4.xml"/><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image" Target="../media/image40.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4.xml"/><Relationship Id="rId2" Type="http://schemas.openxmlformats.org/officeDocument/2006/relationships/image" Target="../media/image44.png"/><Relationship Id="rId1" Type="http://schemas.openxmlformats.org/officeDocument/2006/relationships/image" Target="../media/image4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4831631" y="5811129"/>
            <a:ext cx="19354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300" normalizeH="0" baseline="0" noProof="0" dirty="0">
                <a:ln>
                  <a:noFill/>
                </a:ln>
                <a:solidFill>
                  <a:prstClr val="black"/>
                </a:solidFill>
                <a:effectLst/>
                <a:uLnTx/>
                <a:uFillTx/>
                <a:cs typeface="+mn-ea"/>
                <a:sym typeface="+mn-lt"/>
              </a:rPr>
              <a:t>汇报人：姜珊</a:t>
            </a:r>
            <a:endParaRPr kumimoji="1" lang="zh-CN" altLang="en-US" sz="2000" b="1" i="0" u="none" strike="noStrike" kern="1200" cap="none" spc="300" normalizeH="0" baseline="0" noProof="0" dirty="0">
              <a:ln>
                <a:noFill/>
              </a:ln>
              <a:solidFill>
                <a:prstClr val="black"/>
              </a:solidFill>
              <a:effectLst/>
              <a:uLnTx/>
              <a:uFillTx/>
              <a:cs typeface="+mn-ea"/>
              <a:sym typeface="+mn-lt"/>
            </a:endParaRPr>
          </a:p>
        </p:txBody>
      </p:sp>
      <p:grpSp>
        <p:nvGrpSpPr>
          <p:cNvPr id="8" name="组合 7"/>
          <p:cNvGrpSpPr/>
          <p:nvPr/>
        </p:nvGrpSpPr>
        <p:grpSpPr>
          <a:xfrm>
            <a:off x="3149964" y="5879279"/>
            <a:ext cx="1363436" cy="73479"/>
            <a:chOff x="2528708" y="5168268"/>
            <a:chExt cx="1363436" cy="73479"/>
          </a:xfrm>
        </p:grpSpPr>
        <p:sp>
          <p:nvSpPr>
            <p:cNvPr id="5" name="椭圆 4"/>
            <p:cNvSpPr/>
            <p:nvPr/>
          </p:nvSpPr>
          <p:spPr>
            <a:xfrm>
              <a:off x="3818665" y="5168268"/>
              <a:ext cx="73479" cy="734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7" name="直线连接符 6"/>
            <p:cNvCxnSpPr/>
            <p:nvPr/>
          </p:nvCxnSpPr>
          <p:spPr>
            <a:xfrm>
              <a:off x="2528708" y="5199927"/>
              <a:ext cx="1289957" cy="0"/>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grpSp>
      <p:grpSp>
        <p:nvGrpSpPr>
          <p:cNvPr id="9" name="组合 8"/>
          <p:cNvGrpSpPr/>
          <p:nvPr/>
        </p:nvGrpSpPr>
        <p:grpSpPr>
          <a:xfrm>
            <a:off x="7747814" y="5852880"/>
            <a:ext cx="1353276" cy="73479"/>
            <a:chOff x="3818665" y="5168268"/>
            <a:chExt cx="1353276" cy="73479"/>
          </a:xfrm>
        </p:grpSpPr>
        <p:sp>
          <p:nvSpPr>
            <p:cNvPr id="10" name="椭圆 9"/>
            <p:cNvSpPr/>
            <p:nvPr/>
          </p:nvSpPr>
          <p:spPr>
            <a:xfrm>
              <a:off x="3818665" y="5168268"/>
              <a:ext cx="73479" cy="73479"/>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cxnSp>
          <p:nvCxnSpPr>
            <p:cNvPr id="11" name="直线连接符 10"/>
            <p:cNvCxnSpPr/>
            <p:nvPr/>
          </p:nvCxnSpPr>
          <p:spPr>
            <a:xfrm>
              <a:off x="3881984" y="5205007"/>
              <a:ext cx="1289957" cy="0"/>
            </a:xfrm>
            <a:prstGeom prst="line">
              <a:avLst/>
            </a:prstGeom>
            <a:ln>
              <a:solidFill>
                <a:srgbClr val="C00000"/>
              </a:solidFill>
            </a:ln>
          </p:spPr>
          <p:style>
            <a:lnRef idx="2">
              <a:schemeClr val="dk1"/>
            </a:lnRef>
            <a:fillRef idx="0">
              <a:schemeClr val="dk1"/>
            </a:fillRef>
            <a:effectRef idx="1">
              <a:schemeClr val="dk1"/>
            </a:effectRef>
            <a:fontRef idx="minor">
              <a:schemeClr val="tx1"/>
            </a:fontRef>
          </p:style>
        </p:cxnSp>
      </p:grpSp>
      <p:sp>
        <p:nvSpPr>
          <p:cNvPr id="12" name="文本框 11"/>
          <p:cNvSpPr txBox="1"/>
          <p:nvPr/>
        </p:nvSpPr>
        <p:spPr>
          <a:xfrm>
            <a:off x="4831631" y="6272603"/>
            <a:ext cx="27228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i="0" u="none" strike="noStrike" kern="1200" cap="none" spc="300" normalizeH="0" baseline="0" noProof="0" dirty="0">
                <a:ln>
                  <a:noFill/>
                </a:ln>
                <a:solidFill>
                  <a:prstClr val="black"/>
                </a:solidFill>
                <a:effectLst/>
                <a:uLnTx/>
                <a:uFillTx/>
                <a:cs typeface="+mn-ea"/>
                <a:sym typeface="+mn-lt"/>
              </a:rPr>
              <a:t>时   间：</a:t>
            </a:r>
            <a:r>
              <a:rPr kumimoji="1" lang="en-US" altLang="zh-CN" sz="2000" b="1" u="none" strike="noStrike" kern="1200" cap="none" spc="300" normalizeH="0" baseline="0" noProof="0" dirty="0">
                <a:ln>
                  <a:noFill/>
                </a:ln>
                <a:solidFill>
                  <a:prstClr val="black"/>
                </a:solidFill>
                <a:effectLst/>
                <a:uLnTx/>
                <a:uFillTx/>
                <a:latin typeface="+mj-lt"/>
                <a:cs typeface="+mn-ea"/>
                <a:sym typeface="+mn-lt"/>
              </a:rPr>
              <a:t>2026.10.7</a:t>
            </a:r>
            <a:endParaRPr kumimoji="1" lang="en-US" altLang="zh-CN" sz="2000" b="1" u="none" strike="noStrike" kern="1200" cap="none" spc="300" normalizeH="0" baseline="0" noProof="0" dirty="0">
              <a:ln>
                <a:noFill/>
              </a:ln>
              <a:solidFill>
                <a:prstClr val="black"/>
              </a:solidFill>
              <a:effectLst/>
              <a:uLnTx/>
              <a:uFillTx/>
              <a:latin typeface="+mj-lt"/>
              <a:cs typeface="+mn-ea"/>
              <a:sym typeface="+mn-lt"/>
            </a:endParaRPr>
          </a:p>
        </p:txBody>
      </p:sp>
      <p:sp>
        <p:nvSpPr>
          <p:cNvPr id="4" name="文本框 3"/>
          <p:cNvSpPr txBox="1"/>
          <p:nvPr/>
        </p:nvSpPr>
        <p:spPr>
          <a:xfrm>
            <a:off x="1213485" y="3703320"/>
            <a:ext cx="9845040" cy="1124585"/>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3200" b="1" noProof="0" dirty="0">
                <a:ln>
                  <a:noFill/>
                </a:ln>
                <a:solidFill>
                  <a:srgbClr val="FF0000"/>
                </a:solidFill>
                <a:effectLst/>
                <a:uLnTx/>
                <a:uFillTx/>
                <a:latin typeface="微软雅黑" panose="020B0503020204020204" charset="-122"/>
                <a:ea typeface="微软雅黑" panose="020B0503020204020204" charset="-122"/>
                <a:sym typeface="+mn-ea"/>
              </a:rPr>
              <a:t>机器学习势驱动下纳秒激光辐照单晶硅缺陷演化及其对光电探测性能的影响研究</a:t>
            </a:r>
            <a:endParaRPr kumimoji="1" lang="zh-CN" altLang="en-US" sz="3200" b="1" i="0" u="none" strike="noStrike" kern="1200" cap="none" spc="300" normalizeH="0" baseline="-25000" noProof="0" dirty="0">
              <a:ln>
                <a:noFill/>
              </a:ln>
              <a:solidFill>
                <a:srgbClr val="FF0000"/>
              </a:solidFill>
              <a:effectLst/>
              <a:uLnTx/>
              <a:uFillTx/>
              <a:latin typeface="微软雅黑" panose="020B0503020204020204" charset="-122"/>
              <a:ea typeface="微软雅黑" panose="020B0503020204020204" charset="-122"/>
              <a:cs typeface="+mn-ea"/>
              <a:sym typeface="+mn-ea"/>
            </a:endParaRPr>
          </a:p>
        </p:txBody>
      </p:sp>
      <p:sp>
        <p:nvSpPr>
          <p:cNvPr id="13" name="文本框 12"/>
          <p:cNvSpPr txBox="1"/>
          <p:nvPr/>
        </p:nvSpPr>
        <p:spPr>
          <a:xfrm>
            <a:off x="4831631" y="5349655"/>
            <a:ext cx="2532380" cy="39878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2000" b="1" spc="300" dirty="0">
                <a:solidFill>
                  <a:prstClr val="black"/>
                </a:solidFill>
                <a:cs typeface="+mn-ea"/>
                <a:sym typeface="+mn-lt"/>
              </a:rPr>
              <a:t>导   师</a:t>
            </a:r>
            <a:r>
              <a:rPr kumimoji="1" lang="zh-CN" altLang="en-US" sz="2000" b="1" i="0" u="none" strike="noStrike" kern="1200" cap="none" spc="300" normalizeH="0" baseline="0" noProof="0" dirty="0">
                <a:ln>
                  <a:noFill/>
                </a:ln>
                <a:solidFill>
                  <a:prstClr val="black"/>
                </a:solidFill>
                <a:effectLst/>
                <a:uLnTx/>
                <a:uFillTx/>
                <a:cs typeface="+mn-ea"/>
                <a:sym typeface="+mn-lt"/>
              </a:rPr>
              <a:t>：杨丽教授</a:t>
            </a:r>
            <a:endParaRPr kumimoji="1" lang="zh-CN" altLang="en-US" sz="2000" b="1" i="0" u="none" strike="noStrike" kern="1200" cap="none" spc="300" normalizeH="0" baseline="0" noProof="0" dirty="0">
              <a:ln>
                <a:noFill/>
              </a:ln>
              <a:solidFill>
                <a:prstClr val="black"/>
              </a:solidFill>
              <a:effectLst/>
              <a:uLnTx/>
              <a:uFillTx/>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hape 9"/>
          <p:cNvSpPr/>
          <p:nvPr/>
        </p:nvSpPr>
        <p:spPr>
          <a:xfrm>
            <a:off x="438785" y="2162175"/>
            <a:ext cx="2240280" cy="1874520"/>
          </a:xfrm>
          <a:prstGeom prst="roundRect">
            <a:avLst>
              <a:gd name="adj" fmla="val 3902"/>
            </a:avLst>
          </a:prstGeom>
          <a:solidFill>
            <a:srgbClr val="FFFFFF"/>
          </a:solidFill>
          <a:ln w="22860">
            <a:solidFill>
              <a:srgbClr val="1F5FBF"/>
            </a:solidFill>
            <a:prstDash val="solid"/>
          </a:ln>
        </p:spPr>
      </p:sp>
      <p:sp>
        <p:nvSpPr>
          <p:cNvPr id="12" name="Text 10"/>
          <p:cNvSpPr/>
          <p:nvPr/>
        </p:nvSpPr>
        <p:spPr>
          <a:xfrm>
            <a:off x="603377" y="2290191"/>
            <a:ext cx="1911096" cy="292608"/>
          </a:xfrm>
          <a:prstGeom prst="rect">
            <a:avLst/>
          </a:prstGeom>
          <a:noFill/>
        </p:spPr>
        <p:txBody>
          <a:bodyPr wrap="square" lIns="0" tIns="0" rIns="0" bIns="0" rtlCol="0" anchor="ctr"/>
          <a:lstStyle/>
          <a:p>
            <a:pPr marL="0" indent="0" algn="ctr">
              <a:buNone/>
            </a:pPr>
            <a:r>
              <a:rPr lang="en-US" sz="1800" b="1" dirty="0">
                <a:solidFill>
                  <a:srgbClr val="1F5FBF"/>
                </a:solidFill>
                <a:latin typeface="+mj-ea"/>
                <a:ea typeface="+mj-ea"/>
                <a:cs typeface="+mj-ea"/>
              </a:rPr>
              <a:t>有限</a:t>
            </a:r>
            <a:r>
              <a:rPr lang="zh-CN" altLang="en-US" sz="1800" b="1" dirty="0">
                <a:solidFill>
                  <a:srgbClr val="1F5FBF"/>
                </a:solidFill>
                <a:latin typeface="+mj-ea"/>
                <a:ea typeface="+mj-ea"/>
                <a:cs typeface="+mj-ea"/>
              </a:rPr>
              <a:t>温度</a:t>
            </a:r>
            <a:r>
              <a:rPr lang="en-US" sz="1800" b="1" dirty="0">
                <a:solidFill>
                  <a:srgbClr val="1F5FBF"/>
                </a:solidFill>
                <a:latin typeface="+mj-ea"/>
                <a:ea typeface="+mj-ea"/>
                <a:cs typeface="+mj-ea"/>
              </a:rPr>
              <a:t>DFT</a:t>
            </a:r>
            <a:endParaRPr lang="en-US" sz="1800" dirty="0">
              <a:latin typeface="+mj-ea"/>
              <a:ea typeface="+mj-ea"/>
              <a:cs typeface="+mj-ea"/>
            </a:endParaRPr>
          </a:p>
        </p:txBody>
      </p:sp>
      <p:sp>
        <p:nvSpPr>
          <p:cNvPr id="13" name="Text 11"/>
          <p:cNvSpPr/>
          <p:nvPr/>
        </p:nvSpPr>
        <p:spPr>
          <a:xfrm>
            <a:off x="624967" y="2720340"/>
            <a:ext cx="1828800" cy="329184"/>
          </a:xfrm>
          <a:prstGeom prst="rect">
            <a:avLst/>
          </a:prstGeom>
          <a:noFill/>
        </p:spPr>
        <p:txBody>
          <a:bodyPr wrap="square" lIns="0" tIns="0" rIns="0" bIns="0" rtlCol="0" anchor="ctr">
            <a:normAutofit/>
          </a:bodyPr>
          <a:lstStyle/>
          <a:p>
            <a:pPr marL="0" indent="0" algn="ctr">
              <a:buNone/>
            </a:pPr>
            <a:r>
              <a:rPr lang="en-US" sz="1800" dirty="0">
                <a:solidFill>
                  <a:srgbClr val="1E2933"/>
                </a:solidFill>
                <a:latin typeface="Times New Roman" panose="02020603050405020304" charset="0"/>
                <a:ea typeface="Cambria Math" panose="02040503050406030204" pitchFamily="34" charset="-122"/>
                <a:cs typeface="Times New Roman" panose="02020603050405020304" charset="0"/>
              </a:rPr>
              <a:t>(</a:t>
            </a:r>
            <a:r>
              <a:rPr lang="en-US" sz="1800" b="1" dirty="0">
                <a:solidFill>
                  <a:srgbClr val="1E2933"/>
                </a:solidFill>
                <a:latin typeface="Times New Roman" panose="02020603050405020304" charset="0"/>
                <a:ea typeface="Cambria Math" panose="02040503050406030204" pitchFamily="34" charset="-122"/>
                <a:cs typeface="Times New Roman" panose="02020603050405020304" charset="0"/>
              </a:rPr>
              <a:t>R</a:t>
            </a:r>
            <a:r>
              <a:rPr lang="en-US" sz="1800" dirty="0">
                <a:solidFill>
                  <a:srgbClr val="1E2933"/>
                </a:solidFill>
                <a:latin typeface="Times New Roman" panose="02020603050405020304" charset="0"/>
                <a:ea typeface="Cambria Math" panose="02040503050406030204" pitchFamily="34" charset="-122"/>
                <a:cs typeface="Times New Roman" panose="02020603050405020304" charset="0"/>
              </a:rPr>
              <a:t>, Tₑ) → A, </a:t>
            </a:r>
            <a:r>
              <a:rPr lang="en-US" sz="1800" b="1" dirty="0">
                <a:solidFill>
                  <a:srgbClr val="1E2933"/>
                </a:solidFill>
                <a:latin typeface="Times New Roman" panose="02020603050405020304" charset="0"/>
                <a:ea typeface="Cambria Math" panose="02040503050406030204" pitchFamily="34" charset="-122"/>
                <a:cs typeface="Times New Roman" panose="02020603050405020304" charset="0"/>
              </a:rPr>
              <a:t>F</a:t>
            </a:r>
            <a:r>
              <a:rPr lang="en-US" sz="1800" dirty="0">
                <a:solidFill>
                  <a:srgbClr val="1E2933"/>
                </a:solidFill>
                <a:latin typeface="Times New Roman" panose="02020603050405020304" charset="0"/>
                <a:ea typeface="Cambria Math" panose="02040503050406030204" pitchFamily="34" charset="-122"/>
                <a:cs typeface="Times New Roman" panose="02020603050405020304" charset="0"/>
              </a:rPr>
              <a:t>, </a:t>
            </a:r>
            <a:r>
              <a:rPr lang="en-US" sz="1800" b="1" dirty="0">
                <a:solidFill>
                  <a:srgbClr val="1E2933"/>
                </a:solidFill>
                <a:latin typeface="Times New Roman" panose="02020603050405020304" charset="0"/>
                <a:ea typeface="Cambria Math" panose="02040503050406030204" pitchFamily="34" charset="-122"/>
                <a:cs typeface="Times New Roman" panose="02020603050405020304" charset="0"/>
              </a:rPr>
              <a:t>σ</a:t>
            </a:r>
            <a:endParaRPr lang="en-US" sz="1800" b="1" dirty="0">
              <a:solidFill>
                <a:srgbClr val="1E2933"/>
              </a:solidFill>
              <a:latin typeface="Times New Roman" panose="02020603050405020304" charset="0"/>
              <a:ea typeface="Cambria Math" panose="02040503050406030204" pitchFamily="34" charset="-122"/>
              <a:cs typeface="Times New Roman" panose="02020603050405020304" charset="0"/>
            </a:endParaRPr>
          </a:p>
        </p:txBody>
      </p:sp>
      <p:sp>
        <p:nvSpPr>
          <p:cNvPr id="14" name="Text 12"/>
          <p:cNvSpPr/>
          <p:nvPr/>
        </p:nvSpPr>
        <p:spPr>
          <a:xfrm>
            <a:off x="850265" y="3074670"/>
            <a:ext cx="1417320" cy="310896"/>
          </a:xfrm>
          <a:prstGeom prst="rect">
            <a:avLst/>
          </a:prstGeom>
          <a:noFill/>
        </p:spPr>
        <p:txBody>
          <a:bodyPr wrap="square" lIns="0" tIns="0" rIns="0" bIns="0" rtlCol="0" anchor="ctr">
            <a:normAutofit/>
          </a:bodyPr>
          <a:lstStyle/>
          <a:p>
            <a:pPr marL="0" indent="0" algn="ctr">
              <a:buNone/>
            </a:pPr>
            <a:r>
              <a:rPr lang="en-US" sz="1800" b="1" dirty="0">
                <a:solidFill>
                  <a:srgbClr val="1E2933"/>
                </a:solidFill>
                <a:latin typeface="Times New Roman" panose="02020603050405020304" charset="0"/>
                <a:ea typeface="Cambria Math" panose="02040503050406030204" pitchFamily="34" charset="-122"/>
                <a:cs typeface="Times New Roman" panose="02020603050405020304" charset="0"/>
              </a:rPr>
              <a:t>ε</a:t>
            </a:r>
            <a:r>
              <a:rPr lang="en-US" sz="1800" dirty="0">
                <a:solidFill>
                  <a:srgbClr val="1E2933"/>
                </a:solidFill>
                <a:latin typeface="Times New Roman" panose="02020603050405020304" charset="0"/>
                <a:ea typeface="Cambria Math" panose="02040503050406030204" pitchFamily="34" charset="-122"/>
                <a:cs typeface="Times New Roman" panose="02020603050405020304" charset="0"/>
              </a:rPr>
              <a:t>(ω, Tₑ)</a:t>
            </a:r>
            <a:endParaRPr lang="en-US" sz="1800" dirty="0">
              <a:latin typeface="Times New Roman" panose="02020603050405020304" charset="0"/>
              <a:cs typeface="Times New Roman" panose="02020603050405020304" charset="0"/>
            </a:endParaRPr>
          </a:p>
        </p:txBody>
      </p:sp>
      <p:sp>
        <p:nvSpPr>
          <p:cNvPr id="15" name="Text 13"/>
          <p:cNvSpPr/>
          <p:nvPr/>
        </p:nvSpPr>
        <p:spPr>
          <a:xfrm>
            <a:off x="570230" y="3411220"/>
            <a:ext cx="1997710" cy="625475"/>
          </a:xfrm>
          <a:prstGeom prst="rect">
            <a:avLst/>
          </a:prstGeom>
          <a:noFill/>
        </p:spPr>
        <p:txBody>
          <a:bodyPr wrap="square" lIns="0" tIns="0" rIns="0" bIns="0" rtlCol="0" anchor="ctr">
            <a:noAutofit/>
          </a:bodyPr>
          <a:lstStyle/>
          <a:p>
            <a:pPr marL="0" indent="0" algn="ctr">
              <a:buNone/>
            </a:pPr>
            <a:r>
              <a:rPr lang="en-US" sz="1400" dirty="0">
                <a:solidFill>
                  <a:srgbClr val="5E6B78"/>
                </a:solidFill>
                <a:latin typeface="+mj-ea"/>
                <a:ea typeface="+mj-ea"/>
                <a:cs typeface="Noto Sans CJK SC" pitchFamily="34" charset="-120"/>
              </a:rPr>
              <a:t>同一量子电子结构基础</a:t>
            </a:r>
            <a:endParaRPr lang="en-US" sz="1400" dirty="0">
              <a:latin typeface="+mj-ea"/>
              <a:ea typeface="+mj-ea"/>
            </a:endParaRPr>
          </a:p>
          <a:p>
            <a:pPr marL="0" indent="0" algn="ctr">
              <a:buNone/>
            </a:pPr>
            <a:r>
              <a:rPr lang="en-US" sz="1400" dirty="0">
                <a:solidFill>
                  <a:srgbClr val="5E6B78"/>
                </a:solidFill>
                <a:latin typeface="+mj-ea"/>
                <a:ea typeface="+mj-ea"/>
                <a:cs typeface="Noto Sans CJK SC" pitchFamily="34" charset="-120"/>
              </a:rPr>
              <a:t>产生两类不同信息</a:t>
            </a:r>
            <a:endParaRPr lang="en-US" sz="1400" dirty="0">
              <a:solidFill>
                <a:srgbClr val="5E6B78"/>
              </a:solidFill>
              <a:latin typeface="+mj-ea"/>
              <a:ea typeface="+mj-ea"/>
              <a:cs typeface="Noto Sans CJK SC" pitchFamily="34" charset="-120"/>
            </a:endParaRPr>
          </a:p>
        </p:txBody>
      </p:sp>
      <p:sp>
        <p:nvSpPr>
          <p:cNvPr id="16" name="Shape 14"/>
          <p:cNvSpPr/>
          <p:nvPr/>
        </p:nvSpPr>
        <p:spPr>
          <a:xfrm flipV="1">
            <a:off x="2848610" y="2224405"/>
            <a:ext cx="869315" cy="695960"/>
          </a:xfrm>
          <a:prstGeom prst="line">
            <a:avLst/>
          </a:prstGeom>
          <a:noFill/>
          <a:ln w="30480">
            <a:solidFill>
              <a:srgbClr val="6B5DD3"/>
            </a:solidFill>
            <a:prstDash val="solid"/>
            <a:headEnd type="none"/>
            <a:tailEnd type="triangle"/>
          </a:ln>
        </p:spPr>
      </p:sp>
      <p:sp>
        <p:nvSpPr>
          <p:cNvPr id="17" name="Shape 15"/>
          <p:cNvSpPr/>
          <p:nvPr/>
        </p:nvSpPr>
        <p:spPr>
          <a:xfrm>
            <a:off x="2839085" y="3305175"/>
            <a:ext cx="889000" cy="731520"/>
          </a:xfrm>
          <a:prstGeom prst="line">
            <a:avLst/>
          </a:prstGeom>
          <a:noFill/>
          <a:ln w="30480">
            <a:solidFill>
              <a:srgbClr val="E9863A"/>
            </a:solidFill>
            <a:prstDash val="solid"/>
            <a:headEnd type="none"/>
            <a:tailEnd type="triangle"/>
          </a:ln>
        </p:spPr>
      </p:sp>
      <p:sp>
        <p:nvSpPr>
          <p:cNvPr id="18" name="Shape 16"/>
          <p:cNvSpPr/>
          <p:nvPr/>
        </p:nvSpPr>
        <p:spPr>
          <a:xfrm rot="19200000">
            <a:off x="2833497" y="2306447"/>
            <a:ext cx="658368" cy="310896"/>
          </a:xfrm>
          <a:prstGeom prst="roundRect">
            <a:avLst>
              <a:gd name="adj" fmla="val 23529"/>
            </a:avLst>
          </a:prstGeom>
          <a:solidFill>
            <a:srgbClr val="6B5DD3"/>
          </a:solidFill>
          <a:ln w="12700">
            <a:solidFill>
              <a:srgbClr val="6B5DD3"/>
            </a:solidFill>
            <a:prstDash val="solid"/>
          </a:ln>
        </p:spPr>
      </p:sp>
      <p:sp>
        <p:nvSpPr>
          <p:cNvPr id="19" name="Text 17"/>
          <p:cNvSpPr/>
          <p:nvPr/>
        </p:nvSpPr>
        <p:spPr>
          <a:xfrm rot="19200000">
            <a:off x="2861945" y="2324735"/>
            <a:ext cx="590550" cy="273685"/>
          </a:xfrm>
          <a:prstGeom prst="rect">
            <a:avLst/>
          </a:prstGeom>
          <a:noFill/>
        </p:spPr>
        <p:txBody>
          <a:bodyPr wrap="square" lIns="0" tIns="0" rIns="0" bIns="0" rtlCol="0" anchor="ctr"/>
          <a:lstStyle/>
          <a:p>
            <a:pPr marL="0" indent="0" algn="ctr">
              <a:buNone/>
            </a:pPr>
            <a:r>
              <a:rPr lang="en-US" sz="1200" b="1" dirty="0">
                <a:solidFill>
                  <a:srgbClr val="FFFFFF"/>
                </a:solidFill>
                <a:latin typeface="+mj-ea"/>
                <a:ea typeface="+mj-ea"/>
                <a:cs typeface="+mj-ea"/>
              </a:rPr>
              <a:t>支路 A</a:t>
            </a:r>
            <a:endParaRPr lang="en-US" sz="1200" dirty="0">
              <a:latin typeface="+mj-ea"/>
              <a:ea typeface="+mj-ea"/>
              <a:cs typeface="+mj-ea"/>
            </a:endParaRPr>
          </a:p>
        </p:txBody>
      </p:sp>
      <p:sp>
        <p:nvSpPr>
          <p:cNvPr id="20" name="Shape 18"/>
          <p:cNvSpPr/>
          <p:nvPr/>
        </p:nvSpPr>
        <p:spPr>
          <a:xfrm rot="2400000">
            <a:off x="3086227" y="3398901"/>
            <a:ext cx="658368" cy="310896"/>
          </a:xfrm>
          <a:prstGeom prst="roundRect">
            <a:avLst>
              <a:gd name="adj" fmla="val 23529"/>
            </a:avLst>
          </a:prstGeom>
          <a:solidFill>
            <a:srgbClr val="E9863A"/>
          </a:solidFill>
          <a:ln w="12700">
            <a:solidFill>
              <a:srgbClr val="E9863A"/>
            </a:solidFill>
            <a:prstDash val="solid"/>
          </a:ln>
        </p:spPr>
      </p:sp>
      <p:sp>
        <p:nvSpPr>
          <p:cNvPr id="21" name="Text 19"/>
          <p:cNvSpPr/>
          <p:nvPr/>
        </p:nvSpPr>
        <p:spPr>
          <a:xfrm rot="2400000">
            <a:off x="3137535" y="3412490"/>
            <a:ext cx="508000" cy="267970"/>
          </a:xfrm>
          <a:prstGeom prst="rect">
            <a:avLst/>
          </a:prstGeom>
          <a:noFill/>
        </p:spPr>
        <p:txBody>
          <a:bodyPr wrap="square" lIns="0" tIns="0" rIns="0" bIns="0" rtlCol="0" anchor="ctr"/>
          <a:lstStyle/>
          <a:p>
            <a:pPr marL="0" indent="0" algn="ctr">
              <a:buNone/>
            </a:pPr>
            <a:r>
              <a:rPr lang="en-US" sz="1200" b="1" dirty="0">
                <a:solidFill>
                  <a:srgbClr val="FFFFFF"/>
                </a:solidFill>
                <a:latin typeface="+mj-ea"/>
                <a:ea typeface="+mj-ea"/>
                <a:cs typeface="+mj-ea"/>
              </a:rPr>
              <a:t>支路 B</a:t>
            </a:r>
            <a:endParaRPr lang="en-US" sz="1200" dirty="0">
              <a:latin typeface="+mj-ea"/>
              <a:ea typeface="+mj-ea"/>
              <a:cs typeface="+mj-ea"/>
            </a:endParaRPr>
          </a:p>
        </p:txBody>
      </p:sp>
      <p:sp>
        <p:nvSpPr>
          <p:cNvPr id="22" name="Shape 20"/>
          <p:cNvSpPr/>
          <p:nvPr/>
        </p:nvSpPr>
        <p:spPr>
          <a:xfrm>
            <a:off x="3955415" y="1382522"/>
            <a:ext cx="2926080" cy="1417320"/>
          </a:xfrm>
          <a:prstGeom prst="roundRect">
            <a:avLst>
              <a:gd name="adj" fmla="val 5161"/>
            </a:avLst>
          </a:prstGeom>
          <a:solidFill>
            <a:srgbClr val="F0EDFF"/>
          </a:solidFill>
          <a:ln w="17780">
            <a:solidFill>
              <a:srgbClr val="6B5DD3"/>
            </a:solidFill>
            <a:prstDash val="solid"/>
          </a:ln>
        </p:spPr>
      </p:sp>
      <p:sp>
        <p:nvSpPr>
          <p:cNvPr id="23" name="Text 21"/>
          <p:cNvSpPr/>
          <p:nvPr/>
        </p:nvSpPr>
        <p:spPr>
          <a:xfrm>
            <a:off x="4120642" y="1542288"/>
            <a:ext cx="2596896" cy="292608"/>
          </a:xfrm>
          <a:prstGeom prst="rect">
            <a:avLst/>
          </a:prstGeom>
          <a:noFill/>
        </p:spPr>
        <p:txBody>
          <a:bodyPr wrap="square" lIns="0" tIns="0" rIns="0" bIns="0" rtlCol="0" anchor="ctr"/>
          <a:lstStyle/>
          <a:p>
            <a:pPr marL="0" indent="0">
              <a:buNone/>
            </a:pPr>
            <a:r>
              <a:rPr lang="en-US" b="1" dirty="0">
                <a:solidFill>
                  <a:srgbClr val="6B5DD3"/>
                </a:solidFill>
                <a:latin typeface="+mj-ea"/>
                <a:ea typeface="+mj-ea"/>
                <a:cs typeface="+mj-ea"/>
              </a:rPr>
              <a:t>A｜机器学习势构建</a:t>
            </a:r>
            <a:endParaRPr lang="en-US" dirty="0">
              <a:latin typeface="+mj-ea"/>
              <a:ea typeface="+mj-ea"/>
              <a:cs typeface="+mj-ea"/>
            </a:endParaRPr>
          </a:p>
        </p:txBody>
      </p:sp>
      <p:sp>
        <p:nvSpPr>
          <p:cNvPr id="24" name="Text 22"/>
          <p:cNvSpPr/>
          <p:nvPr/>
        </p:nvSpPr>
        <p:spPr>
          <a:xfrm>
            <a:off x="4147820" y="1938020"/>
            <a:ext cx="2541905" cy="454660"/>
          </a:xfrm>
          <a:prstGeom prst="rect">
            <a:avLst/>
          </a:prstGeom>
          <a:noFill/>
        </p:spPr>
        <p:txBody>
          <a:bodyPr wrap="square" lIns="0" tIns="0" rIns="0" bIns="0" rtlCol="0" anchor="ctr">
            <a:noAutofit/>
          </a:bodyPr>
          <a:lstStyle/>
          <a:p>
            <a:pPr marL="0" indent="0" algn="ctr">
              <a:buNone/>
            </a:pPr>
            <a:r>
              <a:rPr lang="en-US" dirty="0">
                <a:solidFill>
                  <a:srgbClr val="1E2933"/>
                </a:solidFill>
                <a:latin typeface="Times New Roman" panose="02020603050405020304" charset="0"/>
                <a:ea typeface="Cambria Math" panose="02040503050406030204" pitchFamily="34" charset="-122"/>
                <a:cs typeface="Times New Roman" panose="02020603050405020304" charset="0"/>
              </a:rPr>
              <a:t>A, </a:t>
            </a:r>
            <a:r>
              <a:rPr lang="en-US" b="1" dirty="0">
                <a:solidFill>
                  <a:srgbClr val="1E2933"/>
                </a:solidFill>
                <a:latin typeface="Times New Roman" panose="02020603050405020304" charset="0"/>
                <a:ea typeface="Cambria Math" panose="02040503050406030204" pitchFamily="34" charset="-122"/>
                <a:cs typeface="Times New Roman" panose="02020603050405020304" charset="0"/>
              </a:rPr>
              <a:t>F</a:t>
            </a:r>
            <a:r>
              <a:rPr lang="en-US" dirty="0">
                <a:solidFill>
                  <a:srgbClr val="1E2933"/>
                </a:solidFill>
                <a:latin typeface="Times New Roman" panose="02020603050405020304" charset="0"/>
                <a:ea typeface="Cambria Math" panose="02040503050406030204" pitchFamily="34" charset="-122"/>
                <a:cs typeface="Times New Roman" panose="02020603050405020304" charset="0"/>
              </a:rPr>
              <a:t>, </a:t>
            </a:r>
            <a:r>
              <a:rPr lang="en-US" b="1" dirty="0">
                <a:solidFill>
                  <a:srgbClr val="1E2933"/>
                </a:solidFill>
                <a:latin typeface="Times New Roman" panose="02020603050405020304" charset="0"/>
                <a:ea typeface="Cambria Math" panose="02040503050406030204" pitchFamily="34" charset="-122"/>
                <a:cs typeface="Times New Roman" panose="02020603050405020304" charset="0"/>
              </a:rPr>
              <a:t>σ</a:t>
            </a:r>
            <a:r>
              <a:rPr lang="en-US" dirty="0">
                <a:solidFill>
                  <a:srgbClr val="1E2933"/>
                </a:solidFill>
                <a:latin typeface="Times New Roman" panose="02020603050405020304" charset="0"/>
                <a:ea typeface="Cambria Math" panose="02040503050406030204" pitchFamily="34" charset="-122"/>
                <a:cs typeface="Times New Roman" panose="02020603050405020304" charset="0"/>
              </a:rPr>
              <a:t> → Tₑ-dependent ML potential</a:t>
            </a:r>
            <a:endParaRPr lang="en-US" dirty="0">
              <a:solidFill>
                <a:srgbClr val="1E2933"/>
              </a:solidFill>
              <a:latin typeface="Times New Roman" panose="02020603050405020304" charset="0"/>
              <a:ea typeface="Cambria Math" panose="02040503050406030204" pitchFamily="34" charset="-122"/>
              <a:cs typeface="Times New Roman" panose="02020603050405020304" charset="0"/>
            </a:endParaRPr>
          </a:p>
        </p:txBody>
      </p:sp>
      <p:sp>
        <p:nvSpPr>
          <p:cNvPr id="25" name="Text 23"/>
          <p:cNvSpPr/>
          <p:nvPr/>
        </p:nvSpPr>
        <p:spPr>
          <a:xfrm>
            <a:off x="4148074" y="2505710"/>
            <a:ext cx="2468880" cy="201168"/>
          </a:xfrm>
          <a:prstGeom prst="rect">
            <a:avLst/>
          </a:prstGeom>
          <a:noFill/>
        </p:spPr>
        <p:txBody>
          <a:bodyPr wrap="square" lIns="0" tIns="0" rIns="0" bIns="0" rtlCol="0" anchor="ctr">
            <a:noAutofit/>
          </a:bodyPr>
          <a:lstStyle/>
          <a:p>
            <a:pPr marL="0" indent="0" algn="ctr">
              <a:buNone/>
            </a:pPr>
            <a:r>
              <a:rPr lang="en-US" sz="1400" dirty="0">
                <a:solidFill>
                  <a:srgbClr val="5E6B78"/>
                </a:solidFill>
                <a:latin typeface="+mj-ea"/>
                <a:ea typeface="+mj-ea"/>
                <a:cs typeface="+mj-ea"/>
              </a:rPr>
              <a:t>Tₑ 如何改变原子间作用？</a:t>
            </a:r>
            <a:endParaRPr lang="en-US" sz="1400" dirty="0">
              <a:solidFill>
                <a:srgbClr val="5E6B78"/>
              </a:solidFill>
              <a:latin typeface="+mj-ea"/>
              <a:ea typeface="+mj-ea"/>
              <a:cs typeface="+mj-ea"/>
            </a:endParaRPr>
          </a:p>
        </p:txBody>
      </p:sp>
      <p:sp>
        <p:nvSpPr>
          <p:cNvPr id="26" name="Shape 24"/>
          <p:cNvSpPr/>
          <p:nvPr/>
        </p:nvSpPr>
        <p:spPr>
          <a:xfrm>
            <a:off x="3958590" y="3410839"/>
            <a:ext cx="2926080" cy="1417320"/>
          </a:xfrm>
          <a:prstGeom prst="roundRect">
            <a:avLst>
              <a:gd name="adj" fmla="val 5161"/>
            </a:avLst>
          </a:prstGeom>
          <a:solidFill>
            <a:srgbClr val="FFF0E5"/>
          </a:solidFill>
          <a:ln w="17780">
            <a:solidFill>
              <a:srgbClr val="E9863A"/>
            </a:solidFill>
            <a:prstDash val="solid"/>
          </a:ln>
        </p:spPr>
      </p:sp>
      <p:sp>
        <p:nvSpPr>
          <p:cNvPr id="27" name="Text 25"/>
          <p:cNvSpPr/>
          <p:nvPr/>
        </p:nvSpPr>
        <p:spPr>
          <a:xfrm>
            <a:off x="4123182" y="3538855"/>
            <a:ext cx="2596896" cy="292608"/>
          </a:xfrm>
          <a:prstGeom prst="rect">
            <a:avLst/>
          </a:prstGeom>
          <a:noFill/>
        </p:spPr>
        <p:txBody>
          <a:bodyPr wrap="square" lIns="0" tIns="0" rIns="0" bIns="0" rtlCol="0" anchor="ctr"/>
          <a:lstStyle/>
          <a:p>
            <a:pPr marL="0" indent="0">
              <a:buNone/>
            </a:pPr>
            <a:r>
              <a:rPr lang="en-US" b="1" dirty="0">
                <a:solidFill>
                  <a:srgbClr val="E9863A"/>
                </a:solidFill>
                <a:latin typeface="+mj-ea"/>
                <a:ea typeface="+mj-ea"/>
                <a:cs typeface="+mj-ea"/>
              </a:rPr>
              <a:t>B｜光学吸收</a:t>
            </a:r>
            <a:endParaRPr lang="en-US" dirty="0">
              <a:latin typeface="+mj-ea"/>
              <a:ea typeface="+mj-ea"/>
              <a:cs typeface="+mj-ea"/>
            </a:endParaRPr>
          </a:p>
        </p:txBody>
      </p:sp>
      <p:sp>
        <p:nvSpPr>
          <p:cNvPr id="28" name="Text 26"/>
          <p:cNvSpPr/>
          <p:nvPr/>
        </p:nvSpPr>
        <p:spPr>
          <a:xfrm>
            <a:off x="4160774" y="3931920"/>
            <a:ext cx="2542032" cy="347472"/>
          </a:xfrm>
          <a:prstGeom prst="rect">
            <a:avLst/>
          </a:prstGeom>
          <a:noFill/>
        </p:spPr>
        <p:txBody>
          <a:bodyPr wrap="square" lIns="0" tIns="0" rIns="0" bIns="0" rtlCol="0" anchor="ctr">
            <a:normAutofit/>
          </a:bodyPr>
          <a:lstStyle/>
          <a:p>
            <a:pPr marL="0" indent="0" algn="ctr">
              <a:buNone/>
            </a:pPr>
            <a:r>
              <a:rPr lang="en-US" dirty="0">
                <a:solidFill>
                  <a:srgbClr val="1E2933"/>
                </a:solidFill>
                <a:latin typeface="Times New Roman" panose="02020603050405020304" charset="0"/>
                <a:ea typeface="Cambria Math" panose="02040503050406030204" pitchFamily="34" charset="-122"/>
                <a:cs typeface="Times New Roman" panose="02020603050405020304" charset="0"/>
              </a:rPr>
              <a:t>ε(ω,Tₑ) → κ → α(ω,Tₑ)</a:t>
            </a:r>
            <a:endParaRPr lang="en-US" dirty="0">
              <a:latin typeface="Times New Roman" panose="02020603050405020304" charset="0"/>
              <a:cs typeface="Times New Roman" panose="02020603050405020304" charset="0"/>
            </a:endParaRPr>
          </a:p>
        </p:txBody>
      </p:sp>
      <p:sp>
        <p:nvSpPr>
          <p:cNvPr id="29" name="Text 27"/>
          <p:cNvSpPr/>
          <p:nvPr/>
        </p:nvSpPr>
        <p:spPr>
          <a:xfrm>
            <a:off x="4150614" y="4434967"/>
            <a:ext cx="2468880" cy="201168"/>
          </a:xfrm>
          <a:prstGeom prst="rect">
            <a:avLst/>
          </a:prstGeom>
          <a:noFill/>
        </p:spPr>
        <p:txBody>
          <a:bodyPr wrap="square" lIns="0" tIns="0" rIns="0" bIns="0" rtlCol="0" anchor="ctr">
            <a:noAutofit/>
          </a:bodyPr>
          <a:lstStyle/>
          <a:p>
            <a:pPr marL="0" indent="0" algn="ctr">
              <a:buNone/>
            </a:pPr>
            <a:r>
              <a:rPr lang="en-US" sz="1400" dirty="0">
                <a:solidFill>
                  <a:srgbClr val="5E6B78"/>
                </a:solidFill>
                <a:latin typeface="+mj-ea"/>
                <a:ea typeface="+mj-ea"/>
                <a:cs typeface="+mj-ea"/>
              </a:rPr>
              <a:t>Tₑ 如何改变激光吸收？</a:t>
            </a:r>
            <a:endParaRPr lang="en-US" sz="1400" dirty="0">
              <a:solidFill>
                <a:srgbClr val="5E6B78"/>
              </a:solidFill>
              <a:latin typeface="+mj-ea"/>
              <a:ea typeface="+mj-ea"/>
              <a:cs typeface="+mj-ea"/>
            </a:endParaRPr>
          </a:p>
        </p:txBody>
      </p:sp>
      <p:sp>
        <p:nvSpPr>
          <p:cNvPr id="30" name="Shape 28"/>
          <p:cNvSpPr/>
          <p:nvPr/>
        </p:nvSpPr>
        <p:spPr>
          <a:xfrm>
            <a:off x="7011670" y="2006600"/>
            <a:ext cx="777240" cy="699770"/>
          </a:xfrm>
          <a:prstGeom prst="line">
            <a:avLst/>
          </a:prstGeom>
          <a:noFill/>
          <a:ln w="26670">
            <a:solidFill>
              <a:srgbClr val="6B5DD3"/>
            </a:solidFill>
            <a:prstDash val="solid"/>
            <a:headEnd type="none"/>
            <a:tailEnd type="triangle"/>
          </a:ln>
        </p:spPr>
      </p:sp>
      <p:sp>
        <p:nvSpPr>
          <p:cNvPr id="31" name="Shape 29"/>
          <p:cNvSpPr/>
          <p:nvPr/>
        </p:nvSpPr>
        <p:spPr>
          <a:xfrm flipV="1">
            <a:off x="7049770" y="3538855"/>
            <a:ext cx="739140" cy="659765"/>
          </a:xfrm>
          <a:prstGeom prst="line">
            <a:avLst/>
          </a:prstGeom>
          <a:noFill/>
          <a:ln w="26670">
            <a:solidFill>
              <a:srgbClr val="E9863A"/>
            </a:solidFill>
            <a:prstDash val="solid"/>
            <a:headEnd type="none"/>
            <a:tailEnd type="triangle"/>
          </a:ln>
        </p:spPr>
      </p:sp>
      <p:sp>
        <p:nvSpPr>
          <p:cNvPr id="32" name="Shape 30"/>
          <p:cNvSpPr/>
          <p:nvPr/>
        </p:nvSpPr>
        <p:spPr>
          <a:xfrm>
            <a:off x="7954645" y="1892935"/>
            <a:ext cx="3795395" cy="2205990"/>
          </a:xfrm>
          <a:prstGeom prst="roundRect">
            <a:avLst>
              <a:gd name="adj" fmla="val 3404"/>
            </a:avLst>
          </a:prstGeom>
          <a:solidFill>
            <a:srgbClr val="FFFFFF"/>
          </a:solidFill>
          <a:ln w="22860">
            <a:solidFill>
              <a:srgbClr val="159D96"/>
            </a:solidFill>
            <a:prstDash val="solid"/>
          </a:ln>
        </p:spPr>
      </p:sp>
      <p:sp>
        <p:nvSpPr>
          <p:cNvPr id="33" name="Text 31"/>
          <p:cNvSpPr/>
          <p:nvPr/>
        </p:nvSpPr>
        <p:spPr>
          <a:xfrm>
            <a:off x="8158480" y="2096770"/>
            <a:ext cx="3467735" cy="339090"/>
          </a:xfrm>
          <a:prstGeom prst="rect">
            <a:avLst/>
          </a:prstGeom>
          <a:noFill/>
        </p:spPr>
        <p:txBody>
          <a:bodyPr wrap="square" lIns="0" tIns="0" rIns="0" bIns="0" rtlCol="0" anchor="ctr"/>
          <a:lstStyle/>
          <a:p>
            <a:pPr marL="0" indent="0">
              <a:buNone/>
            </a:pPr>
            <a:r>
              <a:rPr lang="en-US" sz="1800" b="1" dirty="0">
                <a:solidFill>
                  <a:srgbClr val="159D96"/>
                </a:solidFill>
                <a:latin typeface="+mj-ea"/>
                <a:ea typeface="+mj-ea"/>
                <a:cs typeface="Noto Sans CJK SC" pitchFamily="34" charset="-120"/>
              </a:rPr>
              <a:t>激光模拟阶段汇合</a:t>
            </a:r>
            <a:endParaRPr lang="en-US" sz="1800" dirty="0">
              <a:latin typeface="+mj-ea"/>
              <a:ea typeface="+mj-ea"/>
            </a:endParaRPr>
          </a:p>
        </p:txBody>
      </p:sp>
      <p:sp>
        <p:nvSpPr>
          <p:cNvPr id="34" name="Text 32"/>
          <p:cNvSpPr/>
          <p:nvPr/>
        </p:nvSpPr>
        <p:spPr>
          <a:xfrm>
            <a:off x="8098282" y="2582672"/>
            <a:ext cx="3474720" cy="310896"/>
          </a:xfrm>
          <a:prstGeom prst="rect">
            <a:avLst/>
          </a:prstGeom>
          <a:noFill/>
        </p:spPr>
        <p:txBody>
          <a:bodyPr wrap="square" lIns="0" tIns="0" rIns="0" bIns="0" rtlCol="0" anchor="ctr">
            <a:normAutofit/>
          </a:bodyPr>
          <a:lstStyle/>
          <a:p>
            <a:pPr marL="0" indent="0" algn="ctr">
              <a:buNone/>
            </a:pPr>
            <a:r>
              <a:rPr lang="en-US" dirty="0">
                <a:solidFill>
                  <a:srgbClr val="E9863A"/>
                </a:solidFill>
                <a:latin typeface="Times New Roman" panose="02020603050405020304" charset="0"/>
                <a:ea typeface="Cambria Math" panose="02040503050406030204" pitchFamily="34" charset="-122"/>
                <a:cs typeface="Times New Roman" panose="02020603050405020304" charset="0"/>
              </a:rPr>
              <a:t>α(Tₑ) → S(r,t) → Tₑ(r,t)</a:t>
            </a:r>
            <a:endParaRPr lang="en-US" dirty="0">
              <a:latin typeface="Times New Roman" panose="02020603050405020304" charset="0"/>
              <a:cs typeface="Times New Roman" panose="02020603050405020304" charset="0"/>
            </a:endParaRPr>
          </a:p>
        </p:txBody>
      </p:sp>
      <p:sp>
        <p:nvSpPr>
          <p:cNvPr id="35" name="Text 33"/>
          <p:cNvSpPr/>
          <p:nvPr/>
        </p:nvSpPr>
        <p:spPr>
          <a:xfrm>
            <a:off x="8098282" y="3040507"/>
            <a:ext cx="3474720" cy="310896"/>
          </a:xfrm>
          <a:prstGeom prst="rect">
            <a:avLst/>
          </a:prstGeom>
          <a:noFill/>
        </p:spPr>
        <p:txBody>
          <a:bodyPr wrap="square" lIns="0" tIns="0" rIns="0" bIns="0" rtlCol="0" anchor="ctr">
            <a:normAutofit/>
          </a:bodyPr>
          <a:lstStyle/>
          <a:p>
            <a:pPr marL="0" indent="0" algn="ctr">
              <a:buNone/>
            </a:pPr>
            <a:r>
              <a:rPr lang="en-US" dirty="0">
                <a:solidFill>
                  <a:srgbClr val="6B5DD3"/>
                </a:solidFill>
                <a:latin typeface="Times New Roman" panose="02020603050405020304" charset="0"/>
                <a:ea typeface="Cambria Math" panose="02040503050406030204" pitchFamily="34" charset="-122"/>
                <a:cs typeface="Times New Roman" panose="02020603050405020304" charset="0"/>
              </a:rPr>
              <a:t>[</a:t>
            </a:r>
            <a:r>
              <a:rPr lang="en-US" b="1" dirty="0">
                <a:solidFill>
                  <a:srgbClr val="6B5DD3"/>
                </a:solidFill>
                <a:latin typeface="Times New Roman" panose="02020603050405020304" charset="0"/>
                <a:ea typeface="Cambria Math" panose="02040503050406030204" pitchFamily="34" charset="-122"/>
                <a:cs typeface="Times New Roman" panose="02020603050405020304" charset="0"/>
              </a:rPr>
              <a:t>R</a:t>
            </a:r>
            <a:r>
              <a:rPr lang="en-US" dirty="0">
                <a:solidFill>
                  <a:srgbClr val="6B5DD3"/>
                </a:solidFill>
                <a:latin typeface="Times New Roman" panose="02020603050405020304" charset="0"/>
                <a:ea typeface="Cambria Math" panose="02040503050406030204" pitchFamily="34" charset="-122"/>
                <a:cs typeface="Times New Roman" panose="02020603050405020304" charset="0"/>
              </a:rPr>
              <a:t>(t), Tₑ(t)] → ML potential → </a:t>
            </a:r>
            <a:r>
              <a:rPr lang="en-US" b="1" dirty="0">
                <a:solidFill>
                  <a:srgbClr val="6B5DD3"/>
                </a:solidFill>
                <a:latin typeface="Times New Roman" panose="02020603050405020304" charset="0"/>
                <a:ea typeface="Cambria Math" panose="02040503050406030204" pitchFamily="34" charset="-122"/>
                <a:cs typeface="Times New Roman" panose="02020603050405020304" charset="0"/>
              </a:rPr>
              <a:t>F</a:t>
            </a:r>
            <a:endParaRPr lang="en-US" b="1" dirty="0">
              <a:latin typeface="Times New Roman" panose="02020603050405020304" charset="0"/>
              <a:cs typeface="Times New Roman" panose="02020603050405020304" charset="0"/>
            </a:endParaRPr>
          </a:p>
        </p:txBody>
      </p:sp>
      <p:sp>
        <p:nvSpPr>
          <p:cNvPr id="36" name="Text 34"/>
          <p:cNvSpPr/>
          <p:nvPr/>
        </p:nvSpPr>
        <p:spPr>
          <a:xfrm>
            <a:off x="8117967" y="3498342"/>
            <a:ext cx="3474720" cy="310896"/>
          </a:xfrm>
          <a:prstGeom prst="rect">
            <a:avLst/>
          </a:prstGeom>
          <a:noFill/>
        </p:spPr>
        <p:txBody>
          <a:bodyPr wrap="square" lIns="0" tIns="0" rIns="0" bIns="0" rtlCol="0" anchor="ctr">
            <a:normAutofit/>
          </a:bodyPr>
          <a:lstStyle/>
          <a:p>
            <a:pPr marL="0" indent="0" algn="ctr">
              <a:buNone/>
            </a:pPr>
            <a:r>
              <a:rPr lang="en-US" b="1" dirty="0">
                <a:solidFill>
                  <a:srgbClr val="1E2933"/>
                </a:solidFill>
                <a:latin typeface="Times New Roman" panose="02020603050405020304" charset="0"/>
                <a:ea typeface="Cambria Math" panose="02040503050406030204" pitchFamily="34" charset="-122"/>
                <a:cs typeface="Times New Roman" panose="02020603050405020304" charset="0"/>
              </a:rPr>
              <a:t>F</a:t>
            </a:r>
            <a:r>
              <a:rPr lang="en-US" dirty="0">
                <a:solidFill>
                  <a:srgbClr val="1E2933"/>
                </a:solidFill>
                <a:latin typeface="Times New Roman" panose="02020603050405020304" charset="0"/>
                <a:ea typeface="Cambria Math" panose="02040503050406030204" pitchFamily="34" charset="-122"/>
                <a:cs typeface="Times New Roman" panose="02020603050405020304" charset="0"/>
              </a:rPr>
              <a:t>  →  </a:t>
            </a:r>
            <a:r>
              <a:rPr lang="en-US" dirty="0">
                <a:solidFill>
                  <a:srgbClr val="1E2933"/>
                </a:solidFill>
                <a:latin typeface="+mj-ea"/>
                <a:ea typeface="+mj-ea"/>
                <a:cs typeface="Times New Roman" panose="02020603050405020304" charset="0"/>
              </a:rPr>
              <a:t>缺陷演化</a:t>
            </a:r>
            <a:r>
              <a:rPr lang="en-US" dirty="0">
                <a:solidFill>
                  <a:srgbClr val="1E2933"/>
                </a:solidFill>
                <a:latin typeface="Times New Roman" panose="02020603050405020304" charset="0"/>
                <a:ea typeface="Cambria Math" panose="02040503050406030204" pitchFamily="34" charset="-122"/>
                <a:cs typeface="Times New Roman" panose="02020603050405020304" charset="0"/>
                <a:sym typeface="+mn-ea"/>
              </a:rPr>
              <a:t>→</a:t>
            </a:r>
            <a:r>
              <a:rPr lang="zh-CN" altLang="en-US" dirty="0">
                <a:solidFill>
                  <a:srgbClr val="1E2933"/>
                </a:solidFill>
                <a:latin typeface="+mj-ea"/>
                <a:ea typeface="+mj-ea"/>
                <a:cs typeface="Times New Roman" panose="02020603050405020304" charset="0"/>
              </a:rPr>
              <a:t>性能响应</a:t>
            </a:r>
            <a:endParaRPr lang="zh-CN" altLang="en-US" dirty="0">
              <a:solidFill>
                <a:srgbClr val="1E2933"/>
              </a:solidFill>
              <a:latin typeface="+mj-ea"/>
              <a:ea typeface="+mj-ea"/>
              <a:cs typeface="Times New Roman" panose="02020603050405020304" charset="0"/>
            </a:endParaRPr>
          </a:p>
        </p:txBody>
      </p:sp>
      <p:sp>
        <p:nvSpPr>
          <p:cNvPr id="37" name="Shape 35"/>
          <p:cNvSpPr/>
          <p:nvPr/>
        </p:nvSpPr>
        <p:spPr>
          <a:xfrm>
            <a:off x="569595" y="5304155"/>
            <a:ext cx="11049635" cy="626110"/>
          </a:xfrm>
          <a:prstGeom prst="roundRect">
            <a:avLst>
              <a:gd name="adj" fmla="val 8333"/>
            </a:avLst>
          </a:prstGeom>
          <a:solidFill>
            <a:srgbClr val="F1F5F9"/>
          </a:solidFill>
          <a:ln w="12700">
            <a:solidFill>
              <a:srgbClr val="D7E0EA"/>
            </a:solidFill>
            <a:prstDash val="solid"/>
          </a:ln>
        </p:spPr>
      </p:sp>
      <p:sp>
        <p:nvSpPr>
          <p:cNvPr id="38" name="Text 36"/>
          <p:cNvSpPr/>
          <p:nvPr/>
        </p:nvSpPr>
        <p:spPr>
          <a:xfrm>
            <a:off x="1143000" y="5304155"/>
            <a:ext cx="9784080" cy="627380"/>
          </a:xfrm>
          <a:prstGeom prst="rect">
            <a:avLst/>
          </a:prstGeom>
          <a:noFill/>
        </p:spPr>
        <p:txBody>
          <a:bodyPr wrap="square" lIns="0" tIns="0" rIns="0" bIns="0" rtlCol="0" anchor="ctr"/>
          <a:lstStyle/>
          <a:p>
            <a:pPr marL="0" indent="0" algn="ctr">
              <a:buNone/>
            </a:pPr>
            <a:r>
              <a:rPr lang="en-US" b="1" dirty="0">
                <a:solidFill>
                  <a:srgbClr val="1E2933"/>
                </a:solidFill>
                <a:latin typeface="+mj-ea"/>
                <a:ea typeface="+mj-ea"/>
                <a:cs typeface="+mj-ea"/>
              </a:rPr>
              <a:t>关键区分：α/ε 不参与机器学习势训练；势函数训练只使用 A、F、σ。两条支路在 TTM/激光能量沉积 + ML-MD 中耦合。</a:t>
            </a:r>
            <a:endParaRPr lang="en-US" dirty="0">
              <a:latin typeface="+mj-ea"/>
              <a:ea typeface="+mj-ea"/>
              <a:cs typeface="+mj-ea"/>
            </a:endParaRPr>
          </a:p>
        </p:txBody>
      </p:sp>
      <p:sp>
        <p:nvSpPr>
          <p:cNvPr id="2" name="Text 0"/>
          <p:cNvSpPr/>
          <p:nvPr/>
        </p:nvSpPr>
        <p:spPr>
          <a:xfrm>
            <a:off x="351845" y="163455"/>
            <a:ext cx="7016364" cy="531678"/>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zh-CN" altLang="en-US" sz="2500" b="1" dirty="0">
                <a:solidFill>
                  <a:srgbClr val="102A43"/>
                </a:solidFill>
                <a:latin typeface="微软雅黑" panose="020B0503020204020204" charset="-122"/>
                <a:ea typeface="微软雅黑" panose="020B0503020204020204" charset="-122"/>
                <a:cs typeface="Noto Sans CJK SC" pitchFamily="34" charset="-120"/>
              </a:rPr>
              <a:t>研究框架</a:t>
            </a:r>
            <a:r>
              <a:rPr lang="en-US" sz="2500" b="1" dirty="0">
                <a:solidFill>
                  <a:srgbClr val="102A43"/>
                </a:solidFill>
                <a:latin typeface="微软雅黑" panose="020B0503020204020204" charset="-122"/>
                <a:ea typeface="微软雅黑" panose="020B0503020204020204" charset="-122"/>
                <a:cs typeface="Noto Sans CJK SC" pitchFamily="34" charset="-120"/>
              </a:rPr>
              <a:t>：</a:t>
            </a:r>
            <a:r>
              <a:rPr lang="zh-CN" altLang="en-US" sz="2500" b="1" dirty="0">
                <a:solidFill>
                  <a:srgbClr val="102A43"/>
                </a:solidFill>
                <a:latin typeface="微软雅黑" panose="020B0503020204020204" charset="-122"/>
                <a:ea typeface="微软雅黑" panose="020B0503020204020204" charset="-122"/>
                <a:cs typeface="Noto Sans CJK SC" pitchFamily="34" charset="-120"/>
              </a:rPr>
              <a:t>两条量子信息输出在缺陷层汇合</a:t>
            </a:r>
            <a:endParaRPr lang="en-US" sz="2500" b="1" dirty="0">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291547" y="159476"/>
            <a:ext cx="9090991" cy="477054"/>
          </a:xfrm>
          <a:prstGeom prst="rect">
            <a:avLst/>
          </a:prstGeom>
          <a:noFill/>
        </p:spPr>
        <p:txBody>
          <a:bodyPr wrap="square">
            <a:spAutoFit/>
          </a:bodyPr>
          <a:lstStyle/>
          <a:p>
            <a:pPr marL="0" indent="0">
              <a:buNone/>
            </a:pPr>
            <a:r>
              <a:rPr lang="zh-CN" altLang="en-US" sz="2500" b="1" dirty="0">
                <a:solidFill>
                  <a:srgbClr val="102A43"/>
                </a:solidFill>
                <a:latin typeface="微软雅黑" panose="020B0503020204020204" charset="-122"/>
                <a:ea typeface="微软雅黑" panose="020B0503020204020204" charset="-122"/>
              </a:rPr>
              <a:t>研究内容</a:t>
            </a:r>
            <a:r>
              <a:rPr lang="en-US" altLang="zh-CN" sz="2500" b="1" dirty="0">
                <a:solidFill>
                  <a:srgbClr val="102A43"/>
                </a:solidFill>
                <a:latin typeface="微软雅黑" panose="020B0503020204020204" charset="-122"/>
                <a:ea typeface="微软雅黑" panose="020B0503020204020204" charset="-122"/>
              </a:rPr>
              <a:t> 1｜有限电子温度 DFT：</a:t>
            </a:r>
            <a:r>
              <a:rPr lang="zh-CN" altLang="en-US" sz="2500" b="1" dirty="0">
                <a:solidFill>
                  <a:srgbClr val="102A43"/>
                </a:solidFill>
                <a:latin typeface="微软雅黑" panose="020B0503020204020204" charset="-122"/>
                <a:ea typeface="微软雅黑" panose="020B0503020204020204" charset="-122"/>
              </a:rPr>
              <a:t>建立电子激发自由能面</a:t>
            </a:r>
            <a:endParaRPr lang="en-US" altLang="zh-CN" sz="2500" b="1" dirty="0">
              <a:solidFill>
                <a:srgbClr val="102A43"/>
              </a:solidFill>
              <a:latin typeface="微软雅黑" panose="020B0503020204020204" charset="-122"/>
              <a:ea typeface="微软雅黑" panose="020B0503020204020204" charset="-122"/>
            </a:endParaRPr>
          </a:p>
        </p:txBody>
      </p:sp>
      <p:sp>
        <p:nvSpPr>
          <p:cNvPr id="4" name="Text 1"/>
          <p:cNvSpPr/>
          <p:nvPr/>
        </p:nvSpPr>
        <p:spPr>
          <a:xfrm>
            <a:off x="520700" y="883920"/>
            <a:ext cx="6971665" cy="49657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60758A"/>
                </a:solidFill>
                <a:latin typeface="+mj-ea"/>
                <a:ea typeface="+mj-ea"/>
                <a:cs typeface="+mj-ea"/>
              </a:rPr>
              <a:t>Te 通过电子占据与自洽电子密度进入 Kohn–Sham 电子结构计算</a:t>
            </a:r>
            <a:endParaRPr lang="en-US" b="1" dirty="0">
              <a:latin typeface="+mj-ea"/>
              <a:ea typeface="+mj-ea"/>
              <a:cs typeface="+mj-ea"/>
            </a:endParaRPr>
          </a:p>
        </p:txBody>
      </p:sp>
      <p:sp>
        <p:nvSpPr>
          <p:cNvPr id="5" name="Shape 4"/>
          <p:cNvSpPr/>
          <p:nvPr/>
        </p:nvSpPr>
        <p:spPr>
          <a:xfrm>
            <a:off x="587357" y="1528959"/>
            <a:ext cx="3786029" cy="4560802"/>
          </a:xfrm>
          <a:prstGeom prst="roundRect">
            <a:avLst>
              <a:gd name="adj" fmla="val 2000"/>
            </a:avLst>
          </a:prstGeom>
          <a:solidFill>
            <a:srgbClr val="FFFFFF"/>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dirty="0"/>
          </a:p>
        </p:txBody>
      </p:sp>
      <p:sp>
        <p:nvSpPr>
          <p:cNvPr id="6" name="Text 5"/>
          <p:cNvSpPr/>
          <p:nvPr/>
        </p:nvSpPr>
        <p:spPr>
          <a:xfrm>
            <a:off x="722538" y="1638687"/>
            <a:ext cx="3503520" cy="2948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6E5AA6"/>
                </a:solidFill>
                <a:latin typeface="+mj-ea"/>
                <a:ea typeface="+mj-ea"/>
                <a:cs typeface="Noto Sans CJK SC" pitchFamily="34" charset="-120"/>
              </a:rPr>
              <a:t>① </a:t>
            </a:r>
            <a:r>
              <a:rPr lang="en-US" b="1" dirty="0">
                <a:solidFill>
                  <a:srgbClr val="6E5AA6"/>
                </a:solidFill>
                <a:latin typeface="Times New Roman" panose="02020603050405020304" charset="0"/>
                <a:ea typeface="+mj-ea"/>
                <a:cs typeface="Times New Roman" panose="02020603050405020304" charset="0"/>
              </a:rPr>
              <a:t>Kohn–Sham</a:t>
            </a:r>
            <a:r>
              <a:rPr lang="en-US" b="1" dirty="0">
                <a:solidFill>
                  <a:srgbClr val="6E5AA6"/>
                </a:solidFill>
                <a:latin typeface="+mj-ea"/>
                <a:ea typeface="+mj-ea"/>
                <a:cs typeface="Noto Sans CJK SC" pitchFamily="34" charset="-120"/>
              </a:rPr>
              <a:t> 电子结构</a:t>
            </a:r>
            <a:endParaRPr lang="en-US" dirty="0">
              <a:latin typeface="+mj-ea"/>
              <a:ea typeface="+mj-ea"/>
            </a:endParaRPr>
          </a:p>
        </p:txBody>
      </p:sp>
      <p:sp>
        <p:nvSpPr>
          <p:cNvPr id="11" name="Text 6"/>
          <p:cNvSpPr/>
          <p:nvPr/>
        </p:nvSpPr>
        <p:spPr>
          <a:xfrm>
            <a:off x="852534" y="5367619"/>
            <a:ext cx="3157018" cy="608107"/>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zh-CN" altLang="en-US" sz="1400" b="1" dirty="0">
                <a:solidFill>
                  <a:srgbClr val="18324A"/>
                </a:solidFill>
                <a:latin typeface="+mj-ea"/>
                <a:ea typeface="+mj-ea"/>
                <a:cs typeface="Noto Sans CJK SC" pitchFamily="34" charset="-120"/>
              </a:rPr>
              <a:t>赝势通常保持不变</a:t>
            </a:r>
            <a:r>
              <a:rPr lang="en-US" sz="1400" b="1" dirty="0">
                <a:solidFill>
                  <a:srgbClr val="18324A"/>
                </a:solidFill>
                <a:latin typeface="+mj-ea"/>
                <a:ea typeface="+mj-ea"/>
                <a:cs typeface="Noto Sans CJK SC" pitchFamily="34" charset="-120"/>
              </a:rPr>
              <a:t>；</a:t>
            </a:r>
            <a:r>
              <a:rPr lang="en-US" altLang="zh-CN" sz="1400" b="1" dirty="0" err="1">
                <a:solidFill>
                  <a:srgbClr val="18324A"/>
                </a:solidFill>
                <a:latin typeface="+mj-ea"/>
                <a:ea typeface="+mj-ea"/>
                <a:cs typeface="Noto Sans CJK SC" pitchFamily="34" charset="-120"/>
              </a:rPr>
              <a:t>Te</a:t>
            </a:r>
            <a:r>
              <a:rPr lang="zh-CN" altLang="en-US" sz="1400" b="1" dirty="0">
                <a:solidFill>
                  <a:srgbClr val="18324A"/>
                </a:solidFill>
                <a:latin typeface="+mj-ea"/>
                <a:ea typeface="+mj-ea"/>
                <a:cs typeface="Noto Sans CJK SC" pitchFamily="34" charset="-120"/>
              </a:rPr>
              <a:t>主要通过</a:t>
            </a:r>
            <a:r>
              <a:rPr lang="en-US" sz="1400" b="1" dirty="0" err="1">
                <a:solidFill>
                  <a:srgbClr val="18324A"/>
                </a:solidFill>
                <a:latin typeface="+mj-ea"/>
                <a:ea typeface="+mj-ea"/>
                <a:cs typeface="Noto Sans CJK SC" pitchFamily="34" charset="-120"/>
              </a:rPr>
              <a:t>价电子占据改变自洽电子密度与成键状态</a:t>
            </a:r>
            <a:r>
              <a:rPr lang="en-US" sz="1400" b="1" dirty="0">
                <a:solidFill>
                  <a:srgbClr val="18324A"/>
                </a:solidFill>
                <a:latin typeface="+mj-ea"/>
                <a:ea typeface="+mj-ea"/>
                <a:cs typeface="Noto Sans CJK SC" pitchFamily="34" charset="-120"/>
              </a:rPr>
              <a:t>。</a:t>
            </a:r>
            <a:endParaRPr lang="en-US" sz="1400" b="1" dirty="0">
              <a:latin typeface="+mj-ea"/>
              <a:ea typeface="+mj-ea"/>
            </a:endParaRPr>
          </a:p>
        </p:txBody>
      </p:sp>
      <p:sp>
        <p:nvSpPr>
          <p:cNvPr id="12" name="Shape 7"/>
          <p:cNvSpPr/>
          <p:nvPr/>
        </p:nvSpPr>
        <p:spPr>
          <a:xfrm>
            <a:off x="4432062" y="1528959"/>
            <a:ext cx="3542020" cy="4560802"/>
          </a:xfrm>
          <a:prstGeom prst="roundRect">
            <a:avLst>
              <a:gd name="adj" fmla="val 2174"/>
            </a:avLst>
          </a:prstGeom>
          <a:solidFill>
            <a:srgbClr val="F1EEFA"/>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dirty="0"/>
          </a:p>
        </p:txBody>
      </p:sp>
      <p:sp>
        <p:nvSpPr>
          <p:cNvPr id="13" name="Text 8"/>
          <p:cNvSpPr/>
          <p:nvPr/>
        </p:nvSpPr>
        <p:spPr>
          <a:xfrm>
            <a:off x="4624132" y="1638687"/>
            <a:ext cx="3195518" cy="2948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6E5AA6"/>
                </a:solidFill>
                <a:latin typeface="+mj-ea"/>
                <a:ea typeface="+mj-ea"/>
                <a:cs typeface="Noto Sans CJK SC" pitchFamily="34" charset="-120"/>
              </a:rPr>
              <a:t>② 有限 </a:t>
            </a:r>
            <a:r>
              <a:rPr lang="en-US" b="1" dirty="0">
                <a:solidFill>
                  <a:srgbClr val="6E5AA6"/>
                </a:solidFill>
                <a:latin typeface="Times New Roman" panose="02020603050405020304" charset="0"/>
                <a:ea typeface="+mj-ea"/>
                <a:cs typeface="Times New Roman" panose="02020603050405020304" charset="0"/>
              </a:rPr>
              <a:t>Te</a:t>
            </a:r>
            <a:r>
              <a:rPr lang="en-US" b="1" dirty="0">
                <a:solidFill>
                  <a:srgbClr val="6E5AA6"/>
                </a:solidFill>
                <a:latin typeface="+mj-ea"/>
                <a:ea typeface="+mj-ea"/>
                <a:cs typeface="Noto Sans CJK SC" pitchFamily="34" charset="-120"/>
              </a:rPr>
              <a:t> 自由能与原子力</a:t>
            </a:r>
            <a:endParaRPr lang="en-US" dirty="0">
              <a:latin typeface="+mj-ea"/>
              <a:ea typeface="+mj-ea"/>
            </a:endParaRPr>
          </a:p>
        </p:txBody>
      </p:sp>
      <p:sp>
        <p:nvSpPr>
          <p:cNvPr id="18" name="Text 9"/>
          <p:cNvSpPr/>
          <p:nvPr/>
        </p:nvSpPr>
        <p:spPr>
          <a:xfrm>
            <a:off x="4779010" y="5314950"/>
            <a:ext cx="2868295" cy="660400"/>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400" b="1" dirty="0">
                <a:solidFill>
                  <a:srgbClr val="6E5AA6"/>
                </a:solidFill>
                <a:latin typeface="+mn-ea"/>
                <a:cs typeface="Noto Sans CJK SC" pitchFamily="34" charset="-120"/>
              </a:rPr>
              <a:t>训练标签应对应有限Te的自由能、原子力与应力，而不是普通0K势能后再附加Te。</a:t>
            </a:r>
            <a:endParaRPr lang="en-US" sz="1400" b="1" dirty="0">
              <a:solidFill>
                <a:srgbClr val="6E5AA6"/>
              </a:solidFill>
              <a:latin typeface="+mn-ea"/>
              <a:cs typeface="Noto Sans CJK SC" pitchFamily="34" charset="-120"/>
            </a:endParaRPr>
          </a:p>
        </p:txBody>
      </p:sp>
      <p:sp>
        <p:nvSpPr>
          <p:cNvPr id="19" name="Shape 10"/>
          <p:cNvSpPr/>
          <p:nvPr/>
        </p:nvSpPr>
        <p:spPr>
          <a:xfrm>
            <a:off x="8033890" y="1528959"/>
            <a:ext cx="3580520" cy="4560802"/>
          </a:xfrm>
          <a:prstGeom prst="roundRect">
            <a:avLst>
              <a:gd name="adj" fmla="val 2151"/>
            </a:avLst>
          </a:prstGeom>
          <a:solidFill>
            <a:srgbClr val="FFFFFF"/>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a:p>
        </p:txBody>
      </p:sp>
      <p:sp>
        <p:nvSpPr>
          <p:cNvPr id="20" name="Text 11"/>
          <p:cNvSpPr/>
          <p:nvPr/>
        </p:nvSpPr>
        <p:spPr>
          <a:xfrm>
            <a:off x="8215800" y="1638687"/>
            <a:ext cx="3234018" cy="29484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6E5AA6"/>
                </a:solidFill>
                <a:latin typeface="+mj-ea"/>
                <a:ea typeface="+mj-ea"/>
              </a:rPr>
              <a:t>③ </a:t>
            </a:r>
            <a:r>
              <a:rPr lang="zh-CN" altLang="en-US" b="1" dirty="0">
                <a:solidFill>
                  <a:srgbClr val="6E5AA6"/>
                </a:solidFill>
                <a:latin typeface="+mj-ea"/>
                <a:ea typeface="+mj-ea"/>
              </a:rPr>
              <a:t>研究</a:t>
            </a:r>
            <a:r>
              <a:rPr lang="en-US" b="1" dirty="0" err="1">
                <a:solidFill>
                  <a:srgbClr val="6E5AA6"/>
                </a:solidFill>
                <a:latin typeface="+mj-ea"/>
                <a:ea typeface="+mj-ea"/>
              </a:rPr>
              <a:t>中回答的量子问题</a:t>
            </a:r>
            <a:endParaRPr lang="en-US" b="1" dirty="0">
              <a:solidFill>
                <a:srgbClr val="6E5AA6"/>
              </a:solidFill>
              <a:latin typeface="+mj-ea"/>
              <a:ea typeface="+mj-ea"/>
            </a:endParaRPr>
          </a:p>
        </p:txBody>
      </p:sp>
      <p:sp>
        <p:nvSpPr>
          <p:cNvPr id="22" name="Text 13"/>
          <p:cNvSpPr/>
          <p:nvPr/>
        </p:nvSpPr>
        <p:spPr>
          <a:xfrm>
            <a:off x="8221980" y="2176780"/>
            <a:ext cx="3223895" cy="2660650"/>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Wingdings" panose="05000000000000000000" charset="0"/>
              <a:buChar char="l"/>
            </a:pPr>
            <a:r>
              <a:rPr lang="en-US" sz="1700" b="1" dirty="0">
                <a:solidFill>
                  <a:srgbClr val="18324A"/>
                </a:solidFill>
                <a:latin typeface="+mj-ea"/>
                <a:ea typeface="+mj-ea"/>
                <a:cs typeface="+mj-ea"/>
              </a:rPr>
              <a:t>电子占据变化</a:t>
            </a:r>
            <a:r>
              <a:rPr lang="zh-CN" altLang="en-US" sz="1700" b="1" dirty="0">
                <a:solidFill>
                  <a:srgbClr val="18324A"/>
                </a:solidFill>
                <a:latin typeface="+mj-ea"/>
                <a:ea typeface="+mj-ea"/>
                <a:cs typeface="+mj-ea"/>
              </a:rPr>
              <a:t>：费米-狄拉克分布展宽，电子跃迁</a:t>
            </a:r>
            <a:endParaRPr lang="zh-CN" altLang="en-US" sz="1700" b="1" dirty="0">
              <a:solidFill>
                <a:srgbClr val="18324A"/>
              </a:solidFill>
              <a:latin typeface="+mj-ea"/>
              <a:ea typeface="+mj-ea"/>
              <a:cs typeface="+mj-ea"/>
            </a:endParaRPr>
          </a:p>
          <a:p>
            <a:pPr marL="285750" indent="-285750">
              <a:buFont typeface="Wingdings" panose="05000000000000000000" charset="0"/>
              <a:buChar char="l"/>
            </a:pPr>
            <a:endParaRPr lang="zh-CN" altLang="en-US" sz="1700" b="1" dirty="0">
              <a:solidFill>
                <a:srgbClr val="18324A"/>
              </a:solidFill>
              <a:latin typeface="+mj-ea"/>
              <a:ea typeface="+mj-ea"/>
              <a:cs typeface="+mj-ea"/>
            </a:endParaRPr>
          </a:p>
          <a:p>
            <a:pPr marL="285750" indent="-285750">
              <a:buFont typeface="Wingdings" panose="05000000000000000000" charset="0"/>
              <a:buChar char="l"/>
            </a:pPr>
            <a:r>
              <a:rPr lang="en-US" sz="1700" b="1" dirty="0">
                <a:solidFill>
                  <a:srgbClr val="18324A"/>
                </a:solidFill>
                <a:latin typeface="+mj-ea"/>
                <a:ea typeface="+mj-ea"/>
                <a:cs typeface="+mj-ea"/>
                <a:sym typeface="+mn-ea"/>
              </a:rPr>
              <a:t> 共价键</a:t>
            </a:r>
            <a:r>
              <a:rPr lang="zh-CN" altLang="en-US" sz="1700" b="1" dirty="0">
                <a:solidFill>
                  <a:srgbClr val="18324A"/>
                </a:solidFill>
                <a:latin typeface="+mj-ea"/>
                <a:ea typeface="+mj-ea"/>
                <a:cs typeface="+mj-ea"/>
                <a:sym typeface="+mn-ea"/>
              </a:rPr>
              <a:t>削弱：轨道占据改变 → 成键 / 反键占据重分布 → 共价键减弱</a:t>
            </a:r>
            <a:endParaRPr lang="zh-CN" altLang="en-US" sz="1700" b="1" dirty="0">
              <a:solidFill>
                <a:srgbClr val="18324A"/>
              </a:solidFill>
              <a:latin typeface="+mj-ea"/>
              <a:ea typeface="+mj-ea"/>
              <a:cs typeface="+mj-ea"/>
              <a:sym typeface="+mn-ea"/>
            </a:endParaRPr>
          </a:p>
          <a:p>
            <a:pPr marL="285750" indent="-285750">
              <a:buFont typeface="Wingdings" panose="05000000000000000000" charset="0"/>
              <a:buChar char="l"/>
            </a:pPr>
            <a:endParaRPr lang="zh-CN" altLang="en-US" sz="1700" b="1" dirty="0">
              <a:solidFill>
                <a:srgbClr val="18324A"/>
              </a:solidFill>
              <a:latin typeface="+mj-ea"/>
              <a:ea typeface="+mj-ea"/>
              <a:cs typeface="+mj-ea"/>
              <a:sym typeface="+mn-ea"/>
            </a:endParaRPr>
          </a:p>
          <a:p>
            <a:pPr marL="285750" indent="-285750">
              <a:buFont typeface="Wingdings" panose="05000000000000000000" charset="0"/>
              <a:buChar char="l"/>
            </a:pPr>
            <a:r>
              <a:rPr lang="en-US" sz="1700" b="1" dirty="0">
                <a:solidFill>
                  <a:srgbClr val="18324A"/>
                </a:solidFill>
                <a:latin typeface="+mj-ea"/>
                <a:ea typeface="+mj-ea"/>
                <a:cs typeface="+mj-ea"/>
                <a:sym typeface="+mn-ea"/>
              </a:rPr>
              <a:t>自由能面改变</a:t>
            </a:r>
            <a:r>
              <a:rPr lang="zh-CN" altLang="en-US" sz="1700" b="1" dirty="0">
                <a:solidFill>
                  <a:srgbClr val="18324A"/>
                </a:solidFill>
                <a:latin typeface="+mj-ea"/>
                <a:ea typeface="+mj-ea"/>
                <a:cs typeface="+mj-ea"/>
                <a:sym typeface="+mn-ea"/>
              </a:rPr>
              <a:t>：电子熵贡献使自由能面随</a:t>
            </a:r>
            <a:r>
              <a:rPr lang="en-US" altLang="zh-CN" sz="1700" b="1" dirty="0">
                <a:solidFill>
                  <a:srgbClr val="18324A"/>
                </a:solidFill>
                <a:latin typeface="+mj-ea"/>
                <a:ea typeface="+mj-ea"/>
                <a:cs typeface="+mj-ea"/>
                <a:sym typeface="+mn-ea"/>
              </a:rPr>
              <a:t>Te​</a:t>
            </a:r>
            <a:r>
              <a:rPr lang="zh-CN" altLang="en-US" sz="1700" b="1" dirty="0">
                <a:solidFill>
                  <a:srgbClr val="18324A"/>
                </a:solidFill>
                <a:latin typeface="+mj-ea"/>
                <a:ea typeface="+mj-ea"/>
                <a:cs typeface="+mj-ea"/>
                <a:sym typeface="+mn-ea"/>
              </a:rPr>
              <a:t>发生重构</a:t>
            </a:r>
            <a:endParaRPr lang="zh-CN" altLang="en-US" sz="1700" b="1" dirty="0">
              <a:solidFill>
                <a:srgbClr val="18324A"/>
              </a:solidFill>
              <a:latin typeface="+mj-ea"/>
              <a:ea typeface="+mj-ea"/>
              <a:cs typeface="+mj-ea"/>
              <a:sym typeface="+mn-ea"/>
            </a:endParaRPr>
          </a:p>
          <a:p>
            <a:pPr marL="285750" indent="-285750">
              <a:buFont typeface="Wingdings" panose="05000000000000000000" charset="0"/>
              <a:buChar char="l"/>
            </a:pPr>
            <a:endParaRPr lang="zh-CN" altLang="en-US" sz="1700" b="1" dirty="0">
              <a:solidFill>
                <a:srgbClr val="18324A"/>
              </a:solidFill>
              <a:latin typeface="+mj-ea"/>
              <a:ea typeface="+mj-ea"/>
              <a:cs typeface="+mj-ea"/>
              <a:sym typeface="+mn-ea"/>
            </a:endParaRPr>
          </a:p>
        </p:txBody>
      </p:sp>
      <p:sp>
        <p:nvSpPr>
          <p:cNvPr id="29" name="Shape 20"/>
          <p:cNvSpPr/>
          <p:nvPr/>
        </p:nvSpPr>
        <p:spPr>
          <a:xfrm>
            <a:off x="8282940" y="5021580"/>
            <a:ext cx="3164205" cy="681990"/>
          </a:xfrm>
          <a:prstGeom prst="chevron">
            <a:avLst/>
          </a:prstGeom>
          <a:solidFill>
            <a:srgbClr val="6E5AA6"/>
          </a:solidFill>
          <a:ln w="12700">
            <a:solidFill>
              <a:srgbClr val="6E5AA6"/>
            </a:solidFill>
            <a:prstDash val="solid"/>
          </a:ln>
        </p:spPr>
        <p:txBody>
          <a:bodyPr/>
          <a:lstStyle/>
          <a:p>
            <a:endParaRPr lang="zh-CN" altLang="en-US"/>
          </a:p>
        </p:txBody>
      </p:sp>
      <p:sp>
        <p:nvSpPr>
          <p:cNvPr id="30" name="Text 21"/>
          <p:cNvSpPr/>
          <p:nvPr/>
        </p:nvSpPr>
        <p:spPr>
          <a:xfrm>
            <a:off x="8634095" y="5130800"/>
            <a:ext cx="2399030" cy="464820"/>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FFFFFF"/>
                </a:solidFill>
                <a:latin typeface="+mj-ea"/>
                <a:ea typeface="+mj-ea"/>
                <a:cs typeface="+mj-ea"/>
              </a:rPr>
              <a:t>电子激发 → 成键变化 → 原子力变化</a:t>
            </a:r>
            <a:endParaRPr lang="en-US" sz="1600" b="1" dirty="0">
              <a:solidFill>
                <a:srgbClr val="FFFFFF"/>
              </a:solidFill>
              <a:latin typeface="+mj-ea"/>
              <a:ea typeface="+mj-ea"/>
              <a:cs typeface="+mj-ea"/>
            </a:endParaRPr>
          </a:p>
        </p:txBody>
      </p:sp>
      <p:graphicFrame>
        <p:nvGraphicFramePr>
          <p:cNvPr id="32" name="对象 31"/>
          <p:cNvGraphicFramePr>
            <a:graphicFrameLocks noChangeAspect="1"/>
          </p:cNvGraphicFramePr>
          <p:nvPr/>
        </p:nvGraphicFramePr>
        <p:xfrm>
          <a:off x="1071364" y="2961249"/>
          <a:ext cx="2893162" cy="684052"/>
        </p:xfrm>
        <a:graphic>
          <a:graphicData uri="http://schemas.openxmlformats.org/presentationml/2006/ole">
            <mc:AlternateContent xmlns:mc="http://schemas.openxmlformats.org/markup-compatibility/2006">
              <mc:Choice xmlns:v="urn:schemas-microsoft-com:vml" Requires="v">
                <p:oleObj spid="_x0000_s0" name="Equation" r:id="rId1" imgW="57607200" imgH="11582400" progId="Equation.DSMT4">
                  <p:embed/>
                </p:oleObj>
              </mc:Choice>
              <mc:Fallback>
                <p:oleObj name="Equation" r:id="rId1" imgW="57607200" imgH="11582400" progId="Equation.DSMT4">
                  <p:embed/>
                  <p:pic>
                    <p:nvPicPr>
                      <p:cNvPr id="0" name="图片 -1"/>
                      <p:cNvPicPr/>
                      <p:nvPr/>
                    </p:nvPicPr>
                    <p:blipFill>
                      <a:blip r:embed="rId2"/>
                      <a:stretch>
                        <a:fillRect/>
                      </a:stretch>
                    </p:blipFill>
                    <p:spPr>
                      <a:xfrm>
                        <a:off x="1071364" y="2961249"/>
                        <a:ext cx="2893162" cy="684052"/>
                      </a:xfrm>
                      <a:prstGeom prst="rect">
                        <a:avLst/>
                      </a:prstGeom>
                    </p:spPr>
                  </p:pic>
                </p:oleObj>
              </mc:Fallback>
            </mc:AlternateContent>
          </a:graphicData>
        </a:graphic>
      </p:graphicFrame>
      <p:graphicFrame>
        <p:nvGraphicFramePr>
          <p:cNvPr id="33" name="对象 32"/>
          <p:cNvGraphicFramePr>
            <a:graphicFrameLocks noChangeAspect="1"/>
          </p:cNvGraphicFramePr>
          <p:nvPr/>
        </p:nvGraphicFramePr>
        <p:xfrm>
          <a:off x="1334770" y="3703955"/>
          <a:ext cx="2084070" cy="849630"/>
        </p:xfrm>
        <a:graphic>
          <a:graphicData uri="http://schemas.openxmlformats.org/presentationml/2006/ole">
            <mc:AlternateContent xmlns:mc="http://schemas.openxmlformats.org/markup-compatibility/2006">
              <mc:Choice xmlns:v="urn:schemas-microsoft-com:vml" Requires="v">
                <p:oleObj spid="_x0000_s0" name="Equation" r:id="rId3" imgW="39624000" imgH="16154400" progId="Equation.DSMT4">
                  <p:embed/>
                </p:oleObj>
              </mc:Choice>
              <mc:Fallback>
                <p:oleObj name="Equation" r:id="rId3" imgW="39624000" imgH="16154400" progId="Equation.DSMT4">
                  <p:embed/>
                  <p:pic>
                    <p:nvPicPr>
                      <p:cNvPr id="0" name="图片 -1"/>
                      <p:cNvPicPr/>
                      <p:nvPr/>
                    </p:nvPicPr>
                    <p:blipFill>
                      <a:blip r:embed="rId4"/>
                      <a:stretch>
                        <a:fillRect/>
                      </a:stretch>
                    </p:blipFill>
                    <p:spPr>
                      <a:xfrm>
                        <a:off x="1334770" y="3703955"/>
                        <a:ext cx="2084070" cy="849630"/>
                      </a:xfrm>
                      <a:prstGeom prst="rect">
                        <a:avLst/>
                      </a:prstGeom>
                    </p:spPr>
                  </p:pic>
                </p:oleObj>
              </mc:Fallback>
            </mc:AlternateContent>
          </a:graphicData>
        </a:graphic>
      </p:graphicFrame>
      <p:graphicFrame>
        <p:nvGraphicFramePr>
          <p:cNvPr id="35" name="对象 34"/>
          <p:cNvGraphicFramePr>
            <a:graphicFrameLocks noChangeAspect="1"/>
          </p:cNvGraphicFramePr>
          <p:nvPr/>
        </p:nvGraphicFramePr>
        <p:xfrm>
          <a:off x="671070" y="2348400"/>
          <a:ext cx="3701705" cy="387613"/>
        </p:xfrm>
        <a:graphic>
          <a:graphicData uri="http://schemas.openxmlformats.org/presentationml/2006/ole">
            <mc:AlternateContent xmlns:mc="http://schemas.openxmlformats.org/markup-compatibility/2006">
              <mc:Choice xmlns:v="urn:schemas-microsoft-com:vml" Requires="v">
                <p:oleObj spid="_x0000_s0" name="Equation" r:id="rId5" imgW="58216800" imgH="6096000" progId="Equation.DSMT4">
                  <p:embed/>
                </p:oleObj>
              </mc:Choice>
              <mc:Fallback>
                <p:oleObj name="Equation" r:id="rId5" imgW="58216800" imgH="6096000" progId="Equation.DSMT4">
                  <p:embed/>
                  <p:pic>
                    <p:nvPicPr>
                      <p:cNvPr id="0" name="图片 -1"/>
                      <p:cNvPicPr/>
                      <p:nvPr/>
                    </p:nvPicPr>
                    <p:blipFill>
                      <a:blip r:embed="rId6"/>
                      <a:stretch>
                        <a:fillRect/>
                      </a:stretch>
                    </p:blipFill>
                    <p:spPr>
                      <a:xfrm>
                        <a:off x="671070" y="2348400"/>
                        <a:ext cx="3701705" cy="387613"/>
                      </a:xfrm>
                      <a:prstGeom prst="rect">
                        <a:avLst/>
                      </a:prstGeom>
                    </p:spPr>
                  </p:pic>
                </p:oleObj>
              </mc:Fallback>
            </mc:AlternateContent>
          </a:graphicData>
        </a:graphic>
      </p:graphicFrame>
      <p:graphicFrame>
        <p:nvGraphicFramePr>
          <p:cNvPr id="36" name="对象 35"/>
          <p:cNvGraphicFramePr>
            <a:graphicFrameLocks noChangeAspect="1"/>
          </p:cNvGraphicFramePr>
          <p:nvPr/>
        </p:nvGraphicFramePr>
        <p:xfrm>
          <a:off x="4464455" y="2192189"/>
          <a:ext cx="3506482" cy="442259"/>
        </p:xfrm>
        <a:graphic>
          <a:graphicData uri="http://schemas.openxmlformats.org/presentationml/2006/ole">
            <mc:AlternateContent xmlns:mc="http://schemas.openxmlformats.org/markup-compatibility/2006">
              <mc:Choice xmlns:v="urn:schemas-microsoft-com:vml" Requires="v">
                <p:oleObj spid="_x0000_s0" name="Equation" r:id="rId7" imgW="67665600" imgH="8534400" progId="Equation.DSMT4">
                  <p:embed/>
                </p:oleObj>
              </mc:Choice>
              <mc:Fallback>
                <p:oleObj name="Equation" r:id="rId7" imgW="67665600" imgH="8534400" progId="Equation.DSMT4">
                  <p:embed/>
                  <p:pic>
                    <p:nvPicPr>
                      <p:cNvPr id="0" name="图片 -1"/>
                      <p:cNvPicPr/>
                      <p:nvPr/>
                    </p:nvPicPr>
                    <p:blipFill>
                      <a:blip r:embed="rId8"/>
                      <a:stretch>
                        <a:fillRect/>
                      </a:stretch>
                    </p:blipFill>
                    <p:spPr>
                      <a:xfrm>
                        <a:off x="4464455" y="2192189"/>
                        <a:ext cx="3506482" cy="442259"/>
                      </a:xfrm>
                      <a:prstGeom prst="rect">
                        <a:avLst/>
                      </a:prstGeom>
                    </p:spPr>
                  </p:pic>
                </p:oleObj>
              </mc:Fallback>
            </mc:AlternateContent>
          </a:graphicData>
        </a:graphic>
      </p:graphicFrame>
      <p:graphicFrame>
        <p:nvGraphicFramePr>
          <p:cNvPr id="37" name="对象 36"/>
          <p:cNvGraphicFramePr>
            <a:graphicFrameLocks noChangeAspect="1"/>
          </p:cNvGraphicFramePr>
          <p:nvPr/>
        </p:nvGraphicFramePr>
        <p:xfrm>
          <a:off x="4779099" y="2780714"/>
          <a:ext cx="2708965" cy="390091"/>
        </p:xfrm>
        <a:graphic>
          <a:graphicData uri="http://schemas.openxmlformats.org/presentationml/2006/ole">
            <mc:AlternateContent xmlns:mc="http://schemas.openxmlformats.org/markup-compatibility/2006">
              <mc:Choice xmlns:v="urn:schemas-microsoft-com:vml" Requires="v">
                <p:oleObj spid="_x0000_s0" name="Equation" r:id="rId9" imgW="38100000" imgH="5486400" progId="Equation.DSMT4">
                  <p:embed/>
                </p:oleObj>
              </mc:Choice>
              <mc:Fallback>
                <p:oleObj name="Equation" r:id="rId9" imgW="38100000" imgH="5486400" progId="Equation.DSMT4">
                  <p:embed/>
                  <p:pic>
                    <p:nvPicPr>
                      <p:cNvPr id="0" name="图片 -1"/>
                      <p:cNvPicPr/>
                      <p:nvPr/>
                    </p:nvPicPr>
                    <p:blipFill>
                      <a:blip r:embed="rId10"/>
                      <a:stretch>
                        <a:fillRect/>
                      </a:stretch>
                    </p:blipFill>
                    <p:spPr>
                      <a:xfrm>
                        <a:off x="4779099" y="2780714"/>
                        <a:ext cx="2708965" cy="390091"/>
                      </a:xfrm>
                      <a:prstGeom prst="rect">
                        <a:avLst/>
                      </a:prstGeom>
                    </p:spPr>
                  </p:pic>
                </p:oleObj>
              </mc:Fallback>
            </mc:AlternateContent>
          </a:graphicData>
        </a:graphic>
      </p:graphicFrame>
      <p:graphicFrame>
        <p:nvGraphicFramePr>
          <p:cNvPr id="38" name="对象 37"/>
          <p:cNvGraphicFramePr>
            <a:graphicFrameLocks noChangeAspect="1"/>
          </p:cNvGraphicFramePr>
          <p:nvPr/>
        </p:nvGraphicFramePr>
        <p:xfrm>
          <a:off x="5313680" y="3234690"/>
          <a:ext cx="1752600" cy="779145"/>
        </p:xfrm>
        <a:graphic>
          <a:graphicData uri="http://schemas.openxmlformats.org/presentationml/2006/ole">
            <mc:AlternateContent xmlns:mc="http://schemas.openxmlformats.org/markup-compatibility/2006">
              <mc:Choice xmlns:v="urn:schemas-microsoft-com:vml" Requires="v">
                <p:oleObj spid="_x0000_s0" name="Equation" r:id="rId11" imgW="27432000" imgH="12192000" progId="Equation.DSMT4">
                  <p:embed/>
                </p:oleObj>
              </mc:Choice>
              <mc:Fallback>
                <p:oleObj name="Equation" r:id="rId11" imgW="27432000" imgH="12192000" progId="Equation.DSMT4">
                  <p:embed/>
                  <p:pic>
                    <p:nvPicPr>
                      <p:cNvPr id="0" name="图片 -1"/>
                      <p:cNvPicPr/>
                      <p:nvPr/>
                    </p:nvPicPr>
                    <p:blipFill>
                      <a:blip r:embed="rId12"/>
                      <a:stretch>
                        <a:fillRect/>
                      </a:stretch>
                    </p:blipFill>
                    <p:spPr>
                      <a:xfrm>
                        <a:off x="5313680" y="3234690"/>
                        <a:ext cx="1752600" cy="779145"/>
                      </a:xfrm>
                      <a:prstGeom prst="rect">
                        <a:avLst/>
                      </a:prstGeom>
                    </p:spPr>
                  </p:pic>
                </p:oleObj>
              </mc:Fallback>
            </mc:AlternateContent>
          </a:graphicData>
        </a:graphic>
      </p:graphicFrame>
      <p:graphicFrame>
        <p:nvGraphicFramePr>
          <p:cNvPr id="39" name="对象 38"/>
          <p:cNvGraphicFramePr>
            <a:graphicFrameLocks noChangeAspect="1"/>
          </p:cNvGraphicFramePr>
          <p:nvPr/>
        </p:nvGraphicFramePr>
        <p:xfrm>
          <a:off x="5395595" y="4017645"/>
          <a:ext cx="1399540" cy="709930"/>
        </p:xfrm>
        <a:graphic>
          <a:graphicData uri="http://schemas.openxmlformats.org/presentationml/2006/ole">
            <mc:AlternateContent xmlns:mc="http://schemas.openxmlformats.org/markup-compatibility/2006">
              <mc:Choice xmlns:v="urn:schemas-microsoft-com:vml" Requires="v">
                <p:oleObj spid="_x0000_s0" name="Equation" r:id="rId13" imgW="21031200" imgH="10668000" progId="Equation.DSMT4">
                  <p:embed/>
                </p:oleObj>
              </mc:Choice>
              <mc:Fallback>
                <p:oleObj name="Equation" r:id="rId13" imgW="21031200" imgH="10668000" progId="Equation.DSMT4">
                  <p:embed/>
                  <p:pic>
                    <p:nvPicPr>
                      <p:cNvPr id="0" name="图片 -1"/>
                      <p:cNvPicPr/>
                      <p:nvPr/>
                    </p:nvPicPr>
                    <p:blipFill>
                      <a:blip r:embed="rId14"/>
                      <a:stretch>
                        <a:fillRect/>
                      </a:stretch>
                    </p:blipFill>
                    <p:spPr>
                      <a:xfrm>
                        <a:off x="5395595" y="4017645"/>
                        <a:ext cx="1399540" cy="709930"/>
                      </a:xfrm>
                      <a:prstGeom prst="rect">
                        <a:avLst/>
                      </a:prstGeom>
                    </p:spPr>
                  </p:pic>
                </p:oleObj>
              </mc:Fallback>
            </mc:AlternateContent>
          </a:graphicData>
        </a:graphic>
      </p:graphicFrame>
      <p:grpSp>
        <p:nvGrpSpPr>
          <p:cNvPr id="8" name="组合 7"/>
          <p:cNvGrpSpPr/>
          <p:nvPr/>
        </p:nvGrpSpPr>
        <p:grpSpPr>
          <a:xfrm>
            <a:off x="4613910" y="4687743"/>
            <a:ext cx="3180058" cy="514139"/>
            <a:chOff x="7527" y="6991"/>
            <a:chExt cx="5175" cy="1026"/>
          </a:xfrm>
        </p:grpSpPr>
        <p:graphicFrame>
          <p:nvGraphicFramePr>
            <p:cNvPr id="40" name="对象 39"/>
            <p:cNvGraphicFramePr>
              <a:graphicFrameLocks noChangeAspect="1"/>
            </p:cNvGraphicFramePr>
            <p:nvPr/>
          </p:nvGraphicFramePr>
          <p:xfrm>
            <a:off x="9877" y="7282"/>
            <a:ext cx="2825" cy="735"/>
          </p:xfrm>
          <a:graphic>
            <a:graphicData uri="http://schemas.openxmlformats.org/presentationml/2006/ole">
              <mc:AlternateContent xmlns:mc="http://schemas.openxmlformats.org/markup-compatibility/2006">
                <mc:Choice xmlns:v="urn:schemas-microsoft-com:vml" Requires="v">
                  <p:oleObj spid="_x0000_s0" name="Equation" r:id="rId15" imgW="901700" imgH="228600" progId="Equation.DSMT4">
                    <p:embed/>
                  </p:oleObj>
                </mc:Choice>
                <mc:Fallback>
                  <p:oleObj name="Equation" r:id="rId15" imgW="901700" imgH="228600" progId="Equation.DSMT4">
                    <p:embed/>
                    <p:pic>
                      <p:nvPicPr>
                        <p:cNvPr id="0" name="图片 -1"/>
                        <p:cNvPicPr/>
                        <p:nvPr/>
                      </p:nvPicPr>
                      <p:blipFill>
                        <a:blip r:embed="rId16"/>
                        <a:stretch>
                          <a:fillRect/>
                        </a:stretch>
                      </p:blipFill>
                      <p:spPr>
                        <a:xfrm>
                          <a:off x="9877" y="7282"/>
                          <a:ext cx="2825" cy="735"/>
                        </a:xfrm>
                        <a:prstGeom prst="rect">
                          <a:avLst/>
                        </a:prstGeom>
                      </p:spPr>
                    </p:pic>
                  </p:oleObj>
                </mc:Fallback>
              </mc:AlternateContent>
            </a:graphicData>
          </a:graphic>
        </p:graphicFrame>
        <p:graphicFrame>
          <p:nvGraphicFramePr>
            <p:cNvPr id="41" name="对象 40"/>
            <p:cNvGraphicFramePr>
              <a:graphicFrameLocks noChangeAspect="1"/>
            </p:cNvGraphicFramePr>
            <p:nvPr/>
          </p:nvGraphicFramePr>
          <p:xfrm>
            <a:off x="7527" y="7290"/>
            <a:ext cx="1597" cy="726"/>
          </p:xfrm>
          <a:graphic>
            <a:graphicData uri="http://schemas.openxmlformats.org/presentationml/2006/ole">
              <mc:AlternateContent xmlns:mc="http://schemas.openxmlformats.org/markup-compatibility/2006">
                <mc:Choice xmlns:v="urn:schemas-microsoft-com:vml" Requires="v">
                  <p:oleObj spid="_x0000_s0" name="Equation" r:id="rId17" imgW="14020800" imgH="4876800" progId="Equation.DSMT4">
                    <p:embed/>
                  </p:oleObj>
                </mc:Choice>
                <mc:Fallback>
                  <p:oleObj name="Equation" r:id="rId17" imgW="14020800" imgH="4876800" progId="Equation.DSMT4">
                    <p:embed/>
                    <p:pic>
                      <p:nvPicPr>
                        <p:cNvPr id="0" name="图片 -1"/>
                        <p:cNvPicPr/>
                        <p:nvPr/>
                      </p:nvPicPr>
                      <p:blipFill>
                        <a:blip r:embed="rId18"/>
                        <a:stretch>
                          <a:fillRect/>
                        </a:stretch>
                      </p:blipFill>
                      <p:spPr>
                        <a:xfrm>
                          <a:off x="7527" y="7290"/>
                          <a:ext cx="1597" cy="726"/>
                        </a:xfrm>
                        <a:prstGeom prst="rect">
                          <a:avLst/>
                        </a:prstGeom>
                      </p:spPr>
                    </p:pic>
                  </p:oleObj>
                </mc:Fallback>
              </mc:AlternateContent>
            </a:graphicData>
          </a:graphic>
        </p:graphicFrame>
        <p:cxnSp>
          <p:nvCxnSpPr>
            <p:cNvPr id="2" name="直接箭头连接符 1"/>
            <p:cNvCxnSpPr>
              <a:stCxn id="41" idx="3"/>
              <a:endCxn id="40" idx="1"/>
            </p:cNvCxnSpPr>
            <p:nvPr/>
          </p:nvCxnSpPr>
          <p:spPr>
            <a:xfrm flipV="1">
              <a:off x="9123" y="7650"/>
              <a:ext cx="753" cy="4"/>
            </a:xfrm>
            <a:prstGeom prst="straightConnector1">
              <a:avLst/>
            </a:prstGeom>
            <a:ln>
              <a:solidFill>
                <a:schemeClr val="tx1"/>
              </a:solidFill>
              <a:tailEnd type="arrow"/>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9140" y="6991"/>
              <a:ext cx="737" cy="749"/>
            </a:xfrm>
            <a:prstGeom prst="rect">
              <a:avLst/>
            </a:prstGeom>
          </p:spPr>
          <p:txBody>
            <a:bodyPr>
              <a:noAutofit/>
              <a:extLst>
                <a:ext uri="{4A0BC546-FE56-4ADE-93B0-CB8AF2F6F144}">
                  <wpsdc:textFrameExt xmlns:wpsdc="http://www.wps.cn/officeDocument/2022/drawingmlCustomData" type="text"/>
                </a:ext>
              </a:extLst>
            </a:bodyPr>
            <a:lstStyle/>
            <a:p>
              <a:pPr algn="l"/>
              <a:r>
                <a:rPr lang="en-US" altLang="zh-CN" sz="1800">
                  <a:latin typeface="Times New Roman" panose="02020603050405020304" charset="0"/>
                  <a:ea typeface="微软雅黑" panose="020B0503020204020204" charset="-122"/>
                  <a:cs typeface="Times New Roman" panose="02020603050405020304" charset="0"/>
                </a:rPr>
                <a:t>Te</a:t>
              </a:r>
              <a:endParaRPr lang="en-US" altLang="zh-CN" sz="1800">
                <a:latin typeface="Times New Roman" panose="02020603050405020304" charset="0"/>
                <a:ea typeface="微软雅黑" panose="020B0503020204020204" charset="-122"/>
                <a:cs typeface="Times New Roman" panose="02020603050405020304" charset="0"/>
              </a:endParaRPr>
            </a:p>
          </p:txBody>
        </p:sp>
      </p:grpSp>
      <p:graphicFrame>
        <p:nvGraphicFramePr>
          <p:cNvPr id="9" name="对象 8"/>
          <p:cNvGraphicFramePr>
            <a:graphicFrameLocks noChangeAspect="1"/>
          </p:cNvGraphicFramePr>
          <p:nvPr/>
        </p:nvGraphicFramePr>
        <p:xfrm>
          <a:off x="1039553" y="4672818"/>
          <a:ext cx="2924914" cy="589045"/>
        </p:xfrm>
        <a:graphic>
          <a:graphicData uri="http://schemas.openxmlformats.org/presentationml/2006/ole">
            <mc:AlternateContent xmlns:mc="http://schemas.openxmlformats.org/markup-compatibility/2006">
              <mc:Choice xmlns:v="urn:schemas-microsoft-com:vml" Requires="v">
                <p:oleObj spid="_x0000_s0" name="Equation" r:id="rId19" imgW="43891200" imgH="8839200" progId="Equation.DSMT4">
                  <p:embed/>
                </p:oleObj>
              </mc:Choice>
              <mc:Fallback>
                <p:oleObj name="Equation" r:id="rId19" imgW="43891200" imgH="8839200" progId="Equation.DSMT4">
                  <p:embed/>
                  <p:pic>
                    <p:nvPicPr>
                      <p:cNvPr id="0" name="图片 -1"/>
                      <p:cNvPicPr/>
                      <p:nvPr/>
                    </p:nvPicPr>
                    <p:blipFill>
                      <a:blip r:embed="rId20"/>
                      <a:stretch>
                        <a:fillRect/>
                      </a:stretch>
                    </p:blipFill>
                    <p:spPr>
                      <a:xfrm>
                        <a:off x="1039553" y="4672818"/>
                        <a:ext cx="2924914" cy="589045"/>
                      </a:xfrm>
                      <a:prstGeom prst="rect">
                        <a:avLst/>
                      </a:prstGeom>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4"/>
          <p:cNvSpPr/>
          <p:nvPr/>
        </p:nvSpPr>
        <p:spPr>
          <a:xfrm>
            <a:off x="507365" y="1273175"/>
            <a:ext cx="5951220" cy="5041900"/>
          </a:xfrm>
          <a:prstGeom prst="roundRect">
            <a:avLst>
              <a:gd name="adj" fmla="val 1639"/>
            </a:avLst>
          </a:prstGeom>
          <a:solidFill>
            <a:srgbClr val="FFFFFF"/>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a:p>
        </p:txBody>
      </p:sp>
      <p:sp>
        <p:nvSpPr>
          <p:cNvPr id="3" name="文本框 2"/>
          <p:cNvSpPr txBox="1"/>
          <p:nvPr/>
        </p:nvSpPr>
        <p:spPr>
          <a:xfrm>
            <a:off x="328930" y="147320"/>
            <a:ext cx="7512685" cy="499110"/>
          </a:xfrm>
          <a:prstGeom prst="rect">
            <a:avLst/>
          </a:prstGeom>
          <a:noFill/>
        </p:spPr>
        <p:txBody>
          <a:bodyPr wrap="square">
            <a:noAutofit/>
          </a:bodyPr>
          <a:lstStyle/>
          <a:p>
            <a:r>
              <a:rPr lang="zh-CN" altLang="en-US" sz="2500" b="1" dirty="0">
                <a:solidFill>
                  <a:srgbClr val="102A43"/>
                </a:solidFill>
                <a:latin typeface="微软雅黑" panose="020B0503020204020204" charset="-122"/>
                <a:ea typeface="微软雅黑" panose="020B0503020204020204" charset="-122"/>
              </a:rPr>
              <a:t>研究内容</a:t>
            </a:r>
            <a:r>
              <a:rPr lang="en-US" altLang="zh-CN" sz="2500" b="1" dirty="0">
                <a:solidFill>
                  <a:srgbClr val="102A43"/>
                </a:solidFill>
                <a:latin typeface="微软雅黑" panose="020B0503020204020204" charset="-122"/>
                <a:ea typeface="微软雅黑" panose="020B0503020204020204" charset="-122"/>
                <a:sym typeface="+mn-ea"/>
              </a:rPr>
              <a:t> 2｜</a:t>
            </a:r>
            <a:r>
              <a:rPr lang="zh-CN" altLang="en-US" sz="2500" b="1" dirty="0">
                <a:solidFill>
                  <a:srgbClr val="102A43"/>
                </a:solidFill>
                <a:latin typeface="微软雅黑" panose="020B0503020204020204" charset="-122"/>
                <a:ea typeface="微软雅黑" panose="020B0503020204020204" charset="-122"/>
              </a:rPr>
              <a:t>多工况有限</a:t>
            </a:r>
            <a:r>
              <a:rPr lang="zh-CN" altLang="en-US" sz="2500" b="1" dirty="0">
                <a:solidFill>
                  <a:srgbClr val="102A43"/>
                </a:solidFill>
                <a:latin typeface="+mj-lt"/>
                <a:ea typeface="微软雅黑" panose="020B0503020204020204" charset="-122"/>
              </a:rPr>
              <a:t>温度</a:t>
            </a:r>
            <a:r>
              <a:rPr lang="en-US" altLang="zh-CN" sz="2500" b="1" dirty="0">
                <a:solidFill>
                  <a:srgbClr val="102A43"/>
                </a:solidFill>
                <a:latin typeface="Times New Roman" panose="02020603050405020304" charset="0"/>
                <a:ea typeface="微软雅黑" panose="020B0503020204020204" charset="-122"/>
                <a:cs typeface="Times New Roman" panose="02020603050405020304" charset="0"/>
              </a:rPr>
              <a:t>DFT</a:t>
            </a:r>
            <a:r>
              <a:rPr lang="zh-CN" altLang="en-US" sz="2500" b="1" dirty="0">
                <a:solidFill>
                  <a:srgbClr val="102A43"/>
                </a:solidFill>
                <a:latin typeface="微软雅黑" panose="020B0503020204020204" charset="-122"/>
                <a:ea typeface="微软雅黑" panose="020B0503020204020204" charset="-122"/>
              </a:rPr>
              <a:t>数据库</a:t>
            </a:r>
            <a:endParaRPr lang="zh-CN" altLang="en-US" sz="2500" b="1" dirty="0">
              <a:solidFill>
                <a:srgbClr val="102A43"/>
              </a:solidFill>
              <a:latin typeface="微软雅黑" panose="020B0503020204020204" charset="-122"/>
              <a:ea typeface="微软雅黑" panose="020B0503020204020204" charset="-122"/>
            </a:endParaRPr>
          </a:p>
        </p:txBody>
      </p:sp>
      <p:sp>
        <p:nvSpPr>
          <p:cNvPr id="5" name="Text 5"/>
          <p:cNvSpPr/>
          <p:nvPr/>
        </p:nvSpPr>
        <p:spPr>
          <a:xfrm>
            <a:off x="595630" y="1388745"/>
            <a:ext cx="5111750" cy="384175"/>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102A43"/>
                </a:solidFill>
                <a:latin typeface="+mj-ea"/>
                <a:ea typeface="+mj-ea"/>
                <a:cs typeface="Noto Sans CJK SC" pitchFamily="34" charset="-120"/>
              </a:rPr>
              <a:t>结构空间：覆盖激光诱导的关键构型</a:t>
            </a:r>
            <a:endParaRPr lang="en-US" dirty="0">
              <a:latin typeface="+mj-ea"/>
              <a:ea typeface="+mj-ea"/>
            </a:endParaRPr>
          </a:p>
        </p:txBody>
      </p:sp>
      <p:sp>
        <p:nvSpPr>
          <p:cNvPr id="33" name="Shape 33"/>
          <p:cNvSpPr/>
          <p:nvPr/>
        </p:nvSpPr>
        <p:spPr>
          <a:xfrm>
            <a:off x="6554470" y="1273175"/>
            <a:ext cx="5299075" cy="5041900"/>
          </a:xfrm>
          <a:prstGeom prst="roundRect">
            <a:avLst>
              <a:gd name="adj" fmla="val 1717"/>
            </a:avLst>
          </a:prstGeom>
          <a:solidFill>
            <a:srgbClr val="FFFFFF"/>
          </a:solidFill>
          <a:ln w="13970">
            <a:solidFill>
              <a:srgbClr val="CEDAE6"/>
            </a:solidFill>
            <a:prstDash val="solid"/>
          </a:ln>
          <a:effectLst>
            <a:outerShdw blurRad="19050" dist="50800" dir="2700000" algn="bl" rotWithShape="0">
              <a:srgbClr val="B8C6D2">
                <a:alpha val="18000"/>
              </a:srgbClr>
            </a:outerShdw>
          </a:effectLst>
        </p:spPr>
        <p:txBody>
          <a:bodyPr>
            <a:noAutofit/>
          </a:bodyPr>
          <a:lstStyle/>
          <a:p>
            <a:pPr lvl="0" algn="l">
              <a:buClrTx/>
              <a:buSzTx/>
              <a:buFontTx/>
            </a:pPr>
            <a:endParaRPr lang="zh-CN" altLang="en-US">
              <a:sym typeface="+mn-ea"/>
            </a:endParaRPr>
          </a:p>
        </p:txBody>
      </p:sp>
      <p:sp>
        <p:nvSpPr>
          <p:cNvPr id="58" name="Text 56"/>
          <p:cNvSpPr/>
          <p:nvPr/>
        </p:nvSpPr>
        <p:spPr>
          <a:xfrm>
            <a:off x="637540" y="5864225"/>
            <a:ext cx="5727065" cy="384175"/>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400" dirty="0" err="1">
                <a:solidFill>
                  <a:srgbClr val="18324A"/>
                </a:solidFill>
                <a:latin typeface="+mj-ea"/>
                <a:ea typeface="+mj-ea"/>
              </a:rPr>
              <a:t>分离“结构变化”和“纯Te效应</a:t>
            </a:r>
            <a:r>
              <a:rPr lang="en-US" sz="1400" dirty="0">
                <a:solidFill>
                  <a:srgbClr val="18324A"/>
                </a:solidFill>
                <a:latin typeface="+mj-ea"/>
                <a:ea typeface="+mj-ea"/>
              </a:rPr>
              <a:t>”，</a:t>
            </a:r>
            <a:r>
              <a:rPr lang="zh-CN" altLang="en-US" sz="1400" dirty="0">
                <a:solidFill>
                  <a:srgbClr val="18324A"/>
                </a:solidFill>
                <a:latin typeface="+mj-ea"/>
                <a:ea typeface="+mj-ea"/>
              </a:rPr>
              <a:t>验证</a:t>
            </a:r>
            <a:r>
              <a:rPr lang="en-US" sz="1400" dirty="0" err="1">
                <a:solidFill>
                  <a:srgbClr val="18324A"/>
                </a:solidFill>
                <a:latin typeface="+mj-ea"/>
                <a:ea typeface="+mj-ea"/>
              </a:rPr>
              <a:t>模型是否真正感知Te的关键</a:t>
            </a:r>
            <a:r>
              <a:rPr lang="en-US" sz="1200" dirty="0">
                <a:solidFill>
                  <a:srgbClr val="18324A"/>
                </a:solidFill>
                <a:latin typeface="+mj-ea"/>
                <a:ea typeface="+mj-ea"/>
              </a:rPr>
              <a:t>。</a:t>
            </a:r>
            <a:endParaRPr lang="en-US" sz="1200" dirty="0">
              <a:solidFill>
                <a:srgbClr val="18324A"/>
              </a:solidFill>
              <a:latin typeface="+mj-ea"/>
              <a:ea typeface="+mj-ea"/>
            </a:endParaRPr>
          </a:p>
        </p:txBody>
      </p:sp>
      <p:graphicFrame>
        <p:nvGraphicFramePr>
          <p:cNvPr id="60" name="对象 59"/>
          <p:cNvGraphicFramePr>
            <a:graphicFrameLocks noChangeAspect="1"/>
          </p:cNvGraphicFramePr>
          <p:nvPr/>
        </p:nvGraphicFramePr>
        <p:xfrm>
          <a:off x="6287135" y="147320"/>
          <a:ext cx="2546985" cy="498475"/>
        </p:xfrm>
        <a:graphic>
          <a:graphicData uri="http://schemas.openxmlformats.org/presentationml/2006/ole">
            <mc:AlternateContent xmlns:mc="http://schemas.openxmlformats.org/markup-compatibility/2006">
              <mc:Choice xmlns:v="urn:schemas-microsoft-com:vml" Requires="v">
                <p:oleObj spid="_x0000_s0" name="Equation" r:id="rId1" imgW="28041600" imgH="5486400" progId="Equation.DSMT4">
                  <p:embed/>
                </p:oleObj>
              </mc:Choice>
              <mc:Fallback>
                <p:oleObj name="Equation" r:id="rId1" imgW="28041600" imgH="5486400" progId="Equation.DSMT4">
                  <p:embed/>
                  <p:pic>
                    <p:nvPicPr>
                      <p:cNvPr id="0" name="图片 -1"/>
                      <p:cNvPicPr/>
                      <p:nvPr/>
                    </p:nvPicPr>
                    <p:blipFill>
                      <a:blip r:embed="rId2"/>
                      <a:stretch>
                        <a:fillRect/>
                      </a:stretch>
                    </p:blipFill>
                    <p:spPr>
                      <a:xfrm>
                        <a:off x="6287135" y="147320"/>
                        <a:ext cx="2546985" cy="498475"/>
                      </a:xfrm>
                      <a:prstGeom prst="rect">
                        <a:avLst/>
                      </a:prstGeom>
                    </p:spPr>
                  </p:pic>
                </p:oleObj>
              </mc:Fallback>
            </mc:AlternateContent>
          </a:graphicData>
        </a:graphic>
      </p:graphicFrame>
      <p:grpSp>
        <p:nvGrpSpPr>
          <p:cNvPr id="104" name="组合 103"/>
          <p:cNvGrpSpPr/>
          <p:nvPr/>
        </p:nvGrpSpPr>
        <p:grpSpPr>
          <a:xfrm>
            <a:off x="716280" y="1772920"/>
            <a:ext cx="5570220" cy="1673860"/>
            <a:chOff x="1227" y="2148"/>
            <a:chExt cx="8772" cy="2636"/>
          </a:xfrm>
        </p:grpSpPr>
        <p:sp>
          <p:nvSpPr>
            <p:cNvPr id="6" name="Shape 6"/>
            <p:cNvSpPr/>
            <p:nvPr/>
          </p:nvSpPr>
          <p:spPr>
            <a:xfrm>
              <a:off x="1834" y="2194"/>
              <a:ext cx="2502" cy="696"/>
            </a:xfrm>
            <a:prstGeom prst="roundRect">
              <a:avLst>
                <a:gd name="adj" fmla="val 8511"/>
              </a:avLst>
            </a:prstGeom>
            <a:solidFill>
              <a:srgbClr val="EAF3FA"/>
            </a:solidFill>
            <a:ln w="13970">
              <a:solidFill>
                <a:srgbClr val="2F6B9A"/>
              </a:solidFill>
              <a:prstDash val="solid"/>
            </a:ln>
          </p:spPr>
          <p:txBody>
            <a:bodyPr/>
            <a:lstStyle/>
            <a:p>
              <a:endParaRPr lang="zh-CN" altLang="en-US"/>
            </a:p>
          </p:txBody>
        </p:sp>
        <p:sp>
          <p:nvSpPr>
            <p:cNvPr id="7" name="Text 7"/>
            <p:cNvSpPr/>
            <p:nvPr/>
          </p:nvSpPr>
          <p:spPr>
            <a:xfrm>
              <a:off x="1834" y="2194"/>
              <a:ext cx="2502" cy="696"/>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102A43"/>
                  </a:solidFill>
                  <a:latin typeface="+mj-ea"/>
                  <a:ea typeface="+mj-ea"/>
                  <a:cs typeface="Noto Sans CJK SC" pitchFamily="34" charset="-120"/>
                </a:rPr>
                <a:t>完整单晶</a:t>
              </a:r>
              <a:endParaRPr lang="en-US" sz="1600" dirty="0">
                <a:latin typeface="+mj-ea"/>
                <a:ea typeface="+mj-ea"/>
              </a:endParaRPr>
            </a:p>
          </p:txBody>
        </p:sp>
        <p:sp>
          <p:nvSpPr>
            <p:cNvPr id="9" name="Shape 9"/>
            <p:cNvSpPr/>
            <p:nvPr/>
          </p:nvSpPr>
          <p:spPr>
            <a:xfrm>
              <a:off x="6351" y="2148"/>
              <a:ext cx="2501" cy="720"/>
            </a:xfrm>
            <a:prstGeom prst="roundRect">
              <a:avLst>
                <a:gd name="adj" fmla="val 8511"/>
              </a:avLst>
            </a:prstGeom>
            <a:solidFill>
              <a:srgbClr val="EAF3FA"/>
            </a:solidFill>
            <a:ln w="13970">
              <a:solidFill>
                <a:srgbClr val="2F6B9A"/>
              </a:solidFill>
              <a:prstDash val="solid"/>
            </a:ln>
          </p:spPr>
          <p:txBody>
            <a:bodyPr/>
            <a:lstStyle/>
            <a:p>
              <a:endParaRPr lang="zh-CN" altLang="en-US"/>
            </a:p>
          </p:txBody>
        </p:sp>
        <p:sp>
          <p:nvSpPr>
            <p:cNvPr id="10" name="Text 10"/>
            <p:cNvSpPr/>
            <p:nvPr/>
          </p:nvSpPr>
          <p:spPr>
            <a:xfrm>
              <a:off x="6303" y="2171"/>
              <a:ext cx="2501" cy="697"/>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zh-CN" altLang="en-US" sz="1600" b="1" dirty="0">
                  <a:solidFill>
                    <a:srgbClr val="102A43"/>
                  </a:solidFill>
                  <a:latin typeface="+mj-ea"/>
                  <a:ea typeface="+mj-ea"/>
                </a:rPr>
                <a:t>结构扰</a:t>
              </a:r>
              <a:r>
                <a:rPr lang="en-US" sz="1600" b="1" dirty="0">
                  <a:solidFill>
                    <a:srgbClr val="102A43"/>
                  </a:solidFill>
                  <a:latin typeface="+mj-ea"/>
                  <a:ea typeface="+mj-ea"/>
                </a:rPr>
                <a:t>动</a:t>
              </a:r>
              <a:endParaRPr lang="en-US" sz="1600" b="1" dirty="0">
                <a:solidFill>
                  <a:srgbClr val="102A43"/>
                </a:solidFill>
                <a:latin typeface="+mj-ea"/>
                <a:ea typeface="+mj-ea"/>
              </a:endParaRPr>
            </a:p>
          </p:txBody>
        </p:sp>
        <p:sp>
          <p:nvSpPr>
            <p:cNvPr id="12" name="Shape 12"/>
            <p:cNvSpPr/>
            <p:nvPr/>
          </p:nvSpPr>
          <p:spPr>
            <a:xfrm>
              <a:off x="1835" y="3496"/>
              <a:ext cx="2503" cy="681"/>
            </a:xfrm>
            <a:prstGeom prst="roundRect">
              <a:avLst>
                <a:gd name="adj" fmla="val 8511"/>
              </a:avLst>
            </a:prstGeom>
            <a:solidFill>
              <a:srgbClr val="EAF3FA"/>
            </a:solidFill>
            <a:ln w="13970">
              <a:solidFill>
                <a:srgbClr val="2F6B9A"/>
              </a:solidFill>
              <a:prstDash val="solid"/>
            </a:ln>
          </p:spPr>
          <p:txBody>
            <a:bodyPr/>
            <a:lstStyle/>
            <a:p>
              <a:endParaRPr lang="zh-CN" altLang="en-US"/>
            </a:p>
          </p:txBody>
        </p:sp>
        <p:sp>
          <p:nvSpPr>
            <p:cNvPr id="13" name="Text 13"/>
            <p:cNvSpPr/>
            <p:nvPr/>
          </p:nvSpPr>
          <p:spPr>
            <a:xfrm>
              <a:off x="1835" y="3494"/>
              <a:ext cx="2503" cy="683"/>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rgbClr val="102A43"/>
                  </a:solidFill>
                  <a:latin typeface="+mj-ea"/>
                  <a:ea typeface="+mj-ea"/>
                </a:rPr>
                <a:t>缺陷结构</a:t>
              </a:r>
              <a:endParaRPr lang="zh-CN" altLang="en-US" sz="1600" b="1" dirty="0">
                <a:solidFill>
                  <a:srgbClr val="102A43"/>
                </a:solidFill>
                <a:latin typeface="+mj-ea"/>
                <a:ea typeface="+mj-ea"/>
              </a:endParaRPr>
            </a:p>
          </p:txBody>
        </p:sp>
        <p:sp>
          <p:nvSpPr>
            <p:cNvPr id="16" name="Text 16"/>
            <p:cNvSpPr/>
            <p:nvPr/>
          </p:nvSpPr>
          <p:spPr>
            <a:xfrm>
              <a:off x="1834" y="3005"/>
              <a:ext cx="2501" cy="490"/>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solidFill>
                    <a:srgbClr val="102A43"/>
                  </a:solidFill>
                  <a:latin typeface="+mj-ea"/>
                  <a:ea typeface="+mj-ea"/>
                </a:rPr>
                <a:t>理想金刚石结构</a:t>
              </a:r>
              <a:endParaRPr lang="zh-CN" altLang="en-US" sz="1400" dirty="0">
                <a:solidFill>
                  <a:srgbClr val="102A43"/>
                </a:solidFill>
                <a:latin typeface="+mj-ea"/>
                <a:ea typeface="+mj-ea"/>
              </a:endParaRPr>
            </a:p>
          </p:txBody>
        </p:sp>
        <p:sp>
          <p:nvSpPr>
            <p:cNvPr id="19" name="Text 19"/>
            <p:cNvSpPr/>
            <p:nvPr/>
          </p:nvSpPr>
          <p:spPr>
            <a:xfrm>
              <a:off x="5395" y="3004"/>
              <a:ext cx="4605" cy="492"/>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400" dirty="0">
                  <a:solidFill>
                    <a:srgbClr val="102A43"/>
                  </a:solidFill>
                  <a:latin typeface="+mj-ea"/>
                  <a:ea typeface="+mj-ea"/>
                </a:rPr>
                <a:t>随机热扰动、拉伸 、 压缩 等</a:t>
              </a:r>
              <a:endParaRPr lang="zh-CN" altLang="en-US" sz="1400" dirty="0">
                <a:solidFill>
                  <a:srgbClr val="102A43"/>
                </a:solidFill>
                <a:latin typeface="+mj-ea"/>
                <a:ea typeface="+mj-ea"/>
              </a:endParaRPr>
            </a:p>
          </p:txBody>
        </p:sp>
        <p:sp>
          <p:nvSpPr>
            <p:cNvPr id="22" name="Text 22"/>
            <p:cNvSpPr/>
            <p:nvPr/>
          </p:nvSpPr>
          <p:spPr>
            <a:xfrm>
              <a:off x="1227" y="4302"/>
              <a:ext cx="4077" cy="483"/>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zh-CN" altLang="en-US" sz="1400" dirty="0">
                  <a:solidFill>
                    <a:srgbClr val="102A43"/>
                  </a:solidFill>
                  <a:latin typeface="+mj-ea"/>
                  <a:ea typeface="+mj-ea"/>
                  <a:sym typeface="+mn-ea"/>
                </a:rPr>
                <a:t>空位  </a:t>
              </a:r>
              <a:r>
                <a:rPr lang="en-US" altLang="zh-CN" sz="1400" dirty="0">
                  <a:solidFill>
                    <a:srgbClr val="102A43"/>
                  </a:solidFill>
                  <a:latin typeface="+mj-ea"/>
                  <a:ea typeface="+mj-ea"/>
                  <a:sym typeface="+mn-ea"/>
                </a:rPr>
                <a:t>、</a:t>
              </a:r>
              <a:r>
                <a:rPr lang="zh-CN" altLang="en-US" sz="1400" dirty="0">
                  <a:solidFill>
                    <a:srgbClr val="102A43"/>
                  </a:solidFill>
                  <a:latin typeface="+mj-ea"/>
                  <a:ea typeface="+mj-ea"/>
                  <a:sym typeface="+mn-ea"/>
                </a:rPr>
                <a:t>位错等相关</a:t>
              </a:r>
              <a:endParaRPr lang="zh-CN" altLang="en-US" sz="1400" dirty="0">
                <a:solidFill>
                  <a:srgbClr val="102A43"/>
                </a:solidFill>
                <a:latin typeface="+mj-ea"/>
                <a:ea typeface="+mj-ea"/>
                <a:sym typeface="+mn-ea"/>
              </a:endParaRPr>
            </a:p>
          </p:txBody>
        </p:sp>
        <p:sp>
          <p:nvSpPr>
            <p:cNvPr id="59" name="Shape 12"/>
            <p:cNvSpPr/>
            <p:nvPr/>
          </p:nvSpPr>
          <p:spPr>
            <a:xfrm flipV="1">
              <a:off x="6352" y="3496"/>
              <a:ext cx="2502" cy="684"/>
            </a:xfrm>
            <a:prstGeom prst="roundRect">
              <a:avLst>
                <a:gd name="adj" fmla="val 8511"/>
              </a:avLst>
            </a:prstGeom>
            <a:solidFill>
              <a:srgbClr val="EAF3FA"/>
            </a:solidFill>
            <a:ln w="13970">
              <a:solidFill>
                <a:srgbClr val="2F6B9A"/>
              </a:solidFill>
              <a:prstDash val="solid"/>
            </a:ln>
          </p:spPr>
          <p:txBody>
            <a:bodyPr/>
            <a:lstStyle/>
            <a:p>
              <a:endParaRPr lang="zh-CN" altLang="en-US"/>
            </a:p>
          </p:txBody>
        </p:sp>
        <p:sp>
          <p:nvSpPr>
            <p:cNvPr id="63" name="Text 13"/>
            <p:cNvSpPr/>
            <p:nvPr/>
          </p:nvSpPr>
          <p:spPr>
            <a:xfrm>
              <a:off x="6353" y="3494"/>
              <a:ext cx="2501" cy="683"/>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600" b="1" dirty="0">
                  <a:solidFill>
                    <a:srgbClr val="102A43"/>
                  </a:solidFill>
                  <a:latin typeface="+mj-ea"/>
                  <a:ea typeface="+mj-ea"/>
                </a:rPr>
                <a:t>无序结构</a:t>
              </a:r>
              <a:endParaRPr lang="zh-CN" altLang="en-US" sz="1600" b="1" dirty="0">
                <a:solidFill>
                  <a:srgbClr val="102A43"/>
                </a:solidFill>
                <a:latin typeface="+mj-ea"/>
                <a:ea typeface="+mj-ea"/>
              </a:endParaRPr>
            </a:p>
          </p:txBody>
        </p:sp>
        <p:sp>
          <p:nvSpPr>
            <p:cNvPr id="66" name="Text 22"/>
            <p:cNvSpPr/>
            <p:nvPr/>
          </p:nvSpPr>
          <p:spPr>
            <a:xfrm>
              <a:off x="5547" y="4302"/>
              <a:ext cx="4337" cy="482"/>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zh-CN" altLang="en-US" sz="1400" dirty="0">
                  <a:solidFill>
                    <a:srgbClr val="102A43"/>
                  </a:solidFill>
                  <a:latin typeface="+mj-ea"/>
                  <a:ea typeface="+mj-ea"/>
                  <a:sym typeface="+mn-ea"/>
                </a:rPr>
                <a:t>非晶 、 液态构型</a:t>
              </a:r>
              <a:endParaRPr lang="zh-CN" altLang="en-US" sz="1400" dirty="0">
                <a:solidFill>
                  <a:srgbClr val="102A43"/>
                </a:solidFill>
                <a:latin typeface="+mj-ea"/>
                <a:ea typeface="+mj-ea"/>
                <a:sym typeface="+mn-ea"/>
              </a:endParaRPr>
            </a:p>
          </p:txBody>
        </p:sp>
      </p:grpSp>
      <p:sp>
        <p:nvSpPr>
          <p:cNvPr id="20" name="Text 34"/>
          <p:cNvSpPr/>
          <p:nvPr/>
        </p:nvSpPr>
        <p:spPr>
          <a:xfrm>
            <a:off x="638290" y="3687433"/>
            <a:ext cx="3931920" cy="292608"/>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6E5AA6"/>
                </a:solidFill>
                <a:latin typeface="+mj-ea"/>
                <a:ea typeface="+mj-ea"/>
                <a:cs typeface="Noto Sans CJK SC" pitchFamily="34" charset="-120"/>
              </a:rPr>
              <a:t>电子温度维度与两类采样</a:t>
            </a:r>
            <a:endParaRPr lang="en-US" dirty="0">
              <a:latin typeface="+mj-ea"/>
              <a:ea typeface="+mj-ea"/>
            </a:endParaRPr>
          </a:p>
        </p:txBody>
      </p:sp>
      <p:grpSp>
        <p:nvGrpSpPr>
          <p:cNvPr id="24" name="组合 23"/>
          <p:cNvGrpSpPr/>
          <p:nvPr/>
        </p:nvGrpSpPr>
        <p:grpSpPr>
          <a:xfrm>
            <a:off x="3303270" y="3628390"/>
            <a:ext cx="2891155" cy="445135"/>
            <a:chOff x="11638" y="2851"/>
            <a:chExt cx="5818" cy="951"/>
          </a:xfrm>
        </p:grpSpPr>
        <p:sp>
          <p:nvSpPr>
            <p:cNvPr id="25" name="Shape 36"/>
            <p:cNvSpPr/>
            <p:nvPr/>
          </p:nvSpPr>
          <p:spPr>
            <a:xfrm>
              <a:off x="11796" y="2851"/>
              <a:ext cx="605" cy="605"/>
            </a:xfrm>
            <a:prstGeom prst="ellipse">
              <a:avLst/>
            </a:prstGeom>
            <a:solidFill>
              <a:srgbClr val="B9C8D8">
                <a:alpha val="80000"/>
              </a:srgbClr>
            </a:solidFill>
            <a:ln w="12700">
              <a:solidFill>
                <a:srgbClr val="6E5AA6"/>
              </a:solidFill>
              <a:prstDash val="solid"/>
            </a:ln>
          </p:spPr>
          <p:txBody>
            <a:bodyPr/>
            <a:lstStyle/>
            <a:p>
              <a:endParaRPr lang="zh-CN" altLang="en-US"/>
            </a:p>
          </p:txBody>
        </p:sp>
        <p:sp>
          <p:nvSpPr>
            <p:cNvPr id="26" name="Text 37"/>
            <p:cNvSpPr/>
            <p:nvPr/>
          </p:nvSpPr>
          <p:spPr>
            <a:xfrm>
              <a:off x="11638" y="3514"/>
              <a:ext cx="922" cy="288"/>
            </a:xfrm>
            <a:prstGeom prst="rect">
              <a:avLst/>
            </a:prstGeom>
            <a:noFill/>
          </p:spPr>
          <p:txBody>
            <a:bodyPr wrap="square" lIns="0" tIns="0" rIns="0" bIns="0" rtlCol="0" anchor="ctr">
              <a:normAutofit fontScale="90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60758A"/>
                  </a:solidFill>
                  <a:latin typeface="Times New Roman" panose="02020603050405020304" charset="0"/>
                  <a:ea typeface="Noto Sans CJK SC" pitchFamily="34" charset="-122"/>
                  <a:cs typeface="Times New Roman" panose="02020603050405020304" charset="0"/>
                </a:rPr>
                <a:t>300 K</a:t>
              </a:r>
              <a:endParaRPr lang="en-US" sz="1000" dirty="0">
                <a:latin typeface="Times New Roman" panose="02020603050405020304" charset="0"/>
                <a:cs typeface="Times New Roman" panose="02020603050405020304" charset="0"/>
              </a:endParaRPr>
            </a:p>
          </p:txBody>
        </p:sp>
        <p:sp>
          <p:nvSpPr>
            <p:cNvPr id="32" name="Shape 38"/>
            <p:cNvSpPr/>
            <p:nvPr/>
          </p:nvSpPr>
          <p:spPr>
            <a:xfrm>
              <a:off x="12415" y="3154"/>
              <a:ext cx="317" cy="0"/>
            </a:xfrm>
            <a:prstGeom prst="line">
              <a:avLst/>
            </a:prstGeom>
            <a:noFill/>
            <a:ln w="16510">
              <a:solidFill>
                <a:srgbClr val="9F92C7"/>
              </a:solidFill>
              <a:prstDash val="solid"/>
              <a:headEnd type="none"/>
              <a:tailEnd type="triangle"/>
            </a:ln>
          </p:spPr>
          <p:txBody>
            <a:bodyPr/>
            <a:lstStyle/>
            <a:p>
              <a:endParaRPr lang="zh-CN" altLang="en-US"/>
            </a:p>
          </p:txBody>
        </p:sp>
        <p:sp>
          <p:nvSpPr>
            <p:cNvPr id="54" name="Shape 39"/>
            <p:cNvSpPr/>
            <p:nvPr/>
          </p:nvSpPr>
          <p:spPr>
            <a:xfrm>
              <a:off x="12775" y="2851"/>
              <a:ext cx="605" cy="605"/>
            </a:xfrm>
            <a:prstGeom prst="ellipse">
              <a:avLst/>
            </a:prstGeom>
            <a:solidFill>
              <a:srgbClr val="6E5AA6"/>
            </a:solidFill>
            <a:ln w="12700">
              <a:solidFill>
                <a:srgbClr val="6E5AA6"/>
              </a:solidFill>
              <a:prstDash val="solid"/>
            </a:ln>
          </p:spPr>
          <p:txBody>
            <a:bodyPr/>
            <a:lstStyle/>
            <a:p>
              <a:endParaRPr lang="zh-CN" altLang="en-US"/>
            </a:p>
          </p:txBody>
        </p:sp>
        <p:sp>
          <p:nvSpPr>
            <p:cNvPr id="64" name="Text 40"/>
            <p:cNvSpPr/>
            <p:nvPr/>
          </p:nvSpPr>
          <p:spPr>
            <a:xfrm>
              <a:off x="12617" y="3514"/>
              <a:ext cx="922" cy="288"/>
            </a:xfrm>
            <a:prstGeom prst="rect">
              <a:avLst/>
            </a:prstGeom>
            <a:noFill/>
          </p:spPr>
          <p:txBody>
            <a:bodyPr wrap="square" lIns="0" tIns="0" rIns="0" bIns="0" rtlCol="0" anchor="ctr">
              <a:normAutofit fontScale="90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60758A"/>
                  </a:solidFill>
                  <a:latin typeface="Times New Roman" panose="02020603050405020304" charset="0"/>
                  <a:ea typeface="Noto Sans CJK SC" pitchFamily="34" charset="-122"/>
                  <a:cs typeface="Times New Roman" panose="02020603050405020304" charset="0"/>
                </a:rPr>
                <a:t>3k</a:t>
              </a:r>
              <a:endParaRPr lang="en-US" sz="1000" dirty="0">
                <a:latin typeface="Times New Roman" panose="02020603050405020304" charset="0"/>
                <a:cs typeface="Times New Roman" panose="02020603050405020304" charset="0"/>
              </a:endParaRPr>
            </a:p>
          </p:txBody>
        </p:sp>
        <p:sp>
          <p:nvSpPr>
            <p:cNvPr id="67" name="Shape 41"/>
            <p:cNvSpPr/>
            <p:nvPr/>
          </p:nvSpPr>
          <p:spPr>
            <a:xfrm>
              <a:off x="13394" y="3154"/>
              <a:ext cx="317" cy="0"/>
            </a:xfrm>
            <a:prstGeom prst="line">
              <a:avLst/>
            </a:prstGeom>
            <a:noFill/>
            <a:ln w="16510">
              <a:solidFill>
                <a:srgbClr val="9F92C7"/>
              </a:solidFill>
              <a:prstDash val="solid"/>
              <a:headEnd type="none"/>
              <a:tailEnd type="triangle"/>
            </a:ln>
          </p:spPr>
          <p:txBody>
            <a:bodyPr/>
            <a:lstStyle/>
            <a:p>
              <a:endParaRPr lang="zh-CN" altLang="en-US"/>
            </a:p>
          </p:txBody>
        </p:sp>
        <p:sp>
          <p:nvSpPr>
            <p:cNvPr id="72" name="Shape 42"/>
            <p:cNvSpPr/>
            <p:nvPr/>
          </p:nvSpPr>
          <p:spPr>
            <a:xfrm>
              <a:off x="13754" y="2851"/>
              <a:ext cx="605" cy="605"/>
            </a:xfrm>
            <a:prstGeom prst="ellipse">
              <a:avLst/>
            </a:prstGeom>
            <a:solidFill>
              <a:srgbClr val="6E5AA6"/>
            </a:solidFill>
            <a:ln w="12700">
              <a:solidFill>
                <a:srgbClr val="6E5AA6"/>
              </a:solidFill>
              <a:prstDash val="solid"/>
            </a:ln>
          </p:spPr>
          <p:txBody>
            <a:bodyPr/>
            <a:lstStyle/>
            <a:p>
              <a:endParaRPr lang="zh-CN" altLang="en-US"/>
            </a:p>
          </p:txBody>
        </p:sp>
        <p:sp>
          <p:nvSpPr>
            <p:cNvPr id="73" name="Text 43"/>
            <p:cNvSpPr/>
            <p:nvPr/>
          </p:nvSpPr>
          <p:spPr>
            <a:xfrm>
              <a:off x="13596" y="3514"/>
              <a:ext cx="922" cy="288"/>
            </a:xfrm>
            <a:prstGeom prst="rect">
              <a:avLst/>
            </a:prstGeom>
            <a:noFill/>
          </p:spPr>
          <p:txBody>
            <a:bodyPr wrap="square" lIns="0" tIns="0" rIns="0" bIns="0" rtlCol="0" anchor="ctr">
              <a:normAutofit fontScale="90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60758A"/>
                  </a:solidFill>
                  <a:latin typeface="Times New Roman" panose="02020603050405020304" charset="0"/>
                  <a:ea typeface="Noto Sans CJK SC" pitchFamily="34" charset="-122"/>
                  <a:cs typeface="Times New Roman" panose="02020603050405020304" charset="0"/>
                </a:rPr>
                <a:t>6k</a:t>
              </a:r>
              <a:endParaRPr lang="en-US" sz="840" dirty="0"/>
            </a:p>
          </p:txBody>
        </p:sp>
        <p:sp>
          <p:nvSpPr>
            <p:cNvPr id="74" name="Shape 44"/>
            <p:cNvSpPr/>
            <p:nvPr/>
          </p:nvSpPr>
          <p:spPr>
            <a:xfrm>
              <a:off x="14374" y="3154"/>
              <a:ext cx="317" cy="0"/>
            </a:xfrm>
            <a:prstGeom prst="line">
              <a:avLst/>
            </a:prstGeom>
            <a:noFill/>
            <a:ln w="16510">
              <a:solidFill>
                <a:srgbClr val="9F92C7"/>
              </a:solidFill>
              <a:prstDash val="solid"/>
              <a:headEnd type="none"/>
              <a:tailEnd type="triangle"/>
            </a:ln>
          </p:spPr>
          <p:txBody>
            <a:bodyPr/>
            <a:lstStyle/>
            <a:p>
              <a:endParaRPr lang="zh-CN" altLang="en-US"/>
            </a:p>
          </p:txBody>
        </p:sp>
        <p:sp>
          <p:nvSpPr>
            <p:cNvPr id="75" name="Shape 45"/>
            <p:cNvSpPr/>
            <p:nvPr/>
          </p:nvSpPr>
          <p:spPr>
            <a:xfrm>
              <a:off x="14734" y="2851"/>
              <a:ext cx="605" cy="605"/>
            </a:xfrm>
            <a:prstGeom prst="ellipse">
              <a:avLst/>
            </a:prstGeom>
            <a:solidFill>
              <a:srgbClr val="6E5AA6"/>
            </a:solidFill>
            <a:ln w="12700">
              <a:solidFill>
                <a:srgbClr val="6E5AA6"/>
              </a:solidFill>
              <a:prstDash val="solid"/>
            </a:ln>
          </p:spPr>
          <p:txBody>
            <a:bodyPr/>
            <a:lstStyle/>
            <a:p>
              <a:endParaRPr lang="zh-CN" altLang="en-US"/>
            </a:p>
          </p:txBody>
        </p:sp>
        <p:sp>
          <p:nvSpPr>
            <p:cNvPr id="76" name="Text 46"/>
            <p:cNvSpPr/>
            <p:nvPr/>
          </p:nvSpPr>
          <p:spPr>
            <a:xfrm>
              <a:off x="14575" y="3514"/>
              <a:ext cx="922" cy="288"/>
            </a:xfrm>
            <a:prstGeom prst="rect">
              <a:avLst/>
            </a:prstGeom>
            <a:noFill/>
          </p:spPr>
          <p:txBody>
            <a:bodyPr wrap="square" lIns="0" tIns="0" rIns="0" bIns="0" rtlCol="0" anchor="ctr">
              <a:normAutofit fontScale="90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60758A"/>
                  </a:solidFill>
                  <a:latin typeface="Times New Roman" panose="02020603050405020304" charset="0"/>
                  <a:ea typeface="Noto Sans CJK SC" pitchFamily="34" charset="-122"/>
                  <a:cs typeface="Times New Roman" panose="02020603050405020304" charset="0"/>
                </a:rPr>
                <a:t>9k</a:t>
              </a:r>
              <a:endParaRPr lang="en-US" sz="1000" dirty="0">
                <a:latin typeface="Times New Roman" panose="02020603050405020304" charset="0"/>
                <a:cs typeface="Times New Roman" panose="02020603050405020304" charset="0"/>
              </a:endParaRPr>
            </a:p>
          </p:txBody>
        </p:sp>
        <p:sp>
          <p:nvSpPr>
            <p:cNvPr id="77" name="Shape 47"/>
            <p:cNvSpPr/>
            <p:nvPr/>
          </p:nvSpPr>
          <p:spPr>
            <a:xfrm>
              <a:off x="15353" y="3154"/>
              <a:ext cx="317" cy="0"/>
            </a:xfrm>
            <a:prstGeom prst="line">
              <a:avLst/>
            </a:prstGeom>
            <a:noFill/>
            <a:ln w="16510">
              <a:solidFill>
                <a:srgbClr val="9F92C7"/>
              </a:solidFill>
              <a:prstDash val="solid"/>
              <a:headEnd type="none"/>
              <a:tailEnd type="triangle"/>
            </a:ln>
          </p:spPr>
          <p:txBody>
            <a:bodyPr/>
            <a:lstStyle/>
            <a:p>
              <a:endParaRPr lang="zh-CN" altLang="en-US"/>
            </a:p>
          </p:txBody>
        </p:sp>
        <p:sp>
          <p:nvSpPr>
            <p:cNvPr id="78" name="Shape 48"/>
            <p:cNvSpPr/>
            <p:nvPr/>
          </p:nvSpPr>
          <p:spPr>
            <a:xfrm>
              <a:off x="15713" y="2851"/>
              <a:ext cx="605" cy="605"/>
            </a:xfrm>
            <a:prstGeom prst="ellipse">
              <a:avLst/>
            </a:prstGeom>
            <a:solidFill>
              <a:srgbClr val="6E5AA6"/>
            </a:solidFill>
            <a:ln w="12700">
              <a:solidFill>
                <a:srgbClr val="6E5AA6"/>
              </a:solidFill>
              <a:prstDash val="solid"/>
            </a:ln>
          </p:spPr>
          <p:txBody>
            <a:bodyPr/>
            <a:lstStyle/>
            <a:p>
              <a:endParaRPr lang="zh-CN" altLang="en-US"/>
            </a:p>
          </p:txBody>
        </p:sp>
        <p:sp>
          <p:nvSpPr>
            <p:cNvPr id="79" name="Text 49"/>
            <p:cNvSpPr/>
            <p:nvPr/>
          </p:nvSpPr>
          <p:spPr>
            <a:xfrm>
              <a:off x="15554" y="3514"/>
              <a:ext cx="922" cy="288"/>
            </a:xfrm>
            <a:prstGeom prst="rect">
              <a:avLst/>
            </a:prstGeom>
            <a:noFill/>
          </p:spPr>
          <p:txBody>
            <a:bodyPr wrap="square" lIns="0" tIns="0" rIns="0" bIns="0" rtlCol="0" anchor="ctr">
              <a:normAutofit fontScale="90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60758A"/>
                  </a:solidFill>
                  <a:latin typeface="Times New Roman" panose="02020603050405020304" charset="0"/>
                  <a:ea typeface="Noto Sans CJK SC" pitchFamily="34" charset="-122"/>
                  <a:cs typeface="Times New Roman" panose="02020603050405020304" charset="0"/>
                </a:rPr>
                <a:t>12k</a:t>
              </a:r>
              <a:endParaRPr lang="en-US" sz="1000" dirty="0">
                <a:latin typeface="Times New Roman" panose="02020603050405020304" charset="0"/>
                <a:cs typeface="Times New Roman" panose="02020603050405020304" charset="0"/>
              </a:endParaRPr>
            </a:p>
          </p:txBody>
        </p:sp>
        <p:sp>
          <p:nvSpPr>
            <p:cNvPr id="80" name="Shape 50"/>
            <p:cNvSpPr/>
            <p:nvPr/>
          </p:nvSpPr>
          <p:spPr>
            <a:xfrm>
              <a:off x="16332" y="3154"/>
              <a:ext cx="317" cy="0"/>
            </a:xfrm>
            <a:prstGeom prst="line">
              <a:avLst/>
            </a:prstGeom>
            <a:noFill/>
            <a:ln w="16510">
              <a:solidFill>
                <a:srgbClr val="9F92C7"/>
              </a:solidFill>
              <a:prstDash val="solid"/>
              <a:headEnd type="none"/>
              <a:tailEnd type="triangle"/>
            </a:ln>
          </p:spPr>
          <p:txBody>
            <a:bodyPr/>
            <a:lstStyle/>
            <a:p>
              <a:endParaRPr lang="zh-CN" altLang="en-US"/>
            </a:p>
          </p:txBody>
        </p:sp>
        <p:sp>
          <p:nvSpPr>
            <p:cNvPr id="81" name="Shape 51"/>
            <p:cNvSpPr/>
            <p:nvPr/>
          </p:nvSpPr>
          <p:spPr>
            <a:xfrm>
              <a:off x="16692" y="2851"/>
              <a:ext cx="605" cy="605"/>
            </a:xfrm>
            <a:prstGeom prst="ellipse">
              <a:avLst/>
            </a:prstGeom>
            <a:solidFill>
              <a:srgbClr val="6E5AA6"/>
            </a:solidFill>
            <a:ln w="12700">
              <a:solidFill>
                <a:srgbClr val="6E5AA6"/>
              </a:solidFill>
              <a:prstDash val="solid"/>
            </a:ln>
          </p:spPr>
          <p:txBody>
            <a:bodyPr/>
            <a:lstStyle/>
            <a:p>
              <a:endParaRPr lang="zh-CN" altLang="en-US"/>
            </a:p>
          </p:txBody>
        </p:sp>
        <p:sp>
          <p:nvSpPr>
            <p:cNvPr id="82" name="Text 52"/>
            <p:cNvSpPr/>
            <p:nvPr/>
          </p:nvSpPr>
          <p:spPr>
            <a:xfrm>
              <a:off x="16534" y="3514"/>
              <a:ext cx="922" cy="288"/>
            </a:xfrm>
            <a:prstGeom prst="rect">
              <a:avLst/>
            </a:prstGeom>
            <a:noFill/>
          </p:spPr>
          <p:txBody>
            <a:bodyPr wrap="square" lIns="0" tIns="0" rIns="0" bIns="0" rtlCol="0" anchor="ctr">
              <a:normAutofit fontScale="90000" lnSpcReduction="10000"/>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000" dirty="0">
                  <a:solidFill>
                    <a:srgbClr val="60758A"/>
                  </a:solidFill>
                  <a:latin typeface="Times New Roman" panose="02020603050405020304" charset="0"/>
                  <a:ea typeface="Noto Sans CJK SC" pitchFamily="34" charset="-122"/>
                  <a:cs typeface="Times New Roman" panose="02020603050405020304" charset="0"/>
                </a:rPr>
                <a:t>15k+</a:t>
              </a:r>
              <a:endParaRPr lang="en-US" sz="1000" dirty="0">
                <a:latin typeface="Times New Roman" panose="02020603050405020304" charset="0"/>
                <a:cs typeface="Times New Roman" panose="02020603050405020304" charset="0"/>
              </a:endParaRPr>
            </a:p>
          </p:txBody>
        </p:sp>
      </p:grpSp>
      <p:sp>
        <p:nvSpPr>
          <p:cNvPr id="83" name="Text 53"/>
          <p:cNvSpPr/>
          <p:nvPr/>
        </p:nvSpPr>
        <p:spPr>
          <a:xfrm>
            <a:off x="835025" y="4195533"/>
            <a:ext cx="3182112" cy="310896"/>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600" b="1" dirty="0">
                <a:solidFill>
                  <a:srgbClr val="102A43"/>
                </a:solidFill>
                <a:latin typeface="+mj-ea"/>
                <a:ea typeface="+mj-ea"/>
                <a:cs typeface="Noto Sans CJK SC" pitchFamily="34" charset="-120"/>
              </a:rPr>
              <a:t>A. </a:t>
            </a:r>
            <a:r>
              <a:rPr lang="zh-CN" altLang="en-US" sz="1600" b="1" dirty="0">
                <a:solidFill>
                  <a:srgbClr val="102A43"/>
                </a:solidFill>
                <a:latin typeface="+mj-ea"/>
                <a:ea typeface="+mj-ea"/>
                <a:cs typeface="Noto Sans CJK SC" pitchFamily="34" charset="-120"/>
              </a:rPr>
              <a:t>结构演化</a:t>
            </a:r>
            <a:r>
              <a:rPr lang="en-US" sz="1600" b="1" dirty="0">
                <a:solidFill>
                  <a:srgbClr val="102A43"/>
                </a:solidFill>
                <a:latin typeface="+mj-ea"/>
                <a:ea typeface="+mj-ea"/>
                <a:cs typeface="Noto Sans CJK SC" pitchFamily="34" charset="-120"/>
              </a:rPr>
              <a:t>主数据</a:t>
            </a:r>
            <a:r>
              <a:rPr lang="zh-CN" altLang="en-US" sz="1600" b="1" dirty="0">
                <a:solidFill>
                  <a:srgbClr val="102A43"/>
                </a:solidFill>
                <a:latin typeface="+mj-ea"/>
                <a:ea typeface="+mj-ea"/>
                <a:cs typeface="Noto Sans CJK SC" pitchFamily="34" charset="-120"/>
              </a:rPr>
              <a:t>集</a:t>
            </a:r>
            <a:endParaRPr lang="zh-CN" altLang="en-US" sz="1600" b="1" dirty="0">
              <a:solidFill>
                <a:srgbClr val="102A43"/>
              </a:solidFill>
              <a:latin typeface="+mj-ea"/>
              <a:ea typeface="+mj-ea"/>
              <a:cs typeface="Noto Sans CJK SC" pitchFamily="34" charset="-120"/>
            </a:endParaRPr>
          </a:p>
        </p:txBody>
      </p:sp>
      <p:sp>
        <p:nvSpPr>
          <p:cNvPr id="85" name="Text 55"/>
          <p:cNvSpPr/>
          <p:nvPr/>
        </p:nvSpPr>
        <p:spPr>
          <a:xfrm>
            <a:off x="835025" y="5048074"/>
            <a:ext cx="3182112" cy="307827"/>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buNone/>
            </a:pPr>
            <a:r>
              <a:rPr lang="en-US" sz="1600" b="1" dirty="0">
                <a:solidFill>
                  <a:srgbClr val="102A43"/>
                </a:solidFill>
                <a:latin typeface="+mj-ea"/>
                <a:ea typeface="+mj-ea"/>
              </a:rPr>
              <a:t>B. 固定结构多 </a:t>
            </a:r>
            <a:r>
              <a:rPr lang="en-US" sz="1600" b="1" dirty="0" err="1">
                <a:solidFill>
                  <a:srgbClr val="102A43"/>
                </a:solidFill>
                <a:latin typeface="+mj-ea"/>
                <a:ea typeface="+mj-ea"/>
              </a:rPr>
              <a:t>Te</a:t>
            </a:r>
            <a:r>
              <a:rPr lang="en-US" sz="1600" b="1" dirty="0">
                <a:solidFill>
                  <a:srgbClr val="102A43"/>
                </a:solidFill>
                <a:latin typeface="+mj-ea"/>
                <a:ea typeface="+mj-ea"/>
              </a:rPr>
              <a:t> </a:t>
            </a:r>
            <a:r>
              <a:rPr lang="zh-CN" altLang="en-US" sz="1600" b="1" dirty="0">
                <a:solidFill>
                  <a:srgbClr val="102A43"/>
                </a:solidFill>
                <a:latin typeface="+mj-ea"/>
                <a:ea typeface="+mj-ea"/>
              </a:rPr>
              <a:t>数据集</a:t>
            </a:r>
            <a:endParaRPr lang="zh-CN" altLang="en-US" sz="1600" b="1" dirty="0">
              <a:solidFill>
                <a:srgbClr val="102A43"/>
              </a:solidFill>
              <a:latin typeface="+mj-ea"/>
              <a:ea typeface="+mj-ea"/>
            </a:endParaRPr>
          </a:p>
        </p:txBody>
      </p:sp>
      <p:graphicFrame>
        <p:nvGraphicFramePr>
          <p:cNvPr id="86" name="对象 85"/>
          <p:cNvGraphicFramePr>
            <a:graphicFrameLocks noChangeAspect="1"/>
          </p:cNvGraphicFramePr>
          <p:nvPr/>
        </p:nvGraphicFramePr>
        <p:xfrm>
          <a:off x="1060450" y="4530725"/>
          <a:ext cx="2588895" cy="402590"/>
        </p:xfrm>
        <a:graphic>
          <a:graphicData uri="http://schemas.openxmlformats.org/presentationml/2006/ole">
            <mc:AlternateContent xmlns:mc="http://schemas.openxmlformats.org/markup-compatibility/2006">
              <mc:Choice xmlns:v="urn:schemas-microsoft-com:vml" Requires="v">
                <p:oleObj spid="_x0000_s0" name="Equation" r:id="rId3" imgW="41148000" imgH="6400800" progId="Equation.DSMT4">
                  <p:embed/>
                </p:oleObj>
              </mc:Choice>
              <mc:Fallback>
                <p:oleObj name="Equation" r:id="rId3" imgW="41148000" imgH="6400800" progId="Equation.DSMT4">
                  <p:embed/>
                  <p:pic>
                    <p:nvPicPr>
                      <p:cNvPr id="0" name="图片 -1"/>
                      <p:cNvPicPr/>
                      <p:nvPr/>
                    </p:nvPicPr>
                    <p:blipFill>
                      <a:blip r:embed="rId4"/>
                      <a:stretch>
                        <a:fillRect/>
                      </a:stretch>
                    </p:blipFill>
                    <p:spPr>
                      <a:xfrm>
                        <a:off x="1060450" y="4530725"/>
                        <a:ext cx="2588895" cy="402590"/>
                      </a:xfrm>
                      <a:prstGeom prst="rect">
                        <a:avLst/>
                      </a:prstGeom>
                    </p:spPr>
                  </p:pic>
                </p:oleObj>
              </mc:Fallback>
            </mc:AlternateContent>
          </a:graphicData>
        </a:graphic>
      </p:graphicFrame>
      <p:graphicFrame>
        <p:nvGraphicFramePr>
          <p:cNvPr id="87" name="对象 86"/>
          <p:cNvGraphicFramePr>
            <a:graphicFrameLocks noChangeAspect="1"/>
          </p:cNvGraphicFramePr>
          <p:nvPr/>
        </p:nvGraphicFramePr>
        <p:xfrm>
          <a:off x="1060450" y="5428615"/>
          <a:ext cx="3495040" cy="388620"/>
        </p:xfrm>
        <a:graphic>
          <a:graphicData uri="http://schemas.openxmlformats.org/presentationml/2006/ole">
            <mc:AlternateContent xmlns:mc="http://schemas.openxmlformats.org/markup-compatibility/2006">
              <mc:Choice xmlns:v="urn:schemas-microsoft-com:vml" Requires="v">
                <p:oleObj spid="_x0000_s0" name="Equation" r:id="rId5" imgW="49377600" imgH="5486400" progId="Equation.DSMT4">
                  <p:embed/>
                </p:oleObj>
              </mc:Choice>
              <mc:Fallback>
                <p:oleObj name="Equation" r:id="rId5" imgW="49377600" imgH="5486400" progId="Equation.DSMT4">
                  <p:embed/>
                  <p:pic>
                    <p:nvPicPr>
                      <p:cNvPr id="0" name="图片 -1"/>
                      <p:cNvPicPr/>
                      <p:nvPr/>
                    </p:nvPicPr>
                    <p:blipFill>
                      <a:blip r:embed="rId6"/>
                      <a:stretch>
                        <a:fillRect/>
                      </a:stretch>
                    </p:blipFill>
                    <p:spPr>
                      <a:xfrm>
                        <a:off x="1060450" y="5428615"/>
                        <a:ext cx="3495040" cy="388620"/>
                      </a:xfrm>
                      <a:prstGeom prst="rect">
                        <a:avLst/>
                      </a:prstGeom>
                    </p:spPr>
                  </p:pic>
                </p:oleObj>
              </mc:Fallback>
            </mc:AlternateContent>
          </a:graphicData>
        </a:graphic>
      </p:graphicFrame>
      <p:grpSp>
        <p:nvGrpSpPr>
          <p:cNvPr id="106" name="组合 105"/>
          <p:cNvGrpSpPr/>
          <p:nvPr/>
        </p:nvGrpSpPr>
        <p:grpSpPr>
          <a:xfrm>
            <a:off x="6755130" y="1360170"/>
            <a:ext cx="3258185" cy="4859655"/>
            <a:chOff x="10637" y="1821"/>
            <a:chExt cx="4625" cy="7800"/>
          </a:xfrm>
        </p:grpSpPr>
        <p:sp>
          <p:nvSpPr>
            <p:cNvPr id="88" name="圆角矩形 87"/>
            <p:cNvSpPr/>
            <p:nvPr/>
          </p:nvSpPr>
          <p:spPr>
            <a:xfrm>
              <a:off x="10637" y="5887"/>
              <a:ext cx="4622" cy="999"/>
            </a:xfrm>
            <a:prstGeom prst="roundRect">
              <a:avLst/>
            </a:prstGeom>
            <a:solidFill>
              <a:schemeClr val="accent4">
                <a:lumMod val="20000"/>
                <a:lumOff val="80000"/>
              </a:schemeClr>
            </a:solidFill>
            <a:ln>
              <a:solidFill>
                <a:schemeClr val="accent4">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zh-CN" altLang="en-US" dirty="0">
                  <a:solidFill>
                    <a:schemeClr val="tx1"/>
                  </a:solidFill>
                </a:rPr>
                <a:t>模型偏差筛选与关键构型锁定</a:t>
              </a:r>
              <a:endParaRPr lang="zh-CN" altLang="en-US" dirty="0">
                <a:solidFill>
                  <a:schemeClr val="tx1"/>
                </a:solidFill>
              </a:endParaRPr>
            </a:p>
          </p:txBody>
        </p:sp>
        <p:sp>
          <p:nvSpPr>
            <p:cNvPr id="90" name="圆角矩形 89"/>
            <p:cNvSpPr/>
            <p:nvPr/>
          </p:nvSpPr>
          <p:spPr>
            <a:xfrm>
              <a:off x="10640" y="3162"/>
              <a:ext cx="4622" cy="1000"/>
            </a:xfrm>
            <a:prstGeom prst="roundRect">
              <a:avLst/>
            </a:prstGeom>
            <a:solidFill>
              <a:srgbClr val="EAF3FA"/>
            </a:solidFill>
            <a:ln w="13970">
              <a:solidFill>
                <a:srgbClr val="CEDAE6"/>
              </a:solidFill>
              <a:prstDash val="solid"/>
            </a:ln>
            <a:effectLst>
              <a:outerShdw blurRad="19050" dist="50800" dir="2700000" algn="bl" rotWithShape="0">
                <a:srgbClr val="B8C6D2">
                  <a:alpha val="18000"/>
                </a:srgbClr>
              </a:outerShdw>
            </a:effectLst>
          </p:spPr>
          <p:txBody>
            <a:bodyPr rtlCol="0" anchor="t">
              <a:noAutofit/>
            </a:bodyPr>
            <a:lstStyle/>
            <a:p>
              <a:pPr lvl="0" algn="ctr">
                <a:lnSpc>
                  <a:spcPct val="140000"/>
                </a:lnSpc>
                <a:buClrTx/>
                <a:buSzTx/>
                <a:buFontTx/>
              </a:pPr>
              <a:r>
                <a:rPr lang="zh-CN" altLang="en-US" dirty="0">
                  <a:sym typeface="+mn-ea"/>
                </a:rPr>
                <a:t>多模型集成初始化训练</a:t>
              </a:r>
              <a:endParaRPr lang="zh-CN" altLang="en-US">
                <a:sym typeface="+mn-ea"/>
              </a:endParaRPr>
            </a:p>
          </p:txBody>
        </p:sp>
        <p:sp>
          <p:nvSpPr>
            <p:cNvPr id="91" name="圆角矩形 90"/>
            <p:cNvSpPr/>
            <p:nvPr/>
          </p:nvSpPr>
          <p:spPr>
            <a:xfrm>
              <a:off x="10637" y="4557"/>
              <a:ext cx="4622" cy="999"/>
            </a:xfrm>
            <a:prstGeom prst="roundRect">
              <a:avLst/>
            </a:prstGeom>
            <a:solidFill>
              <a:srgbClr val="F1EEFA"/>
            </a:solidFill>
            <a:ln w="13970">
              <a:solidFill>
                <a:srgbClr val="EDC8E8"/>
              </a:solidFill>
              <a:prstDash val="solid"/>
            </a:ln>
            <a:effectLst>
              <a:outerShdw blurRad="19050" dist="50800" dir="2700000" algn="bl" rotWithShape="0">
                <a:srgbClr val="B8C6D2">
                  <a:alpha val="18000"/>
                </a:srgbClr>
              </a:outerShdw>
            </a:effectLst>
          </p:spPr>
          <p:txBody>
            <a:bodyPr rtlCol="0" anchor="t">
              <a:noAutofit/>
            </a:bodyPr>
            <a:lstStyle/>
            <a:p>
              <a:pPr algn="ctr">
                <a:lnSpc>
                  <a:spcPct val="140000"/>
                </a:lnSpc>
              </a:pPr>
              <a:r>
                <a:rPr lang="zh-CN" altLang="en-US" dirty="0">
                  <a:sym typeface="+mn-ea"/>
                </a:rPr>
                <a:t>MD主动探索激光高激发结构</a:t>
              </a:r>
              <a:endParaRPr lang="zh-CN" altLang="en-US" dirty="0">
                <a:sym typeface="+mn-ea"/>
              </a:endParaRPr>
            </a:p>
          </p:txBody>
        </p:sp>
        <p:sp>
          <p:nvSpPr>
            <p:cNvPr id="92" name="圆角矩形 91"/>
            <p:cNvSpPr/>
            <p:nvPr/>
          </p:nvSpPr>
          <p:spPr>
            <a:xfrm>
              <a:off x="10638" y="7241"/>
              <a:ext cx="4622" cy="999"/>
            </a:xfrm>
            <a:prstGeom prst="roundRect">
              <a:avLst/>
            </a:prstGeom>
            <a:solidFill>
              <a:srgbClr val="FFF0E5"/>
            </a:solidFill>
            <a:ln w="17780">
              <a:solidFill>
                <a:srgbClr val="E9863A"/>
              </a:solidFill>
              <a:prstDash val="solid"/>
            </a:ln>
          </p:spPr>
          <p:txBody>
            <a:bodyPr rtlCol="0" anchor="ctr"/>
            <a:lstStyle/>
            <a:p>
              <a:pPr algn="ctr"/>
              <a:r>
                <a:rPr lang="en-US" altLang="zh-CN"/>
                <a:t>DFT</a:t>
              </a:r>
              <a:r>
                <a:rPr lang="zh-CN" altLang="en-US"/>
                <a:t>高精度标定：</a:t>
              </a:r>
              <a:r>
                <a:rPr lang="en-US" altLang="zh-CN"/>
                <a:t>A</a:t>
              </a:r>
              <a:r>
                <a:rPr lang="zh-CN" altLang="en-US"/>
                <a:t>、</a:t>
              </a:r>
              <a:r>
                <a:rPr lang="en-US" altLang="zh-CN" b="1"/>
                <a:t>F</a:t>
              </a:r>
              <a:r>
                <a:rPr lang="zh-CN" altLang="en-US"/>
                <a:t>、</a:t>
              </a:r>
              <a:r>
                <a:rPr lang="en-US" altLang="zh-CN" b="1"/>
                <a:t>σ</a:t>
              </a:r>
              <a:endParaRPr lang="en-US" altLang="zh-CN" b="1"/>
            </a:p>
          </p:txBody>
        </p:sp>
        <p:sp>
          <p:nvSpPr>
            <p:cNvPr id="93" name="圆角矩形 92"/>
            <p:cNvSpPr/>
            <p:nvPr/>
          </p:nvSpPr>
          <p:spPr>
            <a:xfrm>
              <a:off x="10637" y="8623"/>
              <a:ext cx="4624" cy="998"/>
            </a:xfrm>
            <a:prstGeom prst="roundRect">
              <a:avLst/>
            </a:prstGeom>
            <a:solidFill>
              <a:schemeClr val="accent6">
                <a:lumMod val="20000"/>
                <a:lumOff val="80000"/>
              </a:schemeClr>
            </a:solidFill>
            <a:ln w="22860">
              <a:solidFill>
                <a:srgbClr val="159D96"/>
              </a:solidFill>
              <a:prstDash val="solid"/>
            </a:ln>
          </p:spPr>
          <p:txBody>
            <a:bodyPr rtlCol="0" anchor="ctr"/>
            <a:lstStyle/>
            <a:p>
              <a:pPr algn="ctr"/>
              <a:r>
                <a:rPr lang="zh-CN" altLang="en-US"/>
                <a:t>迭代扩充数据集，全域收敛</a:t>
              </a:r>
              <a:endParaRPr lang="zh-CN" altLang="en-US"/>
            </a:p>
          </p:txBody>
        </p:sp>
        <p:sp>
          <p:nvSpPr>
            <p:cNvPr id="94" name="圆角矩形 93"/>
            <p:cNvSpPr/>
            <p:nvPr/>
          </p:nvSpPr>
          <p:spPr>
            <a:xfrm>
              <a:off x="10639" y="1821"/>
              <a:ext cx="4622" cy="971"/>
            </a:xfrm>
            <a:prstGeom prst="roundRect">
              <a:avLst/>
            </a:prstGeom>
            <a:solidFill>
              <a:schemeClr val="bg1">
                <a:lumMod val="95000"/>
              </a:schemeClr>
            </a:solidFill>
            <a:ln w="17780">
              <a:solidFill>
                <a:schemeClr val="bg1">
                  <a:lumMod val="75000"/>
                </a:schemeClr>
              </a:solidFill>
              <a:prstDash val="solid"/>
            </a:ln>
          </p:spPr>
          <p:txBody>
            <a:bodyPr rtlCol="0" anchor="ctr"/>
            <a:lstStyle/>
            <a:p>
              <a:pPr lvl="0" algn="ctr">
                <a:lnSpc>
                  <a:spcPct val="110000"/>
                </a:lnSpc>
                <a:buClrTx/>
                <a:buSzTx/>
                <a:buFontTx/>
              </a:pPr>
              <a:r>
                <a:rPr lang="zh-CN" altLang="en-US">
                  <a:sym typeface="+mn-ea"/>
                </a:rPr>
                <a:t>初始结构 &amp; 初始</a:t>
              </a:r>
              <a:r>
                <a:rPr lang="en-US" altLang="zh-CN">
                  <a:sym typeface="+mn-ea"/>
                </a:rPr>
                <a:t>DFT</a:t>
              </a:r>
              <a:r>
                <a:rPr lang="zh-CN" altLang="en-US">
                  <a:sym typeface="+mn-ea"/>
                </a:rPr>
                <a:t>标定</a:t>
              </a:r>
              <a:endParaRPr lang="zh-CN" altLang="en-US"/>
            </a:p>
          </p:txBody>
        </p:sp>
        <p:sp>
          <p:nvSpPr>
            <p:cNvPr id="95" name="Shape 29"/>
            <p:cNvSpPr/>
            <p:nvPr/>
          </p:nvSpPr>
          <p:spPr>
            <a:xfrm>
              <a:off x="12956" y="2792"/>
              <a:ext cx="1" cy="370"/>
            </a:xfrm>
            <a:prstGeom prst="line">
              <a:avLst/>
            </a:prstGeom>
            <a:noFill/>
            <a:ln w="20320">
              <a:solidFill>
                <a:srgbClr val="91A7B8"/>
              </a:solidFill>
              <a:prstDash val="solid"/>
              <a:headEnd type="none"/>
              <a:tailEnd type="triangle"/>
            </a:ln>
          </p:spPr>
          <p:txBody>
            <a:bodyPr/>
            <a:lstStyle/>
            <a:p>
              <a:endParaRPr lang="zh-CN" altLang="en-US"/>
            </a:p>
          </p:txBody>
        </p:sp>
        <p:sp>
          <p:nvSpPr>
            <p:cNvPr id="100" name="Shape 29"/>
            <p:cNvSpPr/>
            <p:nvPr/>
          </p:nvSpPr>
          <p:spPr>
            <a:xfrm>
              <a:off x="12955" y="4187"/>
              <a:ext cx="1" cy="370"/>
            </a:xfrm>
            <a:prstGeom prst="line">
              <a:avLst/>
            </a:prstGeom>
            <a:noFill/>
            <a:ln w="20320">
              <a:solidFill>
                <a:srgbClr val="91A7B8"/>
              </a:solidFill>
              <a:prstDash val="solid"/>
              <a:headEnd type="none"/>
              <a:tailEnd type="triangle"/>
            </a:ln>
          </p:spPr>
          <p:txBody>
            <a:bodyPr/>
            <a:lstStyle/>
            <a:p>
              <a:endParaRPr lang="zh-CN" altLang="en-US"/>
            </a:p>
          </p:txBody>
        </p:sp>
        <p:sp>
          <p:nvSpPr>
            <p:cNvPr id="101" name="Shape 29"/>
            <p:cNvSpPr/>
            <p:nvPr/>
          </p:nvSpPr>
          <p:spPr>
            <a:xfrm>
              <a:off x="12957" y="5556"/>
              <a:ext cx="1" cy="370"/>
            </a:xfrm>
            <a:prstGeom prst="line">
              <a:avLst/>
            </a:prstGeom>
            <a:noFill/>
            <a:ln w="20320">
              <a:solidFill>
                <a:srgbClr val="91A7B8"/>
              </a:solidFill>
              <a:prstDash val="solid"/>
              <a:headEnd type="none"/>
              <a:tailEnd type="triangle"/>
            </a:ln>
          </p:spPr>
          <p:txBody>
            <a:bodyPr/>
            <a:lstStyle/>
            <a:p>
              <a:endParaRPr lang="zh-CN" altLang="en-US"/>
            </a:p>
          </p:txBody>
        </p:sp>
        <p:sp>
          <p:nvSpPr>
            <p:cNvPr id="102" name="Shape 29"/>
            <p:cNvSpPr/>
            <p:nvPr/>
          </p:nvSpPr>
          <p:spPr>
            <a:xfrm>
              <a:off x="12954" y="6871"/>
              <a:ext cx="1" cy="370"/>
            </a:xfrm>
            <a:prstGeom prst="line">
              <a:avLst/>
            </a:prstGeom>
            <a:noFill/>
            <a:ln w="20320">
              <a:solidFill>
                <a:srgbClr val="91A7B8"/>
              </a:solidFill>
              <a:prstDash val="solid"/>
              <a:headEnd type="none"/>
              <a:tailEnd type="triangle"/>
            </a:ln>
          </p:spPr>
          <p:txBody>
            <a:bodyPr/>
            <a:lstStyle/>
            <a:p>
              <a:endParaRPr lang="zh-CN" altLang="en-US"/>
            </a:p>
          </p:txBody>
        </p:sp>
        <p:sp>
          <p:nvSpPr>
            <p:cNvPr id="103" name="Shape 29"/>
            <p:cNvSpPr/>
            <p:nvPr/>
          </p:nvSpPr>
          <p:spPr>
            <a:xfrm>
              <a:off x="12953" y="8240"/>
              <a:ext cx="1" cy="370"/>
            </a:xfrm>
            <a:prstGeom prst="line">
              <a:avLst/>
            </a:prstGeom>
            <a:noFill/>
            <a:ln w="20320">
              <a:solidFill>
                <a:srgbClr val="91A7B8"/>
              </a:solidFill>
              <a:prstDash val="solid"/>
              <a:headEnd type="none"/>
              <a:tailEnd type="triangle"/>
            </a:ln>
          </p:spPr>
          <p:txBody>
            <a:bodyPr/>
            <a:lstStyle/>
            <a:p>
              <a:endParaRPr lang="zh-CN" altLang="en-US"/>
            </a:p>
          </p:txBody>
        </p:sp>
      </p:grpSp>
      <p:sp>
        <p:nvSpPr>
          <p:cNvPr id="105" name="文本框 104"/>
          <p:cNvSpPr txBox="1"/>
          <p:nvPr/>
        </p:nvSpPr>
        <p:spPr>
          <a:xfrm>
            <a:off x="253365" y="842010"/>
            <a:ext cx="11672570" cy="338455"/>
          </a:xfrm>
          <a:prstGeom prst="rect">
            <a:avLst/>
          </a:prstGeom>
          <a:noFill/>
        </p:spPr>
        <p:txBody>
          <a:bodyPr wrap="square" rtlCol="0" anchor="t">
            <a:noAutofit/>
          </a:bodyPr>
          <a:lstStyle/>
          <a:p>
            <a:r>
              <a:rPr lang="en-US" sz="1800" b="1" dirty="0">
                <a:solidFill>
                  <a:srgbClr val="60758A"/>
                </a:solidFill>
                <a:latin typeface="+mj-ea"/>
                <a:ea typeface="+mj-ea"/>
                <a:cs typeface="+mj-ea"/>
                <a:sym typeface="+mn-ea"/>
              </a:rPr>
              <a:t>建立覆盖“结构空间 × 电子温度空间”的联合数据库，为</a:t>
            </a:r>
            <a:r>
              <a:rPr lang="en-US" sz="1800" b="1" dirty="0">
                <a:solidFill>
                  <a:srgbClr val="60758A"/>
                </a:solidFill>
                <a:latin typeface="Times New Roman" panose="02020603050405020304" charset="0"/>
                <a:ea typeface="+mj-ea"/>
                <a:cs typeface="Times New Roman" panose="02020603050405020304" charset="0"/>
                <a:sym typeface="+mn-ea"/>
              </a:rPr>
              <a:t>Tₑ</a:t>
            </a:r>
            <a:r>
              <a:rPr lang="zh-CN" altLang="en-US" sz="1800" b="1" dirty="0">
                <a:solidFill>
                  <a:srgbClr val="60758A"/>
                </a:solidFill>
                <a:latin typeface="+mj-ea"/>
                <a:ea typeface="+mj-ea"/>
                <a:cs typeface="+mj-ea"/>
                <a:sym typeface="+mn-ea"/>
              </a:rPr>
              <a:t>依赖</a:t>
            </a:r>
            <a:r>
              <a:rPr lang="en-US" sz="1800" b="1" dirty="0">
                <a:solidFill>
                  <a:srgbClr val="60758A"/>
                </a:solidFill>
                <a:latin typeface="+mj-ea"/>
                <a:ea typeface="+mj-ea"/>
                <a:cs typeface="+mj-ea"/>
                <a:sym typeface="+mn-ea"/>
              </a:rPr>
              <a:t>势函数提供可学习、可验证的高精度标签</a:t>
            </a:r>
            <a:endParaRPr lang="zh-CN" altLang="en-US" sz="1600" b="1" dirty="0">
              <a:solidFill>
                <a:srgbClr val="183755"/>
              </a:solidFill>
              <a:latin typeface="微软雅黑" panose="020B0503020204020204" charset="-122"/>
              <a:sym typeface="+mn-ea"/>
            </a:endParaRPr>
          </a:p>
        </p:txBody>
      </p:sp>
      <p:sp>
        <p:nvSpPr>
          <p:cNvPr id="11" name="圆角矩形 10"/>
          <p:cNvSpPr/>
          <p:nvPr/>
        </p:nvSpPr>
        <p:spPr>
          <a:xfrm>
            <a:off x="10170160" y="2628900"/>
            <a:ext cx="1608455" cy="1901190"/>
          </a:xfrm>
          <a:prstGeom prst="roundRect">
            <a:avLst/>
          </a:prstGeom>
          <a:solidFill>
            <a:srgbClr val="FFF0E5"/>
          </a:solidFill>
          <a:ln w="17780">
            <a:solidFill>
              <a:srgbClr val="E9863A"/>
            </a:solidFill>
            <a:prstDash val="solid"/>
          </a:ln>
        </p:spPr>
        <p:txBody>
          <a:bodyPr rtlCol="0" anchor="ctr">
            <a:noAutofit/>
          </a:bodyPr>
          <a:lstStyle/>
          <a:p>
            <a:pPr lvl="0" algn="ctr">
              <a:buClrTx/>
              <a:buSzTx/>
              <a:buFontTx/>
            </a:pPr>
            <a:endParaRPr lang="en-US" altLang="zh-CN">
              <a:sym typeface="+mn-ea"/>
            </a:endParaRPr>
          </a:p>
        </p:txBody>
      </p:sp>
      <p:sp>
        <p:nvSpPr>
          <p:cNvPr id="8" name="文本框 7"/>
          <p:cNvSpPr txBox="1"/>
          <p:nvPr/>
        </p:nvSpPr>
        <p:spPr>
          <a:xfrm>
            <a:off x="10189845" y="2721610"/>
            <a:ext cx="1588770" cy="1809115"/>
          </a:xfrm>
          <a:prstGeom prst="rect">
            <a:avLst/>
          </a:prstGeom>
        </p:spPr>
        <p:txBody>
          <a:bodyPr wrap="square">
            <a:noAutofit/>
          </a:bodyPr>
          <a:lstStyle/>
          <a:p>
            <a:pPr algn="ctr"/>
            <a:r>
              <a:rPr lang="zh-CN" altLang="en-US" sz="1800" dirty="0"/>
              <a:t>代表构型并行光学计算</a:t>
            </a:r>
            <a:endParaRPr lang="zh-CN" altLang="en-US" sz="1800" dirty="0"/>
          </a:p>
          <a:p>
            <a:r>
              <a:rPr lang="zh-CN" altLang="en-US" sz="1800" dirty="0"/>
              <a:t>ε(ω,Te)→κ→α(ω,Te)</a:t>
            </a:r>
            <a:endParaRPr lang="zh-CN" altLang="en-US" sz="1800" dirty="0"/>
          </a:p>
          <a:p>
            <a:pPr algn="ctr"/>
            <a:r>
              <a:rPr lang="zh-CN" altLang="en-US" sz="1800" dirty="0"/>
              <a:t>独立光学数据库</a:t>
            </a:r>
            <a:endParaRPr lang="zh-CN" altLang="en-US" sz="1800" dirty="0"/>
          </a:p>
        </p:txBody>
      </p:sp>
      <p:cxnSp>
        <p:nvCxnSpPr>
          <p:cNvPr id="14" name="肘形连接符 13"/>
          <p:cNvCxnSpPr>
            <a:stCxn id="92" idx="3"/>
            <a:endCxn id="8" idx="2"/>
          </p:cNvCxnSpPr>
          <p:nvPr/>
        </p:nvCxnSpPr>
        <p:spPr>
          <a:xfrm flipV="1">
            <a:off x="10012045" y="4530725"/>
            <a:ext cx="972185" cy="517525"/>
          </a:xfrm>
          <a:prstGeom prst="bentConnector2">
            <a:avLst/>
          </a:prstGeom>
          <a:noFill/>
          <a:ln w="20320">
            <a:solidFill>
              <a:srgbClr val="91A7B8"/>
            </a:solidFill>
            <a:prstDash val="solid"/>
            <a:headEnd type="none"/>
            <a:tailEnd type="triangle"/>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28172" y="182164"/>
            <a:ext cx="7512485" cy="475615"/>
          </a:xfrm>
          <a:prstGeom prst="rect">
            <a:avLst/>
          </a:prstGeom>
          <a:noFill/>
        </p:spPr>
        <p:txBody>
          <a:bodyPr wrap="square">
            <a:spAutoFit/>
          </a:bodyPr>
          <a:lstStyle/>
          <a:p>
            <a:pPr marL="0" indent="0">
              <a:buNone/>
            </a:pPr>
            <a:r>
              <a:rPr lang="en-US" sz="2500" b="1" dirty="0">
                <a:solidFill>
                  <a:srgbClr val="002855"/>
                </a:solidFill>
                <a:latin typeface="微软雅黑" panose="020B0503020204020204" charset="-122"/>
                <a:ea typeface="微软雅黑" panose="020B0503020204020204" charset="-122"/>
                <a:cs typeface="微软雅黑" panose="020B0503020204020204" pitchFamily="34" charset="-120"/>
                <a:sym typeface="+mn-ea"/>
              </a:rPr>
              <a:t>不同波长—脉宽—能量密度</a:t>
            </a:r>
            <a:r>
              <a:rPr lang="zh-CN" altLang="en-US" sz="2500" b="1" dirty="0">
                <a:solidFill>
                  <a:srgbClr val="002855"/>
                </a:solidFill>
                <a:latin typeface="微软雅黑" panose="020B0503020204020204" charset="-122"/>
                <a:ea typeface="微软雅黑" panose="020B0503020204020204" charset="-122"/>
                <a:cs typeface="微软雅黑" panose="020B0503020204020204" pitchFamily="34" charset="-120"/>
                <a:sym typeface="+mn-ea"/>
              </a:rPr>
              <a:t>的激光工况</a:t>
            </a:r>
            <a:r>
              <a:rPr lang="en-US" sz="2500" b="1" dirty="0">
                <a:solidFill>
                  <a:srgbClr val="002855"/>
                </a:solidFill>
                <a:latin typeface="微软雅黑" panose="020B0503020204020204" charset="-122"/>
                <a:ea typeface="微软雅黑" panose="020B0503020204020204" charset="-122"/>
                <a:cs typeface="微软雅黑" panose="020B0503020204020204" pitchFamily="34" charset="-120"/>
                <a:sym typeface="+mn-ea"/>
              </a:rPr>
              <a:t>进入模拟</a:t>
            </a:r>
            <a:endParaRPr lang="zh-CN" altLang="en-US" sz="2500" b="1" dirty="0">
              <a:solidFill>
                <a:srgbClr val="102A43"/>
              </a:solidFill>
              <a:latin typeface="微软雅黑" panose="020B0503020204020204" charset="-122"/>
              <a:ea typeface="微软雅黑" panose="020B0503020204020204" charset="-122"/>
            </a:endParaRPr>
          </a:p>
        </p:txBody>
      </p:sp>
      <p:sp>
        <p:nvSpPr>
          <p:cNvPr id="28" name="Text 11"/>
          <p:cNvSpPr/>
          <p:nvPr/>
        </p:nvSpPr>
        <p:spPr>
          <a:xfrm>
            <a:off x="7628255" y="962025"/>
            <a:ext cx="2814955" cy="963295"/>
          </a:xfrm>
          <a:prstGeom prst="roundRect">
            <a:avLst/>
          </a:prstGeom>
          <a:solidFill>
            <a:srgbClr val="EAF4FF"/>
          </a:solidFill>
          <a:ln w="12700">
            <a:solidFill>
              <a:srgbClr val="0B5FA5"/>
            </a:solidFill>
          </a:ln>
        </p:spPr>
        <p:txBody>
          <a:bodyPr wrap="square" lIns="889" tIns="889" rIns="889" bIns="889" rtlCol="0" anchor="ctr">
            <a:normAutofit/>
          </a:bodyPr>
          <a:lstStyle/>
          <a:p>
            <a:pPr marL="0" indent="0" algn="ctr">
              <a:buNone/>
            </a:pPr>
            <a:r>
              <a:rPr lang="en-US" sz="1600" b="1" dirty="0">
                <a:solidFill>
                  <a:srgbClr val="002855"/>
                </a:solidFill>
                <a:latin typeface="微软雅黑" panose="020B0503020204020204" charset="-122"/>
                <a:ea typeface="微软雅黑" panose="020B0503020204020204" charset="-122"/>
                <a:cs typeface="微软雅黑" panose="020B0503020204020204" pitchFamily="34" charset="-120"/>
              </a:rPr>
              <a:t>波长</a:t>
            </a:r>
            <a:r>
              <a:rPr lang="en-US" sz="1600" b="1" dirty="0">
                <a:solidFill>
                  <a:srgbClr val="002855"/>
                </a:solidFill>
                <a:latin typeface="Times New Roman" panose="02020603050405020304" charset="0"/>
                <a:ea typeface="微软雅黑" panose="020B0503020204020204" charset="-122"/>
                <a:cs typeface="Times New Roman" panose="02020603050405020304" charset="0"/>
              </a:rPr>
              <a:t> λ</a:t>
            </a:r>
            <a:endParaRPr lang="en-US" sz="1600" dirty="0"/>
          </a:p>
          <a:p>
            <a:pPr marL="0" indent="0" algn="ctr">
              <a:buNone/>
            </a:pPr>
            <a:r>
              <a:rPr lang="en-US" sz="1600" b="1" dirty="0">
                <a:solidFill>
                  <a:srgbClr val="002855"/>
                </a:solidFill>
                <a:latin typeface="微软雅黑" panose="020B0503020204020204" charset="-122"/>
                <a:ea typeface="微软雅黑" panose="020B0503020204020204" charset="-122"/>
                <a:cs typeface="微软雅黑" panose="020B0503020204020204" pitchFamily="34" charset="-120"/>
              </a:rPr>
              <a:t>决定材料的光学吸收</a:t>
            </a:r>
            <a:endParaRPr lang="en-US" sz="1600" b="1" dirty="0">
              <a:solidFill>
                <a:srgbClr val="002855"/>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600" b="1" dirty="0">
                <a:solidFill>
                  <a:srgbClr val="002855"/>
                </a:solidFill>
                <a:latin typeface="+mj-lt"/>
                <a:ea typeface="微软雅黑" panose="020B0503020204020204" charset="-122"/>
                <a:cs typeface="+mj-lt"/>
                <a:sym typeface="+mn-ea"/>
              </a:rPr>
              <a:t>λ → </a:t>
            </a:r>
            <a:r>
              <a:rPr lang="en-US" sz="1600" b="1" dirty="0">
                <a:solidFill>
                  <a:srgbClr val="002855"/>
                </a:solidFill>
                <a:latin typeface="+mj-lt"/>
                <a:ea typeface="微软雅黑" panose="020B0503020204020204" charset="-122"/>
                <a:cs typeface="+mj-lt"/>
              </a:rPr>
              <a:t>ε(ω,Tₑ) → κ → α(λ,Tₑ)</a:t>
            </a:r>
            <a:endParaRPr lang="en-US" sz="1600" dirty="0">
              <a:latin typeface="+mj-lt"/>
              <a:cs typeface="+mj-lt"/>
            </a:endParaRPr>
          </a:p>
        </p:txBody>
      </p:sp>
      <p:sp>
        <p:nvSpPr>
          <p:cNvPr id="29" name="Text 12"/>
          <p:cNvSpPr/>
          <p:nvPr/>
        </p:nvSpPr>
        <p:spPr>
          <a:xfrm>
            <a:off x="4312285" y="3341370"/>
            <a:ext cx="2377440" cy="743585"/>
          </a:xfrm>
          <a:prstGeom prst="roundRect">
            <a:avLst/>
          </a:prstGeom>
          <a:solidFill>
            <a:srgbClr val="FFF7ED"/>
          </a:solidFill>
          <a:ln w="12700">
            <a:solidFill>
              <a:srgbClr val="E87817"/>
            </a:solidFill>
          </a:ln>
        </p:spPr>
        <p:txBody>
          <a:bodyPr wrap="square" lIns="889" tIns="889" rIns="889" bIns="889" rtlCol="0" anchor="ctr">
            <a:normAutofit/>
          </a:bodyPr>
          <a:lstStyle/>
          <a:p>
            <a:pPr marL="0" indent="0" algn="ctr">
              <a:buNone/>
            </a:pPr>
            <a:r>
              <a:rPr lang="en-US" sz="1600" b="1" dirty="0">
                <a:solidFill>
                  <a:srgbClr val="7C2D12"/>
                </a:solidFill>
                <a:latin typeface="微软雅黑" panose="020B0503020204020204" charset="-122"/>
                <a:ea typeface="微软雅黑" panose="020B0503020204020204" charset="-122"/>
                <a:cs typeface="微软雅黑" panose="020B0503020204020204" pitchFamily="34" charset="-120"/>
              </a:rPr>
              <a:t>脉宽 τ</a:t>
            </a:r>
            <a:endParaRPr lang="en-US" sz="1600" dirty="0"/>
          </a:p>
          <a:p>
            <a:pPr marL="0" indent="0" algn="ctr">
              <a:buNone/>
            </a:pPr>
            <a:r>
              <a:rPr lang="en-US" sz="1600" b="1" dirty="0">
                <a:solidFill>
                  <a:srgbClr val="7C2D12"/>
                </a:solidFill>
                <a:latin typeface="微软雅黑" panose="020B0503020204020204" charset="-122"/>
                <a:ea typeface="微软雅黑" panose="020B0503020204020204" charset="-122"/>
                <a:cs typeface="微软雅黑" panose="020B0503020204020204" pitchFamily="34" charset="-120"/>
              </a:rPr>
              <a:t>决定能量输入的时间分布</a:t>
            </a:r>
            <a:endParaRPr lang="en-US" sz="1600" dirty="0"/>
          </a:p>
        </p:txBody>
      </p:sp>
      <p:sp>
        <p:nvSpPr>
          <p:cNvPr id="30" name="Text 13"/>
          <p:cNvSpPr/>
          <p:nvPr/>
        </p:nvSpPr>
        <p:spPr>
          <a:xfrm>
            <a:off x="4614545" y="845185"/>
            <a:ext cx="2193925" cy="807720"/>
          </a:xfrm>
          <a:prstGeom prst="roundRect">
            <a:avLst/>
          </a:prstGeom>
          <a:solidFill>
            <a:srgbClr val="E9F8F0"/>
          </a:solidFill>
          <a:ln w="12700">
            <a:solidFill>
              <a:srgbClr val="1B8F5A"/>
            </a:solidFill>
          </a:ln>
        </p:spPr>
        <p:txBody>
          <a:bodyPr wrap="square" lIns="889" tIns="889" rIns="889" bIns="889" rtlCol="0" anchor="ctr">
            <a:normAutofit/>
          </a:bodyPr>
          <a:lstStyle/>
          <a:p>
            <a:pPr marL="0" indent="0" algn="ctr">
              <a:buNone/>
            </a:pPr>
            <a:r>
              <a:rPr lang="en-US" sz="1600" b="1" dirty="0">
                <a:solidFill>
                  <a:srgbClr val="14532D"/>
                </a:solidFill>
                <a:latin typeface="微软雅黑" panose="020B0503020204020204" charset="-122"/>
                <a:ea typeface="微软雅黑" panose="020B0503020204020204" charset="-122"/>
                <a:cs typeface="微软雅黑" panose="020B0503020204020204" pitchFamily="34" charset="-120"/>
              </a:rPr>
              <a:t>能量密度 F</a:t>
            </a:r>
            <a:endParaRPr lang="en-US" sz="1600" dirty="0"/>
          </a:p>
          <a:p>
            <a:pPr marL="0" indent="0" algn="ctr">
              <a:buNone/>
            </a:pPr>
            <a:r>
              <a:rPr lang="en-US" sz="1600" b="1" dirty="0">
                <a:solidFill>
                  <a:srgbClr val="14532D"/>
                </a:solidFill>
                <a:latin typeface="微软雅黑" panose="020B0503020204020204" charset="-122"/>
                <a:ea typeface="微软雅黑" panose="020B0503020204020204" charset="-122"/>
                <a:cs typeface="微软雅黑" panose="020B0503020204020204" pitchFamily="34" charset="-120"/>
              </a:rPr>
              <a:t>决定总输入能量</a:t>
            </a:r>
            <a:endParaRPr lang="en-US" sz="1600" dirty="0"/>
          </a:p>
        </p:txBody>
      </p:sp>
      <p:sp>
        <p:nvSpPr>
          <p:cNvPr id="31" name="Shape 14"/>
          <p:cNvSpPr/>
          <p:nvPr/>
        </p:nvSpPr>
        <p:spPr>
          <a:xfrm>
            <a:off x="9035923" y="1998345"/>
            <a:ext cx="0" cy="384048"/>
          </a:xfrm>
          <a:prstGeom prst="line">
            <a:avLst/>
          </a:prstGeom>
          <a:noFill/>
          <a:ln w="25400">
            <a:solidFill>
              <a:srgbClr val="0B5FA5"/>
            </a:solidFill>
            <a:prstDash val="solid"/>
            <a:headEnd type="none"/>
            <a:tailEnd type="triangle"/>
          </a:ln>
        </p:spPr>
      </p:sp>
      <p:sp>
        <p:nvSpPr>
          <p:cNvPr id="32" name="Shape 15"/>
          <p:cNvSpPr/>
          <p:nvPr/>
        </p:nvSpPr>
        <p:spPr>
          <a:xfrm rot="10800000">
            <a:off x="5500878" y="2901315"/>
            <a:ext cx="0" cy="384048"/>
          </a:xfrm>
          <a:prstGeom prst="line">
            <a:avLst/>
          </a:prstGeom>
          <a:noFill/>
          <a:ln w="25400">
            <a:solidFill>
              <a:srgbClr val="E87817"/>
            </a:solidFill>
            <a:prstDash val="solid"/>
            <a:headEnd type="none"/>
            <a:tailEnd type="triangle"/>
          </a:ln>
        </p:spPr>
      </p:sp>
      <p:sp>
        <p:nvSpPr>
          <p:cNvPr id="33" name="Shape 16"/>
          <p:cNvSpPr/>
          <p:nvPr/>
        </p:nvSpPr>
        <p:spPr>
          <a:xfrm>
            <a:off x="5693283" y="1718310"/>
            <a:ext cx="0" cy="384048"/>
          </a:xfrm>
          <a:prstGeom prst="line">
            <a:avLst/>
          </a:prstGeom>
          <a:noFill/>
          <a:ln w="25400">
            <a:solidFill>
              <a:srgbClr val="1B8F5A"/>
            </a:solidFill>
            <a:prstDash val="solid"/>
            <a:headEnd type="none"/>
            <a:tailEnd type="triangle"/>
          </a:ln>
        </p:spPr>
      </p:sp>
      <p:sp>
        <p:nvSpPr>
          <p:cNvPr id="34" name="Text 17"/>
          <p:cNvSpPr/>
          <p:nvPr/>
        </p:nvSpPr>
        <p:spPr>
          <a:xfrm>
            <a:off x="387985" y="2037080"/>
            <a:ext cx="3989705" cy="603250"/>
          </a:xfrm>
          <a:prstGeom prst="rect">
            <a:avLst/>
          </a:prstGeom>
          <a:noFill/>
        </p:spPr>
        <p:txBody>
          <a:bodyPr wrap="square" lIns="0" tIns="0" rIns="0" bIns="0" rtlCol="0" anchor="ctr"/>
          <a:lstStyle/>
          <a:p>
            <a:pPr marL="0" indent="0">
              <a:buNone/>
            </a:pPr>
            <a:r>
              <a:rPr lang="en-US" sz="2000" b="1" dirty="0">
                <a:solidFill>
                  <a:srgbClr val="D21F2B"/>
                </a:solidFill>
                <a:latin typeface="微软雅黑" panose="020B0503020204020204" charset="-122"/>
                <a:ea typeface="微软雅黑" panose="020B0503020204020204" charset="-122"/>
                <a:cs typeface="微软雅黑" panose="020B0503020204020204" pitchFamily="34" charset="-120"/>
              </a:rPr>
              <a:t>统一接口：激光热源项 </a:t>
            </a:r>
            <a:r>
              <a:rPr lang="en-US" sz="2000" b="1" dirty="0">
                <a:solidFill>
                  <a:srgbClr val="D21F2B"/>
                </a:solidFill>
                <a:latin typeface="Times New Roman" panose="02020603050405020304" charset="0"/>
                <a:ea typeface="微软雅黑" panose="020B0503020204020204" charset="-122"/>
                <a:cs typeface="Times New Roman" panose="02020603050405020304" charset="0"/>
              </a:rPr>
              <a:t>S(r,t; λ,τ,F)</a:t>
            </a:r>
            <a:endParaRPr lang="en-US" sz="2000" dirty="0">
              <a:latin typeface="Times New Roman" panose="02020603050405020304" charset="0"/>
              <a:cs typeface="Times New Roman" panose="02020603050405020304" charset="0"/>
            </a:endParaRPr>
          </a:p>
        </p:txBody>
      </p:sp>
      <p:sp>
        <p:nvSpPr>
          <p:cNvPr id="43" name="Text 24"/>
          <p:cNvSpPr/>
          <p:nvPr/>
        </p:nvSpPr>
        <p:spPr>
          <a:xfrm>
            <a:off x="387985" y="4629785"/>
            <a:ext cx="4193540" cy="522605"/>
          </a:xfrm>
          <a:prstGeom prst="rect">
            <a:avLst/>
          </a:prstGeom>
          <a:noFill/>
        </p:spPr>
        <p:txBody>
          <a:bodyPr wrap="square" lIns="0" tIns="0" rIns="0" bIns="0" rtlCol="0" anchor="ctr"/>
          <a:lstStyle/>
          <a:p>
            <a:pPr marL="0" indent="0">
              <a:buNone/>
            </a:pPr>
            <a:r>
              <a:rPr lang="en-US" sz="2000" b="1" dirty="0">
                <a:solidFill>
                  <a:srgbClr val="0B5FA5"/>
                </a:solidFill>
                <a:latin typeface="微软雅黑" panose="020B0503020204020204" charset="-122"/>
                <a:ea typeface="微软雅黑" panose="020B0503020204020204" charset="-122"/>
                <a:cs typeface="微软雅黑" panose="020B0503020204020204" pitchFamily="34" charset="-120"/>
              </a:rPr>
              <a:t>进入 </a:t>
            </a:r>
            <a:r>
              <a:rPr lang="en-US" sz="2000" b="1" dirty="0">
                <a:solidFill>
                  <a:srgbClr val="0B5FA5"/>
                </a:solidFill>
                <a:latin typeface="Times New Roman" panose="02020603050405020304" charset="0"/>
                <a:ea typeface="微软雅黑" panose="020B0503020204020204" charset="-122"/>
                <a:cs typeface="Times New Roman" panose="02020603050405020304" charset="0"/>
              </a:rPr>
              <a:t>TTM</a:t>
            </a:r>
            <a:r>
              <a:rPr lang="en-US" sz="2000" b="1" dirty="0">
                <a:solidFill>
                  <a:srgbClr val="0B5FA5"/>
                </a:solidFill>
                <a:latin typeface="微软雅黑" panose="020B0503020204020204" charset="-122"/>
                <a:ea typeface="微软雅黑" panose="020B0503020204020204" charset="-122"/>
                <a:cs typeface="微软雅黑" panose="020B0503020204020204" pitchFamily="34" charset="-120"/>
              </a:rPr>
              <a:t> 与 </a:t>
            </a:r>
            <a:r>
              <a:rPr lang="en-US" sz="2000" b="1" dirty="0">
                <a:solidFill>
                  <a:srgbClr val="0B5FA5"/>
                </a:solidFill>
                <a:latin typeface="Times New Roman" panose="02020603050405020304" charset="0"/>
                <a:ea typeface="微软雅黑" panose="020B0503020204020204" charset="-122"/>
                <a:cs typeface="Times New Roman" panose="02020603050405020304" charset="0"/>
              </a:rPr>
              <a:t>Tₑ-dependent ML-MD</a:t>
            </a:r>
            <a:endParaRPr lang="en-US" sz="2000" dirty="0">
              <a:latin typeface="Times New Roman" panose="02020603050405020304" charset="0"/>
              <a:cs typeface="Times New Roman" panose="02020603050405020304" charset="0"/>
            </a:endParaRPr>
          </a:p>
        </p:txBody>
      </p:sp>
      <p:sp>
        <p:nvSpPr>
          <p:cNvPr id="54" name="Text 35"/>
          <p:cNvSpPr/>
          <p:nvPr/>
        </p:nvSpPr>
        <p:spPr>
          <a:xfrm>
            <a:off x="570230" y="5755640"/>
            <a:ext cx="11172825" cy="467995"/>
          </a:xfrm>
          <a:prstGeom prst="rect">
            <a:avLst/>
          </a:prstGeom>
          <a:solidFill>
            <a:srgbClr val="FFF8E1"/>
          </a:solidFill>
          <a:ln w="12700">
            <a:solidFill>
              <a:srgbClr val="F59E0B"/>
            </a:solidFill>
          </a:ln>
        </p:spPr>
        <p:txBody>
          <a:bodyPr wrap="square" lIns="889" tIns="889" rIns="889" bIns="889" rtlCol="0" anchor="ctr">
            <a:noAutofit/>
          </a:bodyPr>
          <a:lstStyle/>
          <a:p>
            <a:pPr marL="0" indent="0" algn="ctr">
              <a:buNone/>
            </a:pPr>
            <a:r>
              <a:rPr lang="zh-CN" altLang="en-US" sz="2000" b="1" dirty="0">
                <a:solidFill>
                  <a:srgbClr val="B45309"/>
                </a:solidFill>
                <a:latin typeface="微软雅黑" panose="020B0503020204020204" charset="-122"/>
                <a:ea typeface="微软雅黑" panose="020B0503020204020204" charset="-122"/>
                <a:cs typeface="微软雅黑" panose="020B0503020204020204" pitchFamily="34" charset="-120"/>
              </a:rPr>
              <a:t>要覆盖很宽的激光参数范围，那么这些激光条件会产生更宽的 </a:t>
            </a:r>
            <a:r>
              <a:rPr lang="en-US" altLang="zh-CN" sz="2000" b="1" dirty="0">
                <a:solidFill>
                  <a:srgbClr val="B45309"/>
                </a:solidFill>
                <a:latin typeface="微软雅黑" panose="020B0503020204020204" charset="-122"/>
                <a:ea typeface="微软雅黑" panose="020B0503020204020204" charset="-122"/>
                <a:cs typeface="微软雅黑" panose="020B0503020204020204" pitchFamily="34" charset="-120"/>
              </a:rPr>
              <a:t>Te </a:t>
            </a:r>
            <a:r>
              <a:rPr lang="zh-CN" altLang="en-US" sz="2000" b="1" dirty="0">
                <a:solidFill>
                  <a:srgbClr val="B45309"/>
                </a:solidFill>
                <a:latin typeface="微软雅黑" panose="020B0503020204020204" charset="-122"/>
                <a:ea typeface="微软雅黑" panose="020B0503020204020204" charset="-122"/>
                <a:cs typeface="微软雅黑" panose="020B0503020204020204" pitchFamily="34" charset="-120"/>
              </a:rPr>
              <a:t>范围和更多可能访问到的结构</a:t>
            </a:r>
            <a:endParaRPr lang="zh-CN" altLang="en-US" sz="2000" b="1" dirty="0">
              <a:solidFill>
                <a:srgbClr val="B45309"/>
              </a:solidFill>
              <a:latin typeface="微软雅黑" panose="020B0503020204020204" charset="-122"/>
              <a:ea typeface="微软雅黑" panose="020B0503020204020204" charset="-122"/>
              <a:cs typeface="微软雅黑" panose="020B0503020204020204" pitchFamily="34" charset="-120"/>
            </a:endParaRPr>
          </a:p>
        </p:txBody>
      </p:sp>
      <p:graphicFrame>
        <p:nvGraphicFramePr>
          <p:cNvPr id="42" name="对象 41"/>
          <p:cNvGraphicFramePr>
            <a:graphicFrameLocks noChangeAspect="1"/>
          </p:cNvGraphicFramePr>
          <p:nvPr/>
        </p:nvGraphicFramePr>
        <p:xfrm>
          <a:off x="4939665" y="2003425"/>
          <a:ext cx="5174615" cy="925195"/>
        </p:xfrm>
        <a:graphic>
          <a:graphicData uri="http://schemas.openxmlformats.org/presentationml/2006/ole">
            <mc:AlternateContent xmlns:mc="http://schemas.openxmlformats.org/markup-compatibility/2006">
              <mc:Choice xmlns:v="urn:schemas-microsoft-com:vml" Requires="v">
                <p:oleObj spid="_x0000_s0" name="Equation" r:id="rId1" imgW="2794000" imgH="508000" progId="Equation.DSMT4">
                  <p:embed/>
                </p:oleObj>
              </mc:Choice>
              <mc:Fallback>
                <p:oleObj name="Equation" r:id="rId1" imgW="2794000" imgH="508000" progId="Equation.DSMT4">
                  <p:embed/>
                  <p:pic>
                    <p:nvPicPr>
                      <p:cNvPr id="0" name="图片 8"/>
                      <p:cNvPicPr/>
                      <p:nvPr/>
                    </p:nvPicPr>
                    <p:blipFill>
                      <a:blip r:embed="rId2"/>
                      <a:stretch>
                        <a:fillRect/>
                      </a:stretch>
                    </p:blipFill>
                    <p:spPr>
                      <a:xfrm>
                        <a:off x="4939665" y="2003425"/>
                        <a:ext cx="5174615" cy="925195"/>
                      </a:xfrm>
                      <a:prstGeom prst="rect">
                        <a:avLst/>
                      </a:prstGeom>
                    </p:spPr>
                  </p:pic>
                </p:oleObj>
              </mc:Fallback>
            </mc:AlternateContent>
          </a:graphicData>
        </a:graphic>
      </p:graphicFrame>
      <p:graphicFrame>
        <p:nvGraphicFramePr>
          <p:cNvPr id="2" name="对象 1"/>
          <p:cNvGraphicFramePr>
            <a:graphicFrameLocks noChangeAspect="1"/>
          </p:cNvGraphicFramePr>
          <p:nvPr/>
        </p:nvGraphicFramePr>
        <p:xfrm>
          <a:off x="4939665" y="4158419"/>
          <a:ext cx="3960234" cy="1541917"/>
        </p:xfrm>
        <a:graphic>
          <a:graphicData uri="http://schemas.openxmlformats.org/presentationml/2006/ole">
            <mc:AlternateContent xmlns:mc="http://schemas.openxmlformats.org/markup-compatibility/2006">
              <mc:Choice xmlns:v="urn:schemas-microsoft-com:vml" Requires="v">
                <p:oleObj spid="_x0000_s0" name="Equation" r:id="rId3" imgW="3250565" imgH="1266190" progId="Equation.DSMT4">
                  <p:embed/>
                </p:oleObj>
              </mc:Choice>
              <mc:Fallback>
                <p:oleObj name="Equation" r:id="rId3" imgW="3250565" imgH="1266190" progId="Equation.DSMT4">
                  <p:embed/>
                  <p:pic>
                    <p:nvPicPr>
                      <p:cNvPr id="0" name="图片 -1"/>
                      <p:cNvPicPr/>
                      <p:nvPr/>
                    </p:nvPicPr>
                    <p:blipFill>
                      <a:blip r:embed="rId4"/>
                      <a:stretch>
                        <a:fillRect/>
                      </a:stretch>
                    </p:blipFill>
                    <p:spPr>
                      <a:xfrm>
                        <a:off x="4939665" y="4158419"/>
                        <a:ext cx="3960234" cy="1541917"/>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7169990" y="3399202"/>
          <a:ext cx="4364297" cy="657673"/>
        </p:xfrm>
        <a:graphic>
          <a:graphicData uri="http://schemas.openxmlformats.org/presentationml/2006/ole">
            <mc:AlternateContent xmlns:mc="http://schemas.openxmlformats.org/markup-compatibility/2006">
              <mc:Choice xmlns:v="urn:schemas-microsoft-com:vml" Requires="v">
                <p:oleObj spid="_x0000_s0" name="Equation" r:id="rId5" imgW="60655200" imgH="9144000" progId="Equation.DSMT4">
                  <p:embed/>
                </p:oleObj>
              </mc:Choice>
              <mc:Fallback>
                <p:oleObj name="Equation" r:id="rId5" imgW="60655200" imgH="9144000" progId="Equation.DSMT4">
                  <p:embed/>
                  <p:pic>
                    <p:nvPicPr>
                      <p:cNvPr id="0" name="图片 -1"/>
                      <p:cNvPicPr/>
                      <p:nvPr/>
                    </p:nvPicPr>
                    <p:blipFill>
                      <a:blip r:embed="rId6"/>
                      <a:stretch>
                        <a:fillRect/>
                      </a:stretch>
                    </p:blipFill>
                    <p:spPr>
                      <a:xfrm>
                        <a:off x="7169990" y="3399202"/>
                        <a:ext cx="4364297" cy="657673"/>
                      </a:xfrm>
                      <a:prstGeom prst="rect">
                        <a:avLst/>
                      </a:prstGeom>
                    </p:spPr>
                  </p:pic>
                </p:oleObj>
              </mc:Fallback>
            </mc:AlternateContent>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28172" y="168829"/>
            <a:ext cx="7512485" cy="475615"/>
          </a:xfrm>
          <a:prstGeom prst="rect">
            <a:avLst/>
          </a:prstGeom>
          <a:noFill/>
        </p:spPr>
        <p:txBody>
          <a:bodyPr wrap="square">
            <a:spAutoFit/>
          </a:bodyPr>
          <a:lstStyle/>
          <a:p>
            <a:r>
              <a:rPr lang="zh-CN" altLang="en-US" sz="2500" b="1" dirty="0">
                <a:solidFill>
                  <a:srgbClr val="102A43"/>
                </a:solidFill>
                <a:latin typeface="微软雅黑" panose="020B0503020204020204" charset="-122"/>
                <a:ea typeface="微软雅黑" panose="020B0503020204020204" charset="-122"/>
              </a:rPr>
              <a:t>研究内容</a:t>
            </a:r>
            <a:r>
              <a:rPr lang="en-US" altLang="zh-CN" sz="2500" b="1" dirty="0">
                <a:solidFill>
                  <a:srgbClr val="102A43"/>
                </a:solidFill>
                <a:latin typeface="微软雅黑" panose="020B0503020204020204" charset="-122"/>
                <a:ea typeface="微软雅黑" panose="020B0503020204020204" charset="-122"/>
                <a:sym typeface="+mn-ea"/>
              </a:rPr>
              <a:t> 3｜</a:t>
            </a:r>
            <a:r>
              <a:rPr lang="zh-CN" altLang="en-US" sz="2500" b="1" dirty="0">
                <a:solidFill>
                  <a:srgbClr val="102A43"/>
                </a:solidFill>
                <a:latin typeface="微软雅黑" panose="020B0503020204020204" charset="-122"/>
                <a:ea typeface="微软雅黑" panose="020B0503020204020204" charset="-122"/>
                <a:sym typeface="+mn-ea"/>
              </a:rPr>
              <a:t>构建电子温度依赖机器学习势</a:t>
            </a:r>
            <a:endParaRPr lang="zh-CN" altLang="en-US" sz="2500" b="1" dirty="0">
              <a:solidFill>
                <a:srgbClr val="102A43"/>
              </a:solidFill>
              <a:latin typeface="微软雅黑" panose="020B0503020204020204" charset="-122"/>
              <a:ea typeface="微软雅黑" panose="020B0503020204020204" charset="-122"/>
            </a:endParaRPr>
          </a:p>
        </p:txBody>
      </p:sp>
      <p:pic>
        <p:nvPicPr>
          <p:cNvPr id="1121612541" name="图片 1"/>
          <p:cNvPicPr>
            <a:picLocks noChangeAspect="1"/>
          </p:cNvPicPr>
          <p:nvPr/>
        </p:nvPicPr>
        <p:blipFill rotWithShape="1">
          <a:blip r:embed="rId1"/>
          <a:srcRect l="4685" t="9707" r="43278" b="37779"/>
          <a:stretch>
            <a:fillRect/>
          </a:stretch>
        </p:blipFill>
        <p:spPr bwMode="auto">
          <a:xfrm>
            <a:off x="588010" y="826135"/>
            <a:ext cx="5507990" cy="2661285"/>
          </a:xfrm>
          <a:prstGeom prst="rect">
            <a:avLst/>
          </a:prstGeom>
          <a:ln>
            <a:noFill/>
          </a:ln>
        </p:spPr>
      </p:pic>
      <p:sp>
        <p:nvSpPr>
          <p:cNvPr id="10" name="文本框 9"/>
          <p:cNvSpPr txBox="1"/>
          <p:nvPr/>
        </p:nvSpPr>
        <p:spPr>
          <a:xfrm>
            <a:off x="2108200" y="6125845"/>
            <a:ext cx="7185025" cy="541655"/>
          </a:xfrm>
          <a:prstGeom prst="rect">
            <a:avLst/>
          </a:prstGeom>
          <a:noFill/>
        </p:spPr>
        <p:txBody>
          <a:bodyPr wrap="square" rtlCol="0" anchor="t">
            <a:noAutofit/>
          </a:bodyPr>
          <a:lstStyle/>
          <a:p>
            <a:r>
              <a:rPr lang="zh-CN" altLang="en-US" sz="1600" dirty="0">
                <a:latin typeface="Times New Roman" panose="02020603050405020304" charset="0"/>
                <a:cs typeface="Times New Roman" panose="02020603050405020304" charset="0"/>
                <a:sym typeface="+mn-ea"/>
              </a:rPr>
              <a:t>Qiyu Zeng,et al. npj Computational Materials,2024,Vol.9(1): 1-7.</a:t>
            </a:r>
            <a:endParaRPr lang="zh-CN" altLang="en-US" sz="1600" dirty="0">
              <a:latin typeface="Times New Roman" panose="02020603050405020304" charset="0"/>
              <a:cs typeface="Times New Roman" panose="02020603050405020304" charset="0"/>
              <a:sym typeface="+mn-ea"/>
            </a:endParaRPr>
          </a:p>
          <a:p>
            <a:r>
              <a:rPr lang="en-US" altLang="zh-CN" sz="1600">
                <a:latin typeface="Times New Roman" panose="02020603050405020304" charset="0"/>
                <a:cs typeface="Times New Roman" panose="02020603050405020304" charset="0"/>
                <a:sym typeface="+mn-ea"/>
              </a:rPr>
              <a:t>Pascal Plettenberg,et al. Communications Materials,2023,Vol.4(1): 1-9.</a:t>
            </a:r>
            <a:endParaRPr lang="zh-CN" altLang="en-US" sz="1600">
              <a:latin typeface="Times New Roman" panose="02020603050405020304" charset="0"/>
              <a:cs typeface="Times New Roman" panose="02020603050405020304" charset="0"/>
            </a:endParaRPr>
          </a:p>
          <a:p>
            <a:endParaRPr lang="zh-CN" altLang="en-US" sz="1600" dirty="0">
              <a:latin typeface="Times New Roman" panose="02020603050405020304" charset="0"/>
              <a:cs typeface="Times New Roman" panose="02020603050405020304" charset="0"/>
              <a:sym typeface="+mn-ea"/>
            </a:endParaRPr>
          </a:p>
        </p:txBody>
      </p:sp>
      <p:grpSp>
        <p:nvGrpSpPr>
          <p:cNvPr id="4" name="组合 3"/>
          <p:cNvGrpSpPr/>
          <p:nvPr/>
        </p:nvGrpSpPr>
        <p:grpSpPr>
          <a:xfrm>
            <a:off x="395605" y="3487420"/>
            <a:ext cx="5944235" cy="2602230"/>
            <a:chOff x="926" y="5111"/>
            <a:chExt cx="10815" cy="4672"/>
          </a:xfrm>
        </p:grpSpPr>
        <p:pic>
          <p:nvPicPr>
            <p:cNvPr id="2107493614" name="图片 1"/>
            <p:cNvPicPr>
              <a:picLocks noChangeAspect="1"/>
            </p:cNvPicPr>
            <p:nvPr/>
          </p:nvPicPr>
          <p:blipFill>
            <a:blip r:embed="rId2"/>
            <a:srcRect l="6385" t="50780" r="53120" b="1821"/>
            <a:stretch>
              <a:fillRect/>
            </a:stretch>
          </p:blipFill>
          <p:spPr>
            <a:xfrm>
              <a:off x="926" y="6574"/>
              <a:ext cx="5680" cy="3208"/>
            </a:xfrm>
            <a:prstGeom prst="rect">
              <a:avLst/>
            </a:prstGeom>
          </p:spPr>
        </p:pic>
        <p:pic>
          <p:nvPicPr>
            <p:cNvPr id="2" name="图片 1"/>
            <p:cNvPicPr>
              <a:picLocks noChangeAspect="1"/>
            </p:cNvPicPr>
            <p:nvPr/>
          </p:nvPicPr>
          <p:blipFill>
            <a:blip r:embed="rId2"/>
            <a:srcRect l="46988"/>
            <a:stretch>
              <a:fillRect/>
            </a:stretch>
          </p:blipFill>
          <p:spPr>
            <a:xfrm>
              <a:off x="6419" y="5111"/>
              <a:ext cx="5323" cy="4672"/>
            </a:xfrm>
            <a:prstGeom prst="rect">
              <a:avLst/>
            </a:prstGeom>
          </p:spPr>
        </p:pic>
      </p:grpSp>
      <p:sp>
        <p:nvSpPr>
          <p:cNvPr id="5" name="下箭头 4"/>
          <p:cNvSpPr/>
          <p:nvPr/>
        </p:nvSpPr>
        <p:spPr>
          <a:xfrm>
            <a:off x="3737610" y="3183255"/>
            <a:ext cx="1292860" cy="304165"/>
          </a:xfrm>
          <a:prstGeom prst="downArrow">
            <a:avLst/>
          </a:prstGeom>
          <a:gradFill>
            <a:gsLst>
              <a:gs pos="64000">
                <a:schemeClr val="accent2"/>
              </a:gs>
              <a:gs pos="0">
                <a:schemeClr val="accent2">
                  <a:lumMod val="25000"/>
                  <a:lumOff val="75000"/>
                </a:schemeClr>
              </a:gs>
              <a:gs pos="100000">
                <a:schemeClr val="accent2">
                  <a:lumMod val="85000"/>
                </a:schemeClr>
              </a:gs>
            </a:gsLst>
            <a:lin ang="5400000" scaled="1"/>
          </a:gradFill>
          <a:ln>
            <a:solidFill>
              <a:schemeClr val="accent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Shape 4"/>
          <p:cNvSpPr/>
          <p:nvPr/>
        </p:nvSpPr>
        <p:spPr>
          <a:xfrm>
            <a:off x="6687185" y="948055"/>
            <a:ext cx="4985385" cy="4239895"/>
          </a:xfrm>
          <a:prstGeom prst="roundRect">
            <a:avLst>
              <a:gd name="adj" fmla="val 2000"/>
            </a:avLst>
          </a:prstGeom>
          <a:solidFill>
            <a:srgbClr val="FFFFFF"/>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dirty="0"/>
          </a:p>
        </p:txBody>
      </p:sp>
      <p:grpSp>
        <p:nvGrpSpPr>
          <p:cNvPr id="8" name="组合 7"/>
          <p:cNvGrpSpPr/>
          <p:nvPr/>
        </p:nvGrpSpPr>
        <p:grpSpPr>
          <a:xfrm>
            <a:off x="7840980" y="1734820"/>
            <a:ext cx="2722245" cy="1337310"/>
            <a:chOff x="11873" y="3275"/>
            <a:chExt cx="4460" cy="2216"/>
          </a:xfrm>
        </p:grpSpPr>
        <p:sp>
          <p:nvSpPr>
            <p:cNvPr id="12" name="矩形: 圆角 11"/>
            <p:cNvSpPr/>
            <p:nvPr/>
          </p:nvSpPr>
          <p:spPr>
            <a:xfrm>
              <a:off x="11873" y="3275"/>
              <a:ext cx="4461" cy="2217"/>
            </a:xfrm>
            <a:prstGeom prst="roundRect">
              <a:avLst/>
            </a:prstGeom>
            <a:solidFill>
              <a:srgbClr val="F1EEFA"/>
            </a:solidFill>
            <a:ln w="13970">
              <a:solidFill>
                <a:srgbClr val="EDC8E8"/>
              </a:solidFill>
              <a:prstDash val="solid"/>
            </a:ln>
            <a:effectLst>
              <a:outerShdw blurRad="19050" dist="50800" dir="2700000" algn="bl" rotWithShape="0">
                <a:srgbClr val="B8C6D2">
                  <a:alpha val="18000"/>
                </a:srgbClr>
              </a:outerShdw>
            </a:effectLst>
          </p:spPr>
          <p:txBody>
            <a:bodyPr rtlCol="0" anchor="t">
              <a:noAutofit/>
            </a:bodyPr>
            <a:lstStyle/>
            <a:p>
              <a:pPr algn="ctr">
                <a:lnSpc>
                  <a:spcPct val="140000"/>
                </a:lnSpc>
              </a:pPr>
              <a:endParaRPr lang="zh-CN" altLang="en-US">
                <a:solidFill>
                  <a:schemeClr val="tx1"/>
                </a:solidFill>
              </a:endParaRPr>
            </a:p>
          </p:txBody>
        </p:sp>
        <p:graphicFrame>
          <p:nvGraphicFramePr>
            <p:cNvPr id="11" name="对象 10"/>
            <p:cNvGraphicFramePr>
              <a:graphicFrameLocks noChangeAspect="1"/>
            </p:cNvGraphicFramePr>
            <p:nvPr/>
          </p:nvGraphicFramePr>
          <p:xfrm>
            <a:off x="12257" y="4259"/>
            <a:ext cx="3673" cy="1105"/>
          </p:xfrm>
          <a:graphic>
            <a:graphicData uri="http://schemas.openxmlformats.org/presentationml/2006/ole">
              <mc:AlternateContent xmlns:mc="http://schemas.openxmlformats.org/markup-compatibility/2006">
                <mc:Choice xmlns:v="urn:schemas-microsoft-com:vml" Requires="v">
                  <p:oleObj spid="_x0000_s0" name="Equation" r:id="rId3" imgW="34442400" imgH="10363200" progId="Equation.DSMT4">
                    <p:embed/>
                  </p:oleObj>
                </mc:Choice>
                <mc:Fallback>
                  <p:oleObj name="Equation" r:id="rId3" imgW="34442400" imgH="10363200" progId="Equation.DSMT4">
                    <p:embed/>
                    <p:pic>
                      <p:nvPicPr>
                        <p:cNvPr id="0" name="图片 -1"/>
                        <p:cNvPicPr/>
                        <p:nvPr/>
                      </p:nvPicPr>
                      <p:blipFill>
                        <a:blip r:embed="rId4"/>
                        <a:stretch>
                          <a:fillRect/>
                        </a:stretch>
                      </p:blipFill>
                      <p:spPr>
                        <a:xfrm>
                          <a:off x="12257" y="4259"/>
                          <a:ext cx="3673" cy="1105"/>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2486" y="3493"/>
            <a:ext cx="3215" cy="727"/>
          </p:xfrm>
          <a:graphic>
            <a:graphicData uri="http://schemas.openxmlformats.org/presentationml/2006/ole">
              <mc:AlternateContent xmlns:mc="http://schemas.openxmlformats.org/markup-compatibility/2006">
                <mc:Choice xmlns:v="urn:schemas-microsoft-com:vml" Requires="v">
                  <p:oleObj spid="_x0000_s0" name="Equation" r:id="rId5" imgW="25603200" imgH="5791200" progId="Equation.DSMT4">
                    <p:embed/>
                  </p:oleObj>
                </mc:Choice>
                <mc:Fallback>
                  <p:oleObj name="Equation" r:id="rId5" imgW="25603200" imgH="5791200" progId="Equation.DSMT4">
                    <p:embed/>
                    <p:pic>
                      <p:nvPicPr>
                        <p:cNvPr id="0" name="图片 -1"/>
                        <p:cNvPicPr/>
                        <p:nvPr/>
                      </p:nvPicPr>
                      <p:blipFill>
                        <a:blip r:embed="rId6"/>
                        <a:stretch>
                          <a:fillRect/>
                        </a:stretch>
                      </p:blipFill>
                      <p:spPr>
                        <a:xfrm>
                          <a:off x="12486" y="3493"/>
                          <a:ext cx="3215" cy="727"/>
                        </a:xfrm>
                        <a:prstGeom prst="rect">
                          <a:avLst/>
                        </a:prstGeom>
                      </p:spPr>
                    </p:pic>
                  </p:oleObj>
                </mc:Fallback>
              </mc:AlternateContent>
            </a:graphicData>
          </a:graphic>
        </p:graphicFrame>
      </p:grpSp>
      <p:sp>
        <p:nvSpPr>
          <p:cNvPr id="6" name="文本框 5"/>
          <p:cNvSpPr txBox="1"/>
          <p:nvPr/>
        </p:nvSpPr>
        <p:spPr>
          <a:xfrm>
            <a:off x="6687820" y="1107440"/>
            <a:ext cx="4984750" cy="476250"/>
          </a:xfrm>
          <a:prstGeom prst="rect">
            <a:avLst/>
          </a:prstGeom>
        </p:spPr>
        <p:txBody>
          <a:bodyPr wrap="square">
            <a:noAutofit/>
          </a:bodyPr>
          <a:lstStyle/>
          <a:p>
            <a:pPr algn="ctr"/>
            <a:r>
              <a:rPr lang="zh-CN" altLang="en-US" b="1" dirty="0">
                <a:solidFill>
                  <a:srgbClr val="6E5AA6"/>
                </a:solidFill>
                <a:latin typeface="+mj-ea"/>
                <a:ea typeface="+mj-ea"/>
              </a:rPr>
              <a:t>将</a:t>
            </a:r>
            <a:r>
              <a:rPr lang="en-US" b="1" dirty="0" err="1">
                <a:solidFill>
                  <a:srgbClr val="6E5AA6"/>
                </a:solidFill>
                <a:latin typeface="+mj-ea"/>
                <a:ea typeface="+mj-ea"/>
              </a:rPr>
              <a:t>电子</a:t>
            </a:r>
            <a:r>
              <a:rPr lang="zh-CN" altLang="en-US" b="1" dirty="0">
                <a:solidFill>
                  <a:srgbClr val="6E5AA6"/>
                </a:solidFill>
                <a:latin typeface="+mj-ea"/>
                <a:ea typeface="+mj-ea"/>
              </a:rPr>
              <a:t>温</a:t>
            </a:r>
            <a:r>
              <a:rPr lang="en-US" b="1" dirty="0">
                <a:solidFill>
                  <a:srgbClr val="6E5AA6"/>
                </a:solidFill>
                <a:latin typeface="+mj-ea"/>
                <a:ea typeface="+mj-ea"/>
              </a:rPr>
              <a:t>度 </a:t>
            </a:r>
            <a:r>
              <a:rPr lang="en-US" b="1" dirty="0" err="1">
                <a:solidFill>
                  <a:srgbClr val="6E5AA6"/>
                </a:solidFill>
                <a:latin typeface="Times New Roman" panose="02020603050405020304" charset="0"/>
                <a:ea typeface="+mj-ea"/>
                <a:cs typeface="Times New Roman" panose="02020603050405020304" charset="0"/>
              </a:rPr>
              <a:t>Te</a:t>
            </a:r>
            <a:r>
              <a:rPr lang="en-US" b="1" dirty="0">
                <a:solidFill>
                  <a:srgbClr val="6E5AA6"/>
                </a:solidFill>
                <a:latin typeface="+mj-ea"/>
                <a:ea typeface="+mj-ea"/>
              </a:rPr>
              <a:t> 作</a:t>
            </a:r>
            <a:r>
              <a:rPr lang="zh-CN" altLang="en-US" b="1" dirty="0">
                <a:solidFill>
                  <a:srgbClr val="6E5AA6"/>
                </a:solidFill>
                <a:latin typeface="+mj-ea"/>
                <a:ea typeface="+mj-ea"/>
              </a:rPr>
              <a:t>为</a:t>
            </a:r>
            <a:r>
              <a:rPr lang="en-US" b="1" dirty="0" err="1">
                <a:solidFill>
                  <a:srgbClr val="6E5AA6"/>
                </a:solidFill>
                <a:latin typeface="+mj-ea"/>
                <a:ea typeface="+mj-ea"/>
              </a:rPr>
              <a:t>显式描述符输入神经网络</a:t>
            </a:r>
            <a:endParaRPr lang="en-US" b="1" dirty="0">
              <a:solidFill>
                <a:srgbClr val="6E5AA6"/>
              </a:solidFill>
              <a:latin typeface="+mj-ea"/>
              <a:ea typeface="+mj-ea"/>
            </a:endParaRPr>
          </a:p>
        </p:txBody>
      </p:sp>
      <p:sp>
        <p:nvSpPr>
          <p:cNvPr id="14" name="文本框 13"/>
          <p:cNvSpPr txBox="1"/>
          <p:nvPr/>
        </p:nvSpPr>
        <p:spPr>
          <a:xfrm>
            <a:off x="6943725" y="4332605"/>
            <a:ext cx="4381500" cy="714375"/>
          </a:xfrm>
          <a:prstGeom prst="rect">
            <a:avLst/>
          </a:prstGeom>
          <a:noFill/>
        </p:spPr>
        <p:txBody>
          <a:bodyPr wrap="square" rtlCol="0" anchor="t">
            <a:noAutofit/>
          </a:bodyPr>
          <a:lstStyle/>
          <a:p>
            <a:pPr algn="ctr"/>
            <a:r>
              <a:rPr lang="en-US" altLang="zh-CN" b="1" dirty="0" err="1">
                <a:solidFill>
                  <a:srgbClr val="60758A"/>
                </a:solidFill>
                <a:latin typeface="+mj-lt"/>
                <a:ea typeface="+mj-ea"/>
                <a:cs typeface="+mj-ea"/>
                <a:sym typeface="+mn-ea"/>
              </a:rPr>
              <a:t>Te</a:t>
            </a:r>
            <a:r>
              <a:rPr lang="en-US" altLang="zh-CN" b="1" dirty="0">
                <a:solidFill>
                  <a:srgbClr val="60758A"/>
                </a:solidFill>
                <a:latin typeface="+mj-ea"/>
                <a:ea typeface="+mj-ea"/>
                <a:cs typeface="+mj-ea"/>
                <a:sym typeface="+mn-ea"/>
              </a:rPr>
              <a:t> </a:t>
            </a:r>
            <a:r>
              <a:rPr lang="zh-CN" altLang="en-US" b="1" dirty="0">
                <a:solidFill>
                  <a:srgbClr val="60758A"/>
                </a:solidFill>
                <a:latin typeface="+mj-ea"/>
                <a:ea typeface="+mj-ea"/>
                <a:cs typeface="+mj-ea"/>
                <a:sym typeface="+mn-ea"/>
              </a:rPr>
              <a:t>不只是标签，直接参与神经网络对自由能面的映射</a:t>
            </a:r>
            <a:endParaRPr lang="zh-CN" altLang="en-US" b="1" dirty="0">
              <a:solidFill>
                <a:srgbClr val="60758A"/>
              </a:solidFill>
              <a:latin typeface="+mj-ea"/>
              <a:ea typeface="+mj-ea"/>
              <a:cs typeface="+mj-ea"/>
              <a:sym typeface="+mn-ea"/>
            </a:endParaRPr>
          </a:p>
        </p:txBody>
      </p:sp>
      <p:sp>
        <p:nvSpPr>
          <p:cNvPr id="15" name="文本框 14"/>
          <p:cNvSpPr txBox="1"/>
          <p:nvPr/>
        </p:nvSpPr>
        <p:spPr>
          <a:xfrm>
            <a:off x="6687820" y="3245485"/>
            <a:ext cx="4984750" cy="914400"/>
          </a:xfrm>
          <a:prstGeom prst="rect">
            <a:avLst/>
          </a:prstGeom>
        </p:spPr>
        <p:txBody>
          <a:bodyPr>
            <a:noAutofit/>
          </a:bodyPr>
          <a:lstStyle/>
          <a:p>
            <a:pPr algn="ctr"/>
            <a:r>
              <a:rPr lang="en-US" b="1" dirty="0" err="1">
                <a:solidFill>
                  <a:srgbClr val="6E5AA6"/>
                </a:solidFill>
                <a:latin typeface="Times New Roman" panose="02020603050405020304" charset="0"/>
                <a:ea typeface="+mj-ea"/>
                <a:cs typeface="Times New Roman" panose="02020603050405020304" charset="0"/>
              </a:rPr>
              <a:t>Te-dependent ML</a:t>
            </a:r>
            <a:r>
              <a:rPr lang="en-US" b="1" dirty="0" err="1">
                <a:solidFill>
                  <a:srgbClr val="6E5AA6"/>
                </a:solidFill>
                <a:latin typeface="+mj-ea"/>
                <a:ea typeface="+mj-ea"/>
              </a:rPr>
              <a:t> 势接入</a:t>
            </a:r>
            <a:r>
              <a:rPr lang="en-US" b="1" dirty="0" err="1">
                <a:solidFill>
                  <a:srgbClr val="6E5AA6"/>
                </a:solidFill>
                <a:latin typeface="Times New Roman" panose="02020603050405020304" charset="0"/>
                <a:ea typeface="+mj-ea"/>
                <a:cs typeface="Times New Roman" panose="02020603050405020304" charset="0"/>
              </a:rPr>
              <a:t> DPMD</a:t>
            </a:r>
            <a:r>
              <a:rPr lang="en-US" b="1" dirty="0" err="1">
                <a:solidFill>
                  <a:srgbClr val="6E5AA6"/>
                </a:solidFill>
                <a:latin typeface="+mj-ea"/>
                <a:ea typeface="+mj-ea"/>
              </a:rPr>
              <a:t> </a:t>
            </a:r>
            <a:r>
              <a:rPr lang="en-US" b="1" dirty="0" err="1">
                <a:solidFill>
                  <a:srgbClr val="6E5AA6"/>
                </a:solidFill>
                <a:latin typeface="Times New Roman" panose="02020603050405020304" charset="0"/>
                <a:ea typeface="+mj-ea"/>
                <a:cs typeface="Times New Roman" panose="02020603050405020304" charset="0"/>
              </a:rPr>
              <a:t>：TTM</a:t>
            </a:r>
            <a:r>
              <a:rPr lang="en-US" b="1" dirty="0" err="1">
                <a:solidFill>
                  <a:srgbClr val="6E5AA6"/>
                </a:solidFill>
                <a:latin typeface="+mj-ea"/>
                <a:ea typeface="+mj-ea"/>
              </a:rPr>
              <a:t> 求解局域 </a:t>
            </a:r>
            <a:r>
              <a:rPr lang="en-US" b="1" dirty="0" err="1">
                <a:solidFill>
                  <a:srgbClr val="6E5AA6"/>
                </a:solidFill>
                <a:latin typeface="Times New Roman" panose="02020603050405020304" charset="0"/>
                <a:ea typeface="+mj-ea"/>
                <a:cs typeface="Times New Roman" panose="02020603050405020304" charset="0"/>
              </a:rPr>
              <a:t>Te(r,t)</a:t>
            </a:r>
            <a:r>
              <a:rPr lang="en-US" b="1" dirty="0" err="1">
                <a:solidFill>
                  <a:srgbClr val="6E5AA6"/>
                </a:solidFill>
                <a:latin typeface="+mj-ea"/>
                <a:ea typeface="+mj-ea"/>
              </a:rPr>
              <a:t>，每步由</a:t>
            </a:r>
            <a:r>
              <a:rPr lang="en-US" b="1" dirty="0" err="1">
                <a:solidFill>
                  <a:srgbClr val="6E5AA6"/>
                </a:solidFill>
                <a:latin typeface="Times New Roman" panose="02020603050405020304" charset="0"/>
                <a:ea typeface="+mj-ea"/>
                <a:cs typeface="Times New Roman" panose="02020603050405020304" charset="0"/>
              </a:rPr>
              <a:t> A(R,Te)</a:t>
            </a:r>
            <a:r>
              <a:rPr lang="en-US" b="1" dirty="0" err="1">
                <a:solidFill>
                  <a:srgbClr val="6E5AA6"/>
                </a:solidFill>
                <a:latin typeface="+mj-ea"/>
                <a:ea typeface="+mj-ea"/>
              </a:rPr>
              <a:t> 给出原子受力，驱动缺陷演化</a:t>
            </a:r>
            <a:endParaRPr lang="en-US" b="1" dirty="0" err="1">
              <a:solidFill>
                <a:srgbClr val="6E5AA6"/>
              </a:solidFill>
              <a:latin typeface="+mj-ea"/>
              <a:ea typeface="+mj-ea"/>
            </a:endParaRPr>
          </a:p>
        </p:txBody>
      </p:sp>
      <p:sp>
        <p:nvSpPr>
          <p:cNvPr id="54" name="Text 35"/>
          <p:cNvSpPr/>
          <p:nvPr/>
        </p:nvSpPr>
        <p:spPr>
          <a:xfrm>
            <a:off x="6687185" y="5332730"/>
            <a:ext cx="4985385" cy="756285"/>
          </a:xfrm>
          <a:prstGeom prst="roundRect">
            <a:avLst/>
          </a:prstGeom>
          <a:solidFill>
            <a:schemeClr val="accent6">
              <a:lumMod val="40000"/>
              <a:lumOff val="60000"/>
            </a:schemeClr>
          </a:solidFill>
        </p:spPr>
        <p:style>
          <a:lnRef idx="2">
            <a:schemeClr val="lt1"/>
          </a:lnRef>
          <a:fillRef idx="1">
            <a:schemeClr val="accent6"/>
          </a:fillRef>
          <a:effectRef idx="1">
            <a:schemeClr val="accent6"/>
          </a:effectRef>
          <a:fontRef idx="minor">
            <a:schemeClr val="lt1"/>
          </a:fontRef>
        </p:style>
        <p:txBody>
          <a:bodyPr wrap="square" lIns="91440" tIns="45720" rIns="91440" bIns="45720" rtlCol="0" anchor="ctr">
            <a:noAutofit/>
          </a:bodyPr>
          <a:lstStyle/>
          <a:p>
            <a:pPr lvl="0" algn="ctr">
              <a:buClrTx/>
              <a:buSzTx/>
              <a:buFontTx/>
            </a:pPr>
            <a:r>
              <a:rPr lang="zh-CN" altLang="en-US" b="1">
                <a:solidFill>
                  <a:schemeClr val="accent6">
                    <a:lumMod val="50000"/>
                  </a:schemeClr>
                </a:solidFill>
                <a:sym typeface="+mn-ea"/>
              </a:rPr>
              <a:t>λ、τ、F 是外部激励参数，共同决定 S(r,t)，再通过 Tₑ(r,t) 进入自由能面 A(R,Tₑ)</a:t>
            </a:r>
            <a:endParaRPr lang="zh-CN" altLang="en-US" b="1">
              <a:solidFill>
                <a:schemeClr val="accent6">
                  <a:lumMod val="50000"/>
                </a:schemeClr>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1612541" name="图片 1"/>
          <p:cNvPicPr>
            <a:picLocks noChangeAspect="1"/>
          </p:cNvPicPr>
          <p:nvPr/>
        </p:nvPicPr>
        <p:blipFill rotWithShape="1">
          <a:blip r:embed="rId1"/>
          <a:srcRect l="45803" t="68797" r="4514" b="1511"/>
          <a:stretch>
            <a:fillRect/>
          </a:stretch>
        </p:blipFill>
        <p:spPr bwMode="auto">
          <a:xfrm>
            <a:off x="400685" y="980440"/>
            <a:ext cx="6775450" cy="1566545"/>
          </a:xfrm>
          <a:prstGeom prst="rect">
            <a:avLst/>
          </a:prstGeom>
          <a:ln>
            <a:noFill/>
          </a:ln>
        </p:spPr>
      </p:pic>
      <p:sp>
        <p:nvSpPr>
          <p:cNvPr id="2" name="Text 0"/>
          <p:cNvSpPr/>
          <p:nvPr/>
        </p:nvSpPr>
        <p:spPr>
          <a:xfrm>
            <a:off x="344170" y="142875"/>
            <a:ext cx="7438390" cy="502920"/>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zh-CN" altLang="en-US" sz="2500" b="1" dirty="0">
                <a:solidFill>
                  <a:srgbClr val="102A43"/>
                </a:solidFill>
                <a:latin typeface="+mj-ea"/>
                <a:ea typeface="+mj-ea"/>
                <a:cs typeface="Noto Sans CJK SC" pitchFamily="34" charset="-120"/>
              </a:rPr>
              <a:t>量子信息驱动的原子尺度 — 统计电子温度场耦合</a:t>
            </a:r>
            <a:endParaRPr lang="zh-CN" altLang="en-US" sz="2500" b="1" dirty="0">
              <a:solidFill>
                <a:srgbClr val="102A43"/>
              </a:solidFill>
              <a:latin typeface="+mj-ea"/>
              <a:ea typeface="+mj-ea"/>
              <a:cs typeface="Noto Sans CJK SC" pitchFamily="34" charset="-120"/>
            </a:endParaRPr>
          </a:p>
        </p:txBody>
      </p:sp>
      <p:sp>
        <p:nvSpPr>
          <p:cNvPr id="12" name="文本框 11"/>
          <p:cNvSpPr txBox="1"/>
          <p:nvPr/>
        </p:nvSpPr>
        <p:spPr>
          <a:xfrm>
            <a:off x="2173605" y="6203315"/>
            <a:ext cx="7185025" cy="537845"/>
          </a:xfrm>
          <a:prstGeom prst="rect">
            <a:avLst/>
          </a:prstGeom>
          <a:noFill/>
        </p:spPr>
        <p:txBody>
          <a:bodyPr wrap="square" rtlCol="0" anchor="t">
            <a:noAutofit/>
          </a:bodyPr>
          <a:lstStyle/>
          <a:p>
            <a:r>
              <a:rPr lang="zh-CN" altLang="en-US" sz="1600" dirty="0">
                <a:latin typeface="Times New Roman" panose="02020603050405020304" charset="0"/>
                <a:cs typeface="Times New Roman" panose="02020603050405020304" charset="0"/>
                <a:sym typeface="+mn-ea"/>
              </a:rPr>
              <a:t>Qiyu Zeng,et al. Full-scale ab initio simulations of laser-driven atomistic dynamics[J]. npj Computational Materials,2024,Vol.9(1): 1-7.</a:t>
            </a:r>
            <a:endParaRPr lang="zh-CN" altLang="en-US" sz="1600" dirty="0">
              <a:latin typeface="Times New Roman" panose="02020603050405020304" charset="0"/>
              <a:cs typeface="Times New Roman" panose="02020603050405020304" charset="0"/>
              <a:sym typeface="+mn-ea"/>
            </a:endParaRPr>
          </a:p>
        </p:txBody>
      </p:sp>
      <p:sp>
        <p:nvSpPr>
          <p:cNvPr id="52" name="Shape 7"/>
          <p:cNvSpPr/>
          <p:nvPr/>
        </p:nvSpPr>
        <p:spPr>
          <a:xfrm>
            <a:off x="7530465" y="3556000"/>
            <a:ext cx="4507230" cy="2054225"/>
          </a:xfrm>
          <a:prstGeom prst="roundRect">
            <a:avLst>
              <a:gd name="adj" fmla="val 2174"/>
            </a:avLst>
          </a:prstGeom>
          <a:solidFill>
            <a:srgbClr val="F1EEFA"/>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dirty="0"/>
          </a:p>
        </p:txBody>
      </p:sp>
      <p:sp>
        <p:nvSpPr>
          <p:cNvPr id="54" name="Shape 27"/>
          <p:cNvSpPr/>
          <p:nvPr/>
        </p:nvSpPr>
        <p:spPr>
          <a:xfrm>
            <a:off x="7616825" y="3679825"/>
            <a:ext cx="1417320" cy="594360"/>
          </a:xfrm>
          <a:prstGeom prst="roundRect">
            <a:avLst>
              <a:gd name="adj" fmla="val 9231"/>
            </a:avLst>
          </a:prstGeom>
          <a:solidFill>
            <a:srgbClr val="E8F2FB"/>
          </a:solidFill>
          <a:ln w="12700">
            <a:solidFill>
              <a:srgbClr val="E8F2FB"/>
            </a:solidFill>
            <a:prstDash val="solid"/>
          </a:ln>
        </p:spPr>
      </p:sp>
      <p:sp>
        <p:nvSpPr>
          <p:cNvPr id="56" name="Shape 29"/>
          <p:cNvSpPr/>
          <p:nvPr/>
        </p:nvSpPr>
        <p:spPr>
          <a:xfrm>
            <a:off x="10423525" y="3641725"/>
            <a:ext cx="1508760" cy="594360"/>
          </a:xfrm>
          <a:prstGeom prst="roundRect">
            <a:avLst>
              <a:gd name="adj" fmla="val 9231"/>
            </a:avLst>
          </a:prstGeom>
          <a:solidFill>
            <a:srgbClr val="FFF3EC"/>
          </a:solidFill>
          <a:ln w="12700">
            <a:solidFill>
              <a:srgbClr val="FFF3EC"/>
            </a:solidFill>
            <a:prstDash val="solid"/>
          </a:ln>
        </p:spPr>
      </p:sp>
      <p:grpSp>
        <p:nvGrpSpPr>
          <p:cNvPr id="6" name="组合 5"/>
          <p:cNvGrpSpPr/>
          <p:nvPr/>
        </p:nvGrpSpPr>
        <p:grpSpPr>
          <a:xfrm>
            <a:off x="7613015" y="3688715"/>
            <a:ext cx="4294505" cy="1828800"/>
            <a:chOff x="12061" y="6229"/>
            <a:chExt cx="6700" cy="2880"/>
          </a:xfrm>
        </p:grpSpPr>
        <p:sp>
          <p:nvSpPr>
            <p:cNvPr id="55" name="Text 28"/>
            <p:cNvSpPr/>
            <p:nvPr/>
          </p:nvSpPr>
          <p:spPr>
            <a:xfrm>
              <a:off x="12205" y="6301"/>
              <a:ext cx="1944" cy="792"/>
            </a:xfrm>
            <a:prstGeom prst="rect">
              <a:avLst/>
            </a:prstGeom>
            <a:noFill/>
          </p:spPr>
          <p:txBody>
            <a:bodyPr wrap="square" lIns="254" tIns="254" rIns="254" bIns="254" rtlCol="0" anchor="ctr"/>
            <a:lstStyle/>
            <a:p>
              <a:pPr marL="0" algn="ctr">
                <a:buClrTx/>
                <a:buSzTx/>
                <a:buNone/>
              </a:pPr>
              <a:r>
                <a:rPr lang="en-US" sz="1400" b="1" dirty="0">
                  <a:solidFill>
                    <a:schemeClr val="accent1">
                      <a:lumMod val="75000"/>
                    </a:schemeClr>
                  </a:solidFill>
                  <a:latin typeface="+mj-ea"/>
                  <a:ea typeface="+mj-ea"/>
                  <a:cs typeface="+mj-ea"/>
                </a:rPr>
                <a:t>电子</a:t>
              </a:r>
              <a:r>
                <a:rPr lang="zh-CN" altLang="en-US" sz="1400" b="1" dirty="0">
                  <a:solidFill>
                    <a:schemeClr val="accent1">
                      <a:lumMod val="75000"/>
                    </a:schemeClr>
                  </a:solidFill>
                  <a:latin typeface="+mj-ea"/>
                  <a:ea typeface="+mj-ea"/>
                  <a:cs typeface="+mj-ea"/>
                </a:rPr>
                <a:t>温度场</a:t>
              </a:r>
              <a:endParaRPr lang="en-US" sz="1400" b="1" dirty="0">
                <a:solidFill>
                  <a:schemeClr val="accent1">
                    <a:lumMod val="75000"/>
                  </a:schemeClr>
                </a:solidFill>
                <a:latin typeface="+mj-ea"/>
                <a:ea typeface="+mj-ea"/>
                <a:cs typeface="+mj-ea"/>
              </a:endParaRPr>
            </a:p>
            <a:p>
              <a:pPr marL="0" algn="ctr">
                <a:buClrTx/>
                <a:buSzTx/>
                <a:buNone/>
              </a:pPr>
              <a:r>
                <a:rPr lang="en-US" sz="1400" b="1" dirty="0">
                  <a:solidFill>
                    <a:schemeClr val="accent1">
                      <a:lumMod val="75000"/>
                    </a:schemeClr>
                  </a:solidFill>
                  <a:latin typeface="+mj-ea"/>
                  <a:ea typeface="+mj-ea"/>
                  <a:cs typeface="+mj-ea"/>
                </a:rPr>
                <a:t>Tₑ(r,t)</a:t>
              </a:r>
              <a:endParaRPr lang="en-US" sz="1400" b="1" dirty="0">
                <a:solidFill>
                  <a:schemeClr val="accent1">
                    <a:lumMod val="75000"/>
                  </a:schemeClr>
                </a:solidFill>
                <a:latin typeface="+mj-ea"/>
                <a:ea typeface="+mj-ea"/>
                <a:cs typeface="+mj-ea"/>
              </a:endParaRPr>
            </a:p>
          </p:txBody>
        </p:sp>
        <p:sp>
          <p:nvSpPr>
            <p:cNvPr id="57" name="Text 30"/>
            <p:cNvSpPr/>
            <p:nvPr/>
          </p:nvSpPr>
          <p:spPr>
            <a:xfrm>
              <a:off x="16529" y="6229"/>
              <a:ext cx="2088" cy="792"/>
            </a:xfrm>
            <a:prstGeom prst="rect">
              <a:avLst/>
            </a:prstGeom>
            <a:noFill/>
          </p:spPr>
          <p:txBody>
            <a:bodyPr wrap="square" lIns="254" tIns="254" rIns="254" bIns="254" rtlCol="0" anchor="ctr"/>
            <a:lstStyle/>
            <a:p>
              <a:pPr marL="0" algn="ctr">
                <a:buClrTx/>
                <a:buSzTx/>
                <a:buNone/>
              </a:pPr>
              <a:r>
                <a:rPr lang="en-US" sz="1400" b="1" dirty="0">
                  <a:solidFill>
                    <a:srgbClr val="D73535"/>
                  </a:solidFill>
                  <a:latin typeface="+mj-ea"/>
                  <a:ea typeface="+mj-ea"/>
                  <a:cs typeface="+mj-ea"/>
                </a:rPr>
                <a:t>量子自由能面</a:t>
              </a:r>
              <a:endParaRPr lang="en-US" sz="1400" b="1" dirty="0">
                <a:solidFill>
                  <a:srgbClr val="D73535"/>
                </a:solidFill>
                <a:latin typeface="+mj-ea"/>
                <a:ea typeface="+mj-ea"/>
                <a:cs typeface="+mj-ea"/>
              </a:endParaRPr>
            </a:p>
            <a:p>
              <a:pPr marL="0" algn="ctr">
                <a:buClrTx/>
                <a:buSzTx/>
                <a:buNone/>
              </a:pPr>
              <a:r>
                <a:rPr lang="en-US" sz="1400" b="1" dirty="0">
                  <a:solidFill>
                    <a:srgbClr val="D73535"/>
                  </a:solidFill>
                  <a:latin typeface="+mj-ea"/>
                  <a:ea typeface="+mj-ea"/>
                  <a:cs typeface="+mj-ea"/>
                </a:rPr>
                <a:t>A(R,Tₑ)</a:t>
              </a:r>
              <a:endParaRPr lang="en-US" sz="1400" b="1" dirty="0">
                <a:solidFill>
                  <a:srgbClr val="D73535"/>
                </a:solidFill>
                <a:latin typeface="+mj-ea"/>
                <a:ea typeface="+mj-ea"/>
                <a:cs typeface="+mj-ea"/>
              </a:endParaRPr>
            </a:p>
          </p:txBody>
        </p:sp>
        <p:sp>
          <p:nvSpPr>
            <p:cNvPr id="58" name="Shape 31"/>
            <p:cNvSpPr/>
            <p:nvPr/>
          </p:nvSpPr>
          <p:spPr>
            <a:xfrm>
              <a:off x="16385" y="8101"/>
              <a:ext cx="2376" cy="936"/>
            </a:xfrm>
            <a:prstGeom prst="roundRect">
              <a:avLst>
                <a:gd name="adj" fmla="val 9231"/>
              </a:avLst>
            </a:prstGeom>
            <a:solidFill>
              <a:srgbClr val="F3F5F7"/>
            </a:solidFill>
            <a:ln w="12700">
              <a:solidFill>
                <a:srgbClr val="F3F5F7"/>
              </a:solidFill>
              <a:prstDash val="solid"/>
            </a:ln>
          </p:spPr>
        </p:sp>
        <p:sp>
          <p:nvSpPr>
            <p:cNvPr id="59" name="Text 32"/>
            <p:cNvSpPr/>
            <p:nvPr/>
          </p:nvSpPr>
          <p:spPr>
            <a:xfrm>
              <a:off x="16529" y="8202"/>
              <a:ext cx="2088" cy="792"/>
            </a:xfrm>
            <a:prstGeom prst="rect">
              <a:avLst/>
            </a:prstGeom>
            <a:noFill/>
          </p:spPr>
          <p:txBody>
            <a:bodyPr wrap="square" lIns="254" tIns="254" rIns="254" bIns="254" rtlCol="0" anchor="ctr"/>
            <a:lstStyle/>
            <a:p>
              <a:pPr marL="0" algn="ctr">
                <a:buClrTx/>
                <a:buSzTx/>
                <a:buNone/>
              </a:pPr>
              <a:r>
                <a:rPr lang="en-US" sz="1400" b="1" dirty="0">
                  <a:latin typeface="+mj-ea"/>
                  <a:ea typeface="+mj-ea"/>
                  <a:cs typeface="+mj-ea"/>
                </a:rPr>
                <a:t>原子力/运动</a:t>
              </a:r>
              <a:endParaRPr lang="en-US" sz="1400" b="1" dirty="0">
                <a:latin typeface="+mj-ea"/>
                <a:ea typeface="+mj-ea"/>
                <a:cs typeface="+mj-ea"/>
              </a:endParaRPr>
            </a:p>
            <a:p>
              <a:pPr marL="0" algn="ctr">
                <a:buClrTx/>
                <a:buSzTx/>
                <a:buNone/>
              </a:pPr>
              <a:r>
                <a:rPr lang="en-US" sz="1400" b="1" dirty="0">
                  <a:latin typeface="+mj-ea"/>
                  <a:ea typeface="+mj-ea"/>
                  <a:cs typeface="+mj-ea"/>
                </a:rPr>
                <a:t>F → R(t)</a:t>
              </a:r>
              <a:endParaRPr lang="en-US" sz="1400" b="1" dirty="0">
                <a:latin typeface="+mj-ea"/>
                <a:ea typeface="+mj-ea"/>
                <a:cs typeface="+mj-ea"/>
              </a:endParaRPr>
            </a:p>
          </p:txBody>
        </p:sp>
        <p:sp>
          <p:nvSpPr>
            <p:cNvPr id="60" name="Shape 33"/>
            <p:cNvSpPr/>
            <p:nvPr/>
          </p:nvSpPr>
          <p:spPr>
            <a:xfrm>
              <a:off x="12061" y="8173"/>
              <a:ext cx="2232" cy="936"/>
            </a:xfrm>
            <a:prstGeom prst="roundRect">
              <a:avLst>
                <a:gd name="adj" fmla="val 9231"/>
              </a:avLst>
            </a:prstGeom>
            <a:solidFill>
              <a:srgbClr val="EAF7F5"/>
            </a:solidFill>
            <a:ln w="12700">
              <a:solidFill>
                <a:srgbClr val="EAF7F5"/>
              </a:solidFill>
              <a:prstDash val="solid"/>
            </a:ln>
          </p:spPr>
        </p:sp>
        <p:sp>
          <p:nvSpPr>
            <p:cNvPr id="61" name="Text 34"/>
            <p:cNvSpPr/>
            <p:nvPr/>
          </p:nvSpPr>
          <p:spPr>
            <a:xfrm>
              <a:off x="12205" y="8274"/>
              <a:ext cx="1944" cy="792"/>
            </a:xfrm>
            <a:prstGeom prst="rect">
              <a:avLst/>
            </a:prstGeom>
            <a:noFill/>
          </p:spPr>
          <p:txBody>
            <a:bodyPr wrap="square" lIns="254" tIns="254" rIns="254" bIns="254" rtlCol="0" anchor="ctr"/>
            <a:lstStyle/>
            <a:p>
              <a:pPr marL="0" algn="ctr">
                <a:buClrTx/>
                <a:buSzTx/>
                <a:buNone/>
              </a:pPr>
              <a:r>
                <a:rPr lang="en-US" sz="1400" b="1" dirty="0">
                  <a:solidFill>
                    <a:schemeClr val="accent6">
                      <a:lumMod val="75000"/>
                    </a:schemeClr>
                  </a:solidFill>
                  <a:latin typeface="+mj-ea"/>
                  <a:ea typeface="+mj-ea"/>
                  <a:cs typeface="+mj-ea"/>
                </a:rPr>
                <a:t>局域晶格温度</a:t>
              </a:r>
              <a:endParaRPr lang="en-US" sz="1400" b="1" dirty="0">
                <a:solidFill>
                  <a:schemeClr val="accent6">
                    <a:lumMod val="75000"/>
                  </a:schemeClr>
                </a:solidFill>
                <a:latin typeface="+mj-ea"/>
                <a:ea typeface="+mj-ea"/>
                <a:cs typeface="+mj-ea"/>
              </a:endParaRPr>
            </a:p>
            <a:p>
              <a:pPr marL="0" algn="ctr">
                <a:buClrTx/>
                <a:buSzTx/>
                <a:buNone/>
              </a:pPr>
              <a:r>
                <a:rPr lang="en-US" sz="1400" b="1" dirty="0">
                  <a:solidFill>
                    <a:schemeClr val="accent6">
                      <a:lumMod val="75000"/>
                    </a:schemeClr>
                  </a:solidFill>
                  <a:latin typeface="+mj-ea"/>
                  <a:ea typeface="+mj-ea"/>
                  <a:cs typeface="+mj-ea"/>
                </a:rPr>
                <a:t>Tᵢ(r,t)</a:t>
              </a:r>
              <a:endParaRPr lang="en-US" sz="1400" b="1" dirty="0">
                <a:solidFill>
                  <a:schemeClr val="accent6">
                    <a:lumMod val="75000"/>
                  </a:schemeClr>
                </a:solidFill>
                <a:latin typeface="+mj-ea"/>
                <a:ea typeface="+mj-ea"/>
                <a:cs typeface="+mj-ea"/>
              </a:endParaRPr>
            </a:p>
          </p:txBody>
        </p:sp>
        <p:sp>
          <p:nvSpPr>
            <p:cNvPr id="62" name="Shape 35"/>
            <p:cNvSpPr/>
            <p:nvPr/>
          </p:nvSpPr>
          <p:spPr>
            <a:xfrm>
              <a:off x="14615" y="6675"/>
              <a:ext cx="1397" cy="0"/>
            </a:xfrm>
            <a:prstGeom prst="line">
              <a:avLst/>
            </a:prstGeom>
            <a:noFill/>
            <a:ln w="21590">
              <a:solidFill>
                <a:srgbClr val="1768AC"/>
              </a:solidFill>
              <a:prstDash val="solid"/>
              <a:headEnd type="none"/>
              <a:tailEnd type="triangle"/>
            </a:ln>
          </p:spPr>
        </p:sp>
        <p:sp>
          <p:nvSpPr>
            <p:cNvPr id="63" name="Shape 36"/>
            <p:cNvSpPr/>
            <p:nvPr/>
          </p:nvSpPr>
          <p:spPr>
            <a:xfrm>
              <a:off x="17580" y="7136"/>
              <a:ext cx="1" cy="872"/>
            </a:xfrm>
            <a:prstGeom prst="line">
              <a:avLst/>
            </a:prstGeom>
            <a:noFill/>
            <a:ln w="21590">
              <a:solidFill>
                <a:srgbClr val="D73535"/>
              </a:solidFill>
              <a:prstDash val="solid"/>
              <a:headEnd type="none"/>
              <a:tailEnd type="triangle"/>
            </a:ln>
          </p:spPr>
        </p:sp>
        <p:sp>
          <p:nvSpPr>
            <p:cNvPr id="64" name="Shape 37"/>
            <p:cNvSpPr/>
            <p:nvPr/>
          </p:nvSpPr>
          <p:spPr>
            <a:xfrm rot="10800000">
              <a:off x="14658" y="8634"/>
              <a:ext cx="1368" cy="0"/>
            </a:xfrm>
            <a:prstGeom prst="line">
              <a:avLst/>
            </a:prstGeom>
            <a:noFill/>
            <a:ln w="21590">
              <a:solidFill>
                <a:srgbClr val="586069"/>
              </a:solidFill>
              <a:prstDash val="solid"/>
              <a:headEnd type="none"/>
              <a:tailEnd type="triangle"/>
            </a:ln>
          </p:spPr>
        </p:sp>
        <p:sp>
          <p:nvSpPr>
            <p:cNvPr id="66" name="Text 39"/>
            <p:cNvSpPr/>
            <p:nvPr/>
          </p:nvSpPr>
          <p:spPr>
            <a:xfrm>
              <a:off x="14293" y="6877"/>
              <a:ext cx="2093" cy="621"/>
            </a:xfrm>
            <a:prstGeom prst="rect">
              <a:avLst/>
            </a:prstGeom>
            <a:noFill/>
          </p:spPr>
          <p:txBody>
            <a:bodyPr wrap="square" lIns="127" tIns="127" rIns="127" bIns="127" rtlCol="0" anchor="ctr">
              <a:noAutofit/>
            </a:bodyPr>
            <a:lstStyle/>
            <a:p>
              <a:pPr marL="0" indent="0" algn="ctr">
                <a:buNone/>
              </a:pPr>
              <a:r>
                <a:rPr lang="en-US" sz="1000" dirty="0">
                  <a:solidFill>
                    <a:srgbClr val="D73535"/>
                  </a:solidFill>
                </a:rPr>
                <a:t>Tₑ 进入势函数：</a:t>
              </a:r>
              <a:endParaRPr lang="en-US" sz="1000" dirty="0"/>
            </a:p>
            <a:p>
              <a:pPr marL="0" indent="0" algn="ctr">
                <a:buNone/>
              </a:pPr>
              <a:r>
                <a:rPr lang="en-US" sz="1000" dirty="0">
                  <a:solidFill>
                    <a:srgbClr val="D73535"/>
                  </a:solidFill>
                </a:rPr>
                <a:t>改变原子间作用</a:t>
              </a:r>
              <a:endParaRPr lang="en-US" sz="1000" dirty="0">
                <a:solidFill>
                  <a:srgbClr val="D73535"/>
                </a:solidFill>
              </a:endParaRPr>
            </a:p>
          </p:txBody>
        </p:sp>
        <p:sp>
          <p:nvSpPr>
            <p:cNvPr id="67" name="Text 40"/>
            <p:cNvSpPr/>
            <p:nvPr/>
          </p:nvSpPr>
          <p:spPr>
            <a:xfrm>
              <a:off x="14293" y="7842"/>
              <a:ext cx="2092" cy="662"/>
            </a:xfrm>
            <a:prstGeom prst="rect">
              <a:avLst/>
            </a:prstGeom>
            <a:noFill/>
          </p:spPr>
          <p:txBody>
            <a:bodyPr wrap="square" lIns="0" tIns="0" rIns="0" bIns="0" rtlCol="0" anchor="ctr"/>
            <a:lstStyle/>
            <a:p>
              <a:pPr marL="0" indent="0" algn="ctr">
                <a:buNone/>
              </a:pPr>
              <a:r>
                <a:rPr lang="en-US" sz="1000" dirty="0">
                  <a:solidFill>
                    <a:srgbClr val="2A9D8F"/>
                  </a:solidFill>
                </a:rPr>
                <a:t>原子动能反馈：</a:t>
              </a:r>
              <a:endParaRPr lang="en-US" sz="1000" dirty="0"/>
            </a:p>
            <a:p>
              <a:pPr marL="0" indent="0" algn="ctr">
                <a:buNone/>
              </a:pPr>
              <a:r>
                <a:rPr lang="en-US" sz="1000" dirty="0">
                  <a:solidFill>
                    <a:srgbClr val="2A9D8F"/>
                  </a:solidFill>
                </a:rPr>
                <a:t>更新电子-晶格换能</a:t>
              </a:r>
              <a:endParaRPr lang="en-US" sz="1000" dirty="0"/>
            </a:p>
          </p:txBody>
        </p:sp>
      </p:grpSp>
      <p:grpSp>
        <p:nvGrpSpPr>
          <p:cNvPr id="8" name="组合 7"/>
          <p:cNvGrpSpPr/>
          <p:nvPr/>
        </p:nvGrpSpPr>
        <p:grpSpPr>
          <a:xfrm>
            <a:off x="7530465" y="1101090"/>
            <a:ext cx="4600575" cy="2381250"/>
            <a:chOff x="11859" y="1734"/>
            <a:chExt cx="7245" cy="3750"/>
          </a:xfrm>
        </p:grpSpPr>
        <p:sp>
          <p:nvSpPr>
            <p:cNvPr id="49" name="Shape 4"/>
            <p:cNvSpPr/>
            <p:nvPr/>
          </p:nvSpPr>
          <p:spPr>
            <a:xfrm>
              <a:off x="11860" y="1734"/>
              <a:ext cx="7097" cy="3750"/>
            </a:xfrm>
            <a:prstGeom prst="roundRect">
              <a:avLst>
                <a:gd name="adj" fmla="val 2000"/>
              </a:avLst>
            </a:prstGeom>
            <a:solidFill>
              <a:srgbClr val="FFFFFF"/>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dirty="0"/>
            </a:p>
          </p:txBody>
        </p:sp>
        <p:graphicFrame>
          <p:nvGraphicFramePr>
            <p:cNvPr id="3" name="对象 2"/>
            <p:cNvGraphicFramePr>
              <a:graphicFrameLocks noChangeAspect="1"/>
            </p:cNvGraphicFramePr>
            <p:nvPr/>
          </p:nvGraphicFramePr>
          <p:xfrm>
            <a:off x="14147" y="2478"/>
            <a:ext cx="4642" cy="976"/>
          </p:xfrm>
          <a:graphic>
            <a:graphicData uri="http://schemas.openxmlformats.org/presentationml/2006/ole">
              <mc:AlternateContent xmlns:mc="http://schemas.openxmlformats.org/markup-compatibility/2006">
                <mc:Choice xmlns:v="urn:schemas-microsoft-com:vml" Requires="v">
                  <p:oleObj spid="_x0000_s0" name="Equation" r:id="rId2" imgW="47853600" imgH="10058400" progId="Equation.DSMT4">
                    <p:embed/>
                  </p:oleObj>
                </mc:Choice>
                <mc:Fallback>
                  <p:oleObj name="Equation" r:id="rId2" imgW="47853600" imgH="10058400" progId="Equation.DSMT4">
                    <p:embed/>
                    <p:pic>
                      <p:nvPicPr>
                        <p:cNvPr id="0" name="图片 -1"/>
                        <p:cNvPicPr/>
                        <p:nvPr/>
                      </p:nvPicPr>
                      <p:blipFill>
                        <a:blip r:embed="rId3"/>
                        <a:stretch>
                          <a:fillRect/>
                        </a:stretch>
                      </p:blipFill>
                      <p:spPr>
                        <a:xfrm>
                          <a:off x="14147" y="2478"/>
                          <a:ext cx="4642" cy="976"/>
                        </a:xfrm>
                        <a:prstGeom prst="rect">
                          <a:avLst/>
                        </a:prstGeom>
                      </p:spPr>
                    </p:pic>
                  </p:oleObj>
                </mc:Fallback>
              </mc:AlternateContent>
            </a:graphicData>
          </a:graphic>
        </p:graphicFrame>
        <p:sp>
          <p:nvSpPr>
            <p:cNvPr id="20" name="文本框 19"/>
            <p:cNvSpPr txBox="1"/>
            <p:nvPr/>
          </p:nvSpPr>
          <p:spPr>
            <a:xfrm>
              <a:off x="11859" y="1905"/>
              <a:ext cx="7245" cy="695"/>
            </a:xfrm>
            <a:prstGeom prst="rect">
              <a:avLst/>
            </a:prstGeom>
            <a:noFill/>
          </p:spPr>
          <p:txBody>
            <a:bodyPr wrap="square" rtlCol="0" anchor="t">
              <a:noAutofit/>
            </a:bodyPr>
            <a:lstStyle/>
            <a:p>
              <a:pPr marL="0" indent="0" algn="ctr">
                <a:buNone/>
              </a:pPr>
              <a:r>
                <a:rPr lang="en-US" sz="1800" b="1" dirty="0">
                  <a:solidFill>
                    <a:srgbClr val="143D70"/>
                  </a:solidFill>
                  <a:latin typeface="+mj-ea"/>
                  <a:ea typeface="+mj-ea"/>
                  <a:cs typeface="+mj-ea"/>
                  <a:sym typeface="+mn-ea"/>
                </a:rPr>
                <a:t>原子系统</a:t>
              </a:r>
              <a:r>
                <a:rPr lang="en-US" b="1" dirty="0">
                  <a:solidFill>
                    <a:srgbClr val="143D70"/>
                  </a:solidFill>
                  <a:latin typeface="+mj-ea"/>
                  <a:ea typeface="+mj-ea"/>
                  <a:cs typeface="+mj-ea"/>
                  <a:sym typeface="+mn-ea"/>
                </a:rPr>
                <a:t>  </a:t>
              </a:r>
              <a:r>
                <a:rPr lang="en-US" altLang="zh-CN" b="1" dirty="0">
                  <a:solidFill>
                    <a:srgbClr val="143D70"/>
                  </a:solidFill>
                  <a:latin typeface="+mj-ea"/>
                  <a:ea typeface="+mj-ea"/>
                  <a:cs typeface="+mj-ea"/>
                  <a:sym typeface="+mn-ea"/>
                </a:rPr>
                <a:t>→</a:t>
              </a:r>
              <a:r>
                <a:rPr lang="en-US" sz="1800" b="1" dirty="0">
                  <a:solidFill>
                    <a:srgbClr val="143D70"/>
                  </a:solidFill>
                  <a:latin typeface="+mj-ea"/>
                  <a:ea typeface="+mj-ea"/>
                  <a:cs typeface="+mj-ea"/>
                  <a:sym typeface="+mn-ea"/>
                </a:rPr>
                <a:t>“ </a:t>
              </a:r>
              <a:r>
                <a:rPr lang="en-US" b="1" dirty="0">
                  <a:solidFill>
                    <a:srgbClr val="143D70"/>
                  </a:solidFill>
                  <a:latin typeface="+mj-ea"/>
                  <a:ea typeface="+mj-ea"/>
                  <a:cs typeface="+mj-ea"/>
                  <a:sym typeface="+mn-ea"/>
                </a:rPr>
                <a:t>量子信息驱动的经典 MD</a:t>
              </a:r>
              <a:r>
                <a:rPr lang="en-US" sz="1800" b="1" dirty="0">
                  <a:solidFill>
                    <a:srgbClr val="143D70"/>
                  </a:solidFill>
                  <a:latin typeface="+mj-ea"/>
                  <a:ea typeface="+mj-ea"/>
                  <a:cs typeface="+mj-ea"/>
                  <a:sym typeface="+mn-ea"/>
                </a:rPr>
                <a:t>”</a:t>
              </a:r>
              <a:endParaRPr lang="en-US" sz="1800" b="1" dirty="0">
                <a:solidFill>
                  <a:srgbClr val="143D70"/>
                </a:solidFill>
                <a:latin typeface="+mj-ea"/>
                <a:ea typeface="+mj-ea"/>
                <a:cs typeface="+mj-ea"/>
                <a:sym typeface="+mn-ea"/>
              </a:endParaRPr>
            </a:p>
          </p:txBody>
        </p:sp>
        <p:sp>
          <p:nvSpPr>
            <p:cNvPr id="22" name="文本框 21"/>
            <p:cNvSpPr txBox="1"/>
            <p:nvPr/>
          </p:nvSpPr>
          <p:spPr>
            <a:xfrm>
              <a:off x="11976" y="2848"/>
              <a:ext cx="2185" cy="512"/>
            </a:xfrm>
            <a:prstGeom prst="rect">
              <a:avLst/>
            </a:prstGeom>
            <a:noFill/>
          </p:spPr>
          <p:txBody>
            <a:bodyPr wrap="square" rtlCol="0" anchor="t">
              <a:noAutofit/>
            </a:bodyPr>
            <a:lstStyle/>
            <a:p>
              <a:pPr marL="0" indent="0">
                <a:buNone/>
              </a:pPr>
              <a:r>
                <a:rPr lang="en-US" sz="1500" b="1" dirty="0">
                  <a:sym typeface="+mn-ea"/>
                </a:rPr>
                <a:t>原子运动方程</a:t>
              </a:r>
              <a:endParaRPr lang="en-US" sz="1500" b="1" dirty="0">
                <a:sym typeface="+mn-ea"/>
              </a:endParaRPr>
            </a:p>
          </p:txBody>
        </p:sp>
        <p:sp>
          <p:nvSpPr>
            <p:cNvPr id="23" name="文本框 22"/>
            <p:cNvSpPr txBox="1"/>
            <p:nvPr/>
          </p:nvSpPr>
          <p:spPr>
            <a:xfrm>
              <a:off x="15573" y="3360"/>
              <a:ext cx="1437" cy="839"/>
            </a:xfrm>
            <a:prstGeom prst="rect">
              <a:avLst/>
            </a:prstGeom>
            <a:noFill/>
          </p:spPr>
          <p:txBody>
            <a:bodyPr wrap="square" rtlCol="0" anchor="t">
              <a:noAutofit/>
            </a:bodyPr>
            <a:lstStyle/>
            <a:p>
              <a:pPr marL="0" indent="0">
                <a:buNone/>
              </a:pPr>
              <a:r>
                <a:rPr lang="en-US" sz="1350" b="1" dirty="0">
                  <a:solidFill>
                    <a:srgbClr val="1768AC"/>
                  </a:solidFill>
                  <a:sym typeface="+mn-ea"/>
                </a:rPr>
                <a:t>量子自由能面项</a:t>
              </a:r>
              <a:endParaRPr lang="en-US" sz="1350" b="1" dirty="0">
                <a:solidFill>
                  <a:srgbClr val="1768AC"/>
                </a:solidFill>
                <a:sym typeface="+mn-ea"/>
              </a:endParaRPr>
            </a:p>
          </p:txBody>
        </p:sp>
        <p:sp>
          <p:nvSpPr>
            <p:cNvPr id="24" name="文本框 23"/>
            <p:cNvSpPr txBox="1"/>
            <p:nvPr/>
          </p:nvSpPr>
          <p:spPr>
            <a:xfrm>
              <a:off x="17876" y="3359"/>
              <a:ext cx="1124" cy="371"/>
            </a:xfrm>
            <a:prstGeom prst="rect">
              <a:avLst/>
            </a:prstGeom>
            <a:noFill/>
          </p:spPr>
          <p:txBody>
            <a:bodyPr wrap="square" rtlCol="0" anchor="t">
              <a:noAutofit/>
            </a:bodyPr>
            <a:lstStyle/>
            <a:p>
              <a:pPr marL="0" indent="0">
                <a:buNone/>
              </a:pPr>
              <a:r>
                <a:rPr lang="en-US" sz="1350" b="1" dirty="0">
                  <a:solidFill>
                    <a:srgbClr val="1768AC"/>
                  </a:solidFill>
                  <a:sym typeface="+mn-ea"/>
                </a:rPr>
                <a:t>随机力</a:t>
              </a:r>
              <a:endParaRPr lang="en-US" sz="1350" b="1" dirty="0">
                <a:solidFill>
                  <a:srgbClr val="1768AC"/>
                </a:solidFill>
              </a:endParaRPr>
            </a:p>
            <a:p>
              <a:pPr marL="0" indent="0">
                <a:buNone/>
              </a:pPr>
              <a:endParaRPr lang="en-US" altLang="en-US" sz="1350" b="1" dirty="0">
                <a:solidFill>
                  <a:srgbClr val="D73535"/>
                </a:solidFill>
                <a:sym typeface="+mn-ea"/>
              </a:endParaRPr>
            </a:p>
          </p:txBody>
        </p:sp>
        <p:sp>
          <p:nvSpPr>
            <p:cNvPr id="25" name="文本框 24"/>
            <p:cNvSpPr txBox="1"/>
            <p:nvPr/>
          </p:nvSpPr>
          <p:spPr>
            <a:xfrm>
              <a:off x="16871" y="3360"/>
              <a:ext cx="1124" cy="371"/>
            </a:xfrm>
            <a:prstGeom prst="rect">
              <a:avLst/>
            </a:prstGeom>
            <a:noFill/>
          </p:spPr>
          <p:txBody>
            <a:bodyPr wrap="square" rtlCol="0" anchor="t">
              <a:noAutofit/>
            </a:bodyPr>
            <a:lstStyle/>
            <a:p>
              <a:pPr marL="0" indent="0">
                <a:buNone/>
              </a:pPr>
              <a:r>
                <a:rPr lang="en-US" sz="1350" b="1" dirty="0">
                  <a:solidFill>
                    <a:srgbClr val="1768AC"/>
                  </a:solidFill>
                  <a:sym typeface="+mn-ea"/>
                </a:rPr>
                <a:t>摩擦项</a:t>
              </a:r>
              <a:endParaRPr lang="en-US" sz="1350" b="1" dirty="0">
                <a:solidFill>
                  <a:srgbClr val="1768AC"/>
                </a:solidFill>
                <a:sym typeface="+mn-ea"/>
              </a:endParaRPr>
            </a:p>
          </p:txBody>
        </p:sp>
        <p:sp>
          <p:nvSpPr>
            <p:cNvPr id="68" name="文本框 67"/>
            <p:cNvSpPr txBox="1"/>
            <p:nvPr/>
          </p:nvSpPr>
          <p:spPr>
            <a:xfrm>
              <a:off x="12060" y="4297"/>
              <a:ext cx="6729" cy="1019"/>
            </a:xfrm>
            <a:prstGeom prst="rect">
              <a:avLst/>
            </a:prstGeom>
          </p:spPr>
          <p:txBody>
            <a:bodyPr wrap="square">
              <a:noAutofit/>
            </a:bodyPr>
            <a:lstStyle/>
            <a:p>
              <a:pPr algn="ctr"/>
              <a:r>
                <a:rPr lang="en-US" sz="1500" b="1" dirty="0">
                  <a:solidFill>
                    <a:srgbClr val="202124"/>
                  </a:solidFill>
                  <a:latin typeface="+mj-ea"/>
                  <a:ea typeface="+mj-ea"/>
                  <a:cs typeface="+mj-ea"/>
                </a:rPr>
                <a:t>  </a:t>
              </a:r>
              <a:r>
                <a:rPr lang="zh-CN" altLang="en-US" sz="1500" b="1" dirty="0">
                  <a:solidFill>
                    <a:srgbClr val="202124"/>
                  </a:solidFill>
                  <a:latin typeface="+mj-ea"/>
                  <a:ea typeface="+mj-ea"/>
                  <a:cs typeface="+mj-ea"/>
                </a:rPr>
                <a:t>原子运动采用经典 </a:t>
              </a:r>
              <a:r>
                <a:rPr lang="en-US" altLang="zh-CN" sz="1500" b="1" dirty="0">
                  <a:solidFill>
                    <a:srgbClr val="202124"/>
                  </a:solidFill>
                  <a:latin typeface="+mj-ea"/>
                  <a:ea typeface="+mj-ea"/>
                  <a:cs typeface="+mj-ea"/>
                </a:rPr>
                <a:t>MD，</a:t>
              </a:r>
              <a:r>
                <a:rPr lang="zh-CN" altLang="en-US" sz="1500" b="1" dirty="0">
                  <a:solidFill>
                    <a:srgbClr val="202124"/>
                  </a:solidFill>
                  <a:latin typeface="+mj-ea"/>
                  <a:ea typeface="+mj-ea"/>
                  <a:cs typeface="+mj-ea"/>
                </a:rPr>
                <a:t>局域电子温度通过量子自由能面对原子作用力产生影响</a:t>
              </a:r>
              <a:endParaRPr lang="zh-CN" altLang="en-US" sz="1500" b="1" dirty="0">
                <a:solidFill>
                  <a:srgbClr val="202124"/>
                </a:solidFill>
                <a:latin typeface="+mj-ea"/>
                <a:ea typeface="+mj-ea"/>
                <a:cs typeface="+mj-ea"/>
              </a:endParaRPr>
            </a:p>
          </p:txBody>
        </p:sp>
      </p:grpSp>
      <p:sp>
        <p:nvSpPr>
          <p:cNvPr id="69" name="文本框 68"/>
          <p:cNvSpPr txBox="1"/>
          <p:nvPr/>
        </p:nvSpPr>
        <p:spPr>
          <a:xfrm>
            <a:off x="46355" y="5645785"/>
            <a:ext cx="11990705" cy="454660"/>
          </a:xfrm>
          <a:prstGeom prst="rect">
            <a:avLst/>
          </a:prstGeom>
        </p:spPr>
        <p:txBody>
          <a:bodyPr wrap="square">
            <a:noAutofit/>
          </a:bodyPr>
          <a:lstStyle/>
          <a:p>
            <a:pPr algn="ctr"/>
            <a:r>
              <a:rPr lang="zh-CN" altLang="en-US" sz="2000" b="1">
                <a:solidFill>
                  <a:srgbClr val="FF0000"/>
                </a:solidFill>
                <a:latin typeface="+mj-ea"/>
                <a:ea typeface="+mj-ea"/>
                <a:cs typeface="+mj-ea"/>
              </a:rPr>
              <a:t>电子输运连续化</a:t>
            </a:r>
            <a:r>
              <a:rPr lang="en-US" altLang="zh-CN" sz="2000" b="1">
                <a:solidFill>
                  <a:srgbClr val="FF0000"/>
                </a:solidFill>
                <a:latin typeface="+mj-ea"/>
                <a:ea typeface="+mj-ea"/>
                <a:cs typeface="+mj-ea"/>
              </a:rPr>
              <a:t> + </a:t>
            </a:r>
            <a:r>
              <a:rPr lang="zh-CN" altLang="en-US" sz="2000" b="1">
                <a:solidFill>
                  <a:srgbClr val="FF0000"/>
                </a:solidFill>
                <a:latin typeface="+mj-ea"/>
                <a:ea typeface="+mj-ea"/>
                <a:cs typeface="+mj-ea"/>
              </a:rPr>
              <a:t>原子运动离散化</a:t>
            </a:r>
            <a:r>
              <a:rPr lang="en-US" altLang="zh-CN" sz="2000" b="1">
                <a:solidFill>
                  <a:srgbClr val="FF0000"/>
                </a:solidFill>
                <a:latin typeface="+mj-ea"/>
                <a:ea typeface="+mj-ea"/>
                <a:cs typeface="+mj-ea"/>
              </a:rPr>
              <a:t> + </a:t>
            </a:r>
            <a:r>
              <a:rPr lang="zh-CN" altLang="en-US" sz="2000" b="1">
                <a:solidFill>
                  <a:srgbClr val="FF0000"/>
                </a:solidFill>
                <a:latin typeface="+mj-ea"/>
                <a:ea typeface="+mj-ea"/>
                <a:cs typeface="+mj-ea"/>
              </a:rPr>
              <a:t>原子作用力保留量子信息</a:t>
            </a:r>
            <a:endParaRPr lang="zh-CN" altLang="en-US" sz="2000" b="1">
              <a:solidFill>
                <a:srgbClr val="FF0000"/>
              </a:solidFill>
              <a:latin typeface="+mj-ea"/>
              <a:ea typeface="+mj-ea"/>
              <a:cs typeface="+mj-ea"/>
            </a:endParaRPr>
          </a:p>
        </p:txBody>
      </p:sp>
      <p:grpSp>
        <p:nvGrpSpPr>
          <p:cNvPr id="74" name="组合 73"/>
          <p:cNvGrpSpPr/>
          <p:nvPr/>
        </p:nvGrpSpPr>
        <p:grpSpPr>
          <a:xfrm>
            <a:off x="107950" y="2790800"/>
            <a:ext cx="7360920" cy="2819425"/>
            <a:chOff x="124" y="3289"/>
            <a:chExt cx="11592" cy="4408"/>
          </a:xfrm>
        </p:grpSpPr>
        <p:sp>
          <p:nvSpPr>
            <p:cNvPr id="50" name="Shape 4"/>
            <p:cNvSpPr/>
            <p:nvPr/>
          </p:nvSpPr>
          <p:spPr>
            <a:xfrm>
              <a:off x="124" y="3289"/>
              <a:ext cx="11592" cy="4408"/>
            </a:xfrm>
            <a:prstGeom prst="roundRect">
              <a:avLst>
                <a:gd name="adj" fmla="val 2000"/>
              </a:avLst>
            </a:prstGeom>
            <a:solidFill>
              <a:srgbClr val="FFFFFF"/>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dirty="0"/>
            </a:p>
          </p:txBody>
        </p:sp>
        <p:sp>
          <p:nvSpPr>
            <p:cNvPr id="4" name="文本框 3"/>
            <p:cNvSpPr txBox="1"/>
            <p:nvPr/>
          </p:nvSpPr>
          <p:spPr>
            <a:xfrm>
              <a:off x="3190" y="3427"/>
              <a:ext cx="4773" cy="610"/>
            </a:xfrm>
            <a:prstGeom prst="rect">
              <a:avLst/>
            </a:prstGeom>
            <a:noFill/>
          </p:spPr>
          <p:txBody>
            <a:bodyPr wrap="square" rtlCol="0" anchor="t">
              <a:noAutofit/>
            </a:bodyPr>
            <a:lstStyle/>
            <a:p>
              <a:r>
                <a:rPr lang="en-US" b="1" dirty="0">
                  <a:solidFill>
                    <a:srgbClr val="143D70"/>
                  </a:solidFill>
                  <a:latin typeface="+mj-ea"/>
                  <a:ea typeface="+mj-ea"/>
                  <a:cs typeface="+mj-ea"/>
                  <a:sym typeface="+mn-ea"/>
                </a:rPr>
                <a:t>电子系统  </a:t>
              </a:r>
              <a:r>
                <a:rPr lang="en-US" altLang="zh-CN" b="1" dirty="0">
                  <a:solidFill>
                    <a:srgbClr val="143D70"/>
                  </a:solidFill>
                  <a:latin typeface="+mj-ea"/>
                  <a:ea typeface="+mj-ea"/>
                  <a:cs typeface="+mj-ea"/>
                  <a:sym typeface="+mn-ea"/>
                </a:rPr>
                <a:t>→</a:t>
              </a:r>
              <a:r>
                <a:rPr lang="en-US" b="1" dirty="0">
                  <a:solidFill>
                    <a:srgbClr val="143D70"/>
                  </a:solidFill>
                  <a:latin typeface="+mj-ea"/>
                  <a:ea typeface="+mj-ea"/>
                  <a:cs typeface="+mj-ea"/>
                  <a:sym typeface="+mn-ea"/>
                </a:rPr>
                <a:t>“连续</a:t>
              </a:r>
              <a:r>
                <a:rPr lang="zh-CN" altLang="en-US" b="1" dirty="0">
                  <a:solidFill>
                    <a:srgbClr val="143D70"/>
                  </a:solidFill>
                  <a:latin typeface="+mj-ea"/>
                  <a:ea typeface="+mj-ea"/>
                  <a:cs typeface="+mj-ea"/>
                  <a:sym typeface="+mn-ea"/>
                </a:rPr>
                <a:t>场近似</a:t>
              </a:r>
              <a:r>
                <a:rPr lang="en-US" b="1" dirty="0">
                  <a:solidFill>
                    <a:srgbClr val="143D70"/>
                  </a:solidFill>
                  <a:latin typeface="+mj-ea"/>
                  <a:ea typeface="+mj-ea"/>
                  <a:cs typeface="+mj-ea"/>
                  <a:sym typeface="+mn-ea"/>
                </a:rPr>
                <a:t>”</a:t>
              </a:r>
              <a:endParaRPr lang="en-US" altLang="en-US" b="1" dirty="0">
                <a:solidFill>
                  <a:srgbClr val="143D70"/>
                </a:solidFill>
                <a:latin typeface="+mj-ea"/>
                <a:ea typeface="+mj-ea"/>
                <a:cs typeface="+mj-ea"/>
                <a:sym typeface="+mn-ea"/>
              </a:endParaRPr>
            </a:p>
          </p:txBody>
        </p:sp>
        <p:sp>
          <p:nvSpPr>
            <p:cNvPr id="13" name="文本框 12"/>
            <p:cNvSpPr txBox="1"/>
            <p:nvPr/>
          </p:nvSpPr>
          <p:spPr>
            <a:xfrm>
              <a:off x="369" y="4129"/>
              <a:ext cx="3908" cy="551"/>
            </a:xfrm>
            <a:prstGeom prst="rect">
              <a:avLst/>
            </a:prstGeom>
            <a:noFill/>
          </p:spPr>
          <p:txBody>
            <a:bodyPr wrap="square" rtlCol="0" anchor="t">
              <a:noAutofit/>
            </a:bodyPr>
            <a:lstStyle/>
            <a:p>
              <a:pPr marL="0" indent="0">
                <a:buNone/>
              </a:pPr>
              <a:r>
                <a:rPr lang="en-US" altLang="zh-CN" sz="1500" b="1" dirty="0">
                  <a:solidFill>
                    <a:schemeClr val="tx1"/>
                  </a:solidFill>
                  <a:sym typeface="+mn-ea"/>
                </a:rPr>
                <a:t>TTM</a:t>
              </a:r>
              <a:r>
                <a:rPr lang="zh-CN" altLang="en-US" sz="1500" b="1" dirty="0">
                  <a:solidFill>
                    <a:schemeClr val="tx1"/>
                  </a:solidFill>
                  <a:sym typeface="+mn-ea"/>
                </a:rPr>
                <a:t>电子能量守恒方程</a:t>
              </a:r>
              <a:endParaRPr lang="zh-CN" altLang="en-US" sz="1500" b="1" dirty="0">
                <a:solidFill>
                  <a:schemeClr val="tx1"/>
                </a:solidFill>
                <a:sym typeface="+mn-ea"/>
              </a:endParaRPr>
            </a:p>
          </p:txBody>
        </p:sp>
        <p:grpSp>
          <p:nvGrpSpPr>
            <p:cNvPr id="71" name="组合 70"/>
            <p:cNvGrpSpPr/>
            <p:nvPr/>
          </p:nvGrpSpPr>
          <p:grpSpPr>
            <a:xfrm>
              <a:off x="222" y="4600"/>
              <a:ext cx="7237" cy="1431"/>
              <a:chOff x="4032" y="6639"/>
              <a:chExt cx="7518" cy="1431"/>
            </a:xfrm>
          </p:grpSpPr>
          <p:graphicFrame>
            <p:nvGraphicFramePr>
              <p:cNvPr id="5" name="对象 4"/>
              <p:cNvGraphicFramePr>
                <a:graphicFrameLocks noChangeAspect="1"/>
              </p:cNvGraphicFramePr>
              <p:nvPr/>
            </p:nvGraphicFramePr>
            <p:xfrm>
              <a:off x="4032" y="6639"/>
              <a:ext cx="7253" cy="953"/>
            </p:xfrm>
            <a:graphic>
              <a:graphicData uri="http://schemas.openxmlformats.org/presentationml/2006/ole">
                <mc:AlternateContent xmlns:mc="http://schemas.openxmlformats.org/markup-compatibility/2006">
                  <mc:Choice xmlns:v="urn:schemas-microsoft-com:vml" Requires="v">
                    <p:oleObj spid="_x0000_s0" name="Equation" r:id="rId4" imgW="71932800" imgH="9448800" progId="Equation.DSMT4">
                      <p:embed/>
                    </p:oleObj>
                  </mc:Choice>
                  <mc:Fallback>
                    <p:oleObj name="Equation" r:id="rId4" imgW="71932800" imgH="9448800" progId="Equation.DSMT4">
                      <p:embed/>
                      <p:pic>
                        <p:nvPicPr>
                          <p:cNvPr id="0" name="图片 -1"/>
                          <p:cNvPicPr/>
                          <p:nvPr/>
                        </p:nvPicPr>
                        <p:blipFill>
                          <a:blip r:embed="rId5"/>
                          <a:stretch>
                            <a:fillRect/>
                          </a:stretch>
                        </p:blipFill>
                        <p:spPr>
                          <a:xfrm>
                            <a:off x="4032" y="6639"/>
                            <a:ext cx="7253" cy="953"/>
                          </a:xfrm>
                          <a:prstGeom prst="rect">
                            <a:avLst/>
                          </a:prstGeom>
                        </p:spPr>
                      </p:pic>
                    </p:oleObj>
                  </mc:Fallback>
                </mc:AlternateContent>
              </a:graphicData>
            </a:graphic>
          </p:graphicFrame>
          <p:sp>
            <p:nvSpPr>
              <p:cNvPr id="14" name="文本框 13"/>
              <p:cNvSpPr txBox="1"/>
              <p:nvPr/>
            </p:nvSpPr>
            <p:spPr>
              <a:xfrm>
                <a:off x="4277" y="7603"/>
                <a:ext cx="1205" cy="467"/>
              </a:xfrm>
              <a:prstGeom prst="rect">
                <a:avLst/>
              </a:prstGeom>
              <a:noFill/>
            </p:spPr>
            <p:txBody>
              <a:bodyPr wrap="square" rtlCol="0" anchor="t">
                <a:noAutofit/>
              </a:bodyPr>
              <a:lstStyle/>
              <a:p>
                <a:pPr marL="0" indent="0">
                  <a:buNone/>
                </a:pPr>
                <a:r>
                  <a:rPr lang="en-US" sz="1350" b="1" dirty="0">
                    <a:solidFill>
                      <a:srgbClr val="1768AC"/>
                    </a:solidFill>
                    <a:sym typeface="+mn-ea"/>
                  </a:rPr>
                  <a:t>储能项</a:t>
                </a:r>
                <a:endParaRPr lang="en-US" altLang="en-US" sz="1350" b="1" dirty="0">
                  <a:solidFill>
                    <a:srgbClr val="1768AC"/>
                  </a:solidFill>
                  <a:sym typeface="+mn-ea"/>
                </a:endParaRPr>
              </a:p>
            </p:txBody>
          </p:sp>
          <p:sp>
            <p:nvSpPr>
              <p:cNvPr id="15" name="文本框 14"/>
              <p:cNvSpPr txBox="1"/>
              <p:nvPr/>
            </p:nvSpPr>
            <p:spPr>
              <a:xfrm>
                <a:off x="6171" y="7604"/>
                <a:ext cx="1205" cy="452"/>
              </a:xfrm>
              <a:prstGeom prst="rect">
                <a:avLst/>
              </a:prstGeom>
              <a:noFill/>
            </p:spPr>
            <p:txBody>
              <a:bodyPr wrap="square" rtlCol="0" anchor="t">
                <a:noAutofit/>
              </a:bodyPr>
              <a:lstStyle/>
              <a:p>
                <a:pPr marL="0" indent="0">
                  <a:buNone/>
                </a:pPr>
                <a:r>
                  <a:rPr lang="en-US" sz="1350" b="1" dirty="0">
                    <a:solidFill>
                      <a:srgbClr val="1768AC"/>
                    </a:solidFill>
                    <a:sym typeface="+mn-ea"/>
                  </a:rPr>
                  <a:t>热扩散</a:t>
                </a:r>
                <a:endParaRPr lang="en-US" altLang="en-US" sz="1350" b="1" dirty="0">
                  <a:solidFill>
                    <a:srgbClr val="1768AC"/>
                  </a:solidFill>
                  <a:sym typeface="+mn-ea"/>
                </a:endParaRPr>
              </a:p>
            </p:txBody>
          </p:sp>
          <p:sp>
            <p:nvSpPr>
              <p:cNvPr id="16" name="文本框 15"/>
              <p:cNvSpPr txBox="1"/>
              <p:nvPr/>
            </p:nvSpPr>
            <p:spPr>
              <a:xfrm>
                <a:off x="7714" y="7591"/>
                <a:ext cx="2276" cy="479"/>
              </a:xfrm>
              <a:prstGeom prst="rect">
                <a:avLst/>
              </a:prstGeom>
              <a:noFill/>
            </p:spPr>
            <p:txBody>
              <a:bodyPr wrap="square" rtlCol="0" anchor="t">
                <a:noAutofit/>
              </a:bodyPr>
              <a:lstStyle/>
              <a:p>
                <a:pPr marL="0" indent="0">
                  <a:buNone/>
                </a:pPr>
                <a:r>
                  <a:rPr lang="en-US" sz="1350" b="1" dirty="0">
                    <a:solidFill>
                      <a:srgbClr val="1768AC"/>
                    </a:solidFill>
                    <a:sym typeface="+mn-ea"/>
                  </a:rPr>
                  <a:t>电子-晶格耦合</a:t>
                </a:r>
                <a:endParaRPr lang="en-US" altLang="en-US" sz="1350" b="1" dirty="0">
                  <a:solidFill>
                    <a:srgbClr val="1768AC"/>
                  </a:solidFill>
                  <a:sym typeface="+mn-ea"/>
                </a:endParaRPr>
              </a:p>
            </p:txBody>
          </p:sp>
          <p:sp>
            <p:nvSpPr>
              <p:cNvPr id="17" name="文本框 16"/>
              <p:cNvSpPr txBox="1"/>
              <p:nvPr/>
            </p:nvSpPr>
            <p:spPr>
              <a:xfrm>
                <a:off x="10113" y="7592"/>
                <a:ext cx="1437" cy="475"/>
              </a:xfrm>
              <a:prstGeom prst="rect">
                <a:avLst/>
              </a:prstGeom>
              <a:noFill/>
            </p:spPr>
            <p:txBody>
              <a:bodyPr wrap="square" rtlCol="0" anchor="t">
                <a:noAutofit/>
              </a:bodyPr>
              <a:lstStyle/>
              <a:p>
                <a:pPr marL="0" indent="0">
                  <a:buNone/>
                </a:pPr>
                <a:r>
                  <a:rPr lang="en-US" sz="1350" b="1" dirty="0">
                    <a:solidFill>
                      <a:srgbClr val="1768AC"/>
                    </a:solidFill>
                    <a:sym typeface="+mn-ea"/>
                  </a:rPr>
                  <a:t>激光热源</a:t>
                </a:r>
                <a:endParaRPr lang="en-US" altLang="en-US" sz="1350" b="1" dirty="0">
                  <a:solidFill>
                    <a:srgbClr val="1768AC"/>
                  </a:solidFill>
                  <a:sym typeface="+mn-ea"/>
                </a:endParaRPr>
              </a:p>
            </p:txBody>
          </p:sp>
        </p:grpSp>
        <p:sp>
          <p:nvSpPr>
            <p:cNvPr id="19" name="文本框 18"/>
            <p:cNvSpPr txBox="1"/>
            <p:nvPr/>
          </p:nvSpPr>
          <p:spPr>
            <a:xfrm>
              <a:off x="471" y="6236"/>
              <a:ext cx="10783" cy="1356"/>
            </a:xfrm>
            <a:prstGeom prst="rect">
              <a:avLst/>
            </a:prstGeom>
            <a:noFill/>
          </p:spPr>
          <p:txBody>
            <a:bodyPr wrap="square" rtlCol="0" anchor="t">
              <a:noAutofit/>
            </a:bodyPr>
            <a:lstStyle/>
            <a:p>
              <a:pPr marL="0" indent="0" algn="ctr">
                <a:buNone/>
              </a:pPr>
              <a:r>
                <a:rPr lang="zh-CN" altLang="en-US" sz="1500" b="1" dirty="0">
                  <a:solidFill>
                    <a:srgbClr val="202124"/>
                  </a:solidFill>
                  <a:sym typeface="+mn-ea"/>
                </a:rPr>
                <a:t>电子本身是离散的量子费米子，并不是连续介质；在时空粗粒化之后，不去追踪单个电子微观轨迹，用局域统计平均量 —— 电子温度场</a:t>
              </a:r>
              <a:r>
                <a:rPr lang="en-US" sz="1500" b="1" dirty="0">
                  <a:solidFill>
                    <a:srgbClr val="202124"/>
                  </a:solidFill>
                  <a:sym typeface="+mn-ea"/>
                </a:rPr>
                <a:t>Tₑ(r,t)</a:t>
              </a:r>
              <a:r>
                <a:rPr lang="zh-CN" altLang="en-US" sz="1500" b="1" dirty="0">
                  <a:solidFill>
                    <a:srgbClr val="202124"/>
                  </a:solidFill>
                  <a:sym typeface="+mn-ea"/>
                </a:rPr>
                <a:t>描述大量激发电子集体的能量输运行为</a:t>
              </a:r>
              <a:endParaRPr lang="zh-CN" altLang="en-US" sz="1500" b="1" dirty="0">
                <a:solidFill>
                  <a:srgbClr val="202124"/>
                </a:solidFill>
                <a:sym typeface="+mn-ea"/>
              </a:endParaRPr>
            </a:p>
          </p:txBody>
        </p:sp>
        <p:pic>
          <p:nvPicPr>
            <p:cNvPr id="70" name="图片 69"/>
            <p:cNvPicPr>
              <a:picLocks noChangeAspect="1"/>
            </p:cNvPicPr>
            <p:nvPr/>
          </p:nvPicPr>
          <p:blipFill>
            <a:blip r:embed="rId6"/>
            <a:srcRect l="5154"/>
            <a:stretch>
              <a:fillRect/>
            </a:stretch>
          </p:blipFill>
          <p:spPr>
            <a:xfrm>
              <a:off x="7649" y="3837"/>
              <a:ext cx="3937" cy="1323"/>
            </a:xfrm>
            <a:prstGeom prst="rect">
              <a:avLst/>
            </a:prstGeom>
          </p:spPr>
        </p:pic>
        <p:sp>
          <p:nvSpPr>
            <p:cNvPr id="72" name="文本框 71"/>
            <p:cNvSpPr txBox="1"/>
            <p:nvPr/>
          </p:nvSpPr>
          <p:spPr>
            <a:xfrm>
              <a:off x="7539" y="5155"/>
              <a:ext cx="1838" cy="875"/>
            </a:xfrm>
            <a:prstGeom prst="rect">
              <a:avLst/>
            </a:prstGeom>
            <a:noFill/>
          </p:spPr>
          <p:txBody>
            <a:bodyPr wrap="square" rtlCol="0" anchor="t">
              <a:noAutofit/>
            </a:bodyPr>
            <a:lstStyle/>
            <a:p>
              <a:pPr algn="ctr"/>
              <a:r>
                <a:rPr lang="en-US" sz="1300" dirty="0">
                  <a:solidFill>
                    <a:srgbClr val="202124"/>
                  </a:solidFill>
                  <a:latin typeface="+mj-ea"/>
                  <a:ea typeface="+mj-ea"/>
                  <a:cs typeface="+mj-ea"/>
                  <a:sym typeface="+mn-ea"/>
                </a:rPr>
                <a:t>大量</a:t>
              </a:r>
              <a:r>
                <a:rPr lang="zh-CN" altLang="en-US" sz="1300" dirty="0">
                  <a:solidFill>
                    <a:srgbClr val="202124"/>
                  </a:solidFill>
                  <a:latin typeface="+mj-ea"/>
                  <a:ea typeface="+mj-ea"/>
                  <a:cs typeface="+mj-ea"/>
                  <a:sym typeface="+mn-ea"/>
                </a:rPr>
                <a:t>粒子</a:t>
              </a:r>
              <a:endParaRPr lang="zh-CN" altLang="en-US" sz="1300" dirty="0">
                <a:solidFill>
                  <a:srgbClr val="202124"/>
                </a:solidFill>
                <a:latin typeface="+mj-ea"/>
                <a:ea typeface="+mj-ea"/>
                <a:cs typeface="+mj-ea"/>
                <a:sym typeface="+mn-ea"/>
              </a:endParaRPr>
            </a:p>
            <a:p>
              <a:pPr algn="ctr"/>
              <a:r>
                <a:rPr lang="zh-CN" altLang="en-US" sz="1300" dirty="0">
                  <a:solidFill>
                    <a:srgbClr val="202124"/>
                  </a:solidFill>
                  <a:latin typeface="+mj-ea"/>
                  <a:ea typeface="+mj-ea"/>
                  <a:cs typeface="+mj-ea"/>
                  <a:sym typeface="+mn-ea"/>
                </a:rPr>
                <a:t>（离散描述</a:t>
              </a:r>
              <a:r>
                <a:rPr lang="zh-CN" altLang="en-US" sz="1400" dirty="0">
                  <a:solidFill>
                    <a:srgbClr val="202124"/>
                  </a:solidFill>
                  <a:latin typeface="+mj-ea"/>
                  <a:ea typeface="+mj-ea"/>
                  <a:cs typeface="+mj-ea"/>
                  <a:sym typeface="+mn-ea"/>
                </a:rPr>
                <a:t>）</a:t>
              </a:r>
              <a:endParaRPr lang="zh-CN" altLang="en-US" sz="1400" dirty="0">
                <a:solidFill>
                  <a:srgbClr val="202124"/>
                </a:solidFill>
                <a:latin typeface="+mj-ea"/>
                <a:ea typeface="+mj-ea"/>
                <a:cs typeface="+mj-ea"/>
                <a:sym typeface="+mn-ea"/>
              </a:endParaRPr>
            </a:p>
          </p:txBody>
        </p:sp>
        <p:sp>
          <p:nvSpPr>
            <p:cNvPr id="73" name="文本框 72"/>
            <p:cNvSpPr txBox="1"/>
            <p:nvPr/>
          </p:nvSpPr>
          <p:spPr>
            <a:xfrm>
              <a:off x="9712" y="5175"/>
              <a:ext cx="1896" cy="856"/>
            </a:xfrm>
            <a:prstGeom prst="rect">
              <a:avLst/>
            </a:prstGeom>
            <a:noFill/>
          </p:spPr>
          <p:txBody>
            <a:bodyPr wrap="square" rtlCol="0" anchor="t">
              <a:noAutofit/>
            </a:bodyPr>
            <a:lstStyle/>
            <a:p>
              <a:pPr algn="ctr">
                <a:buClrTx/>
                <a:buSzTx/>
                <a:buNone/>
              </a:pPr>
              <a:r>
                <a:rPr lang="en-US" sz="1300" dirty="0">
                  <a:solidFill>
                    <a:srgbClr val="202124"/>
                  </a:solidFill>
                  <a:latin typeface="+mj-ea"/>
                  <a:ea typeface="+mj-ea"/>
                  <a:cs typeface="+mj-ea"/>
                  <a:sym typeface="+mn-ea"/>
                </a:rPr>
                <a:t>连续场</a:t>
              </a:r>
              <a:endParaRPr lang="en-US" sz="1300" dirty="0">
                <a:solidFill>
                  <a:srgbClr val="202124"/>
                </a:solidFill>
                <a:latin typeface="+mj-ea"/>
                <a:ea typeface="+mj-ea"/>
                <a:cs typeface="+mj-ea"/>
                <a:sym typeface="+mn-ea"/>
              </a:endParaRPr>
            </a:p>
            <a:p>
              <a:pPr algn="ctr">
                <a:buClrTx/>
                <a:buSzTx/>
                <a:buNone/>
              </a:pPr>
              <a:r>
                <a:rPr lang="en-US" sz="1300" dirty="0">
                  <a:solidFill>
                    <a:srgbClr val="202124"/>
                  </a:solidFill>
                  <a:latin typeface="+mj-ea"/>
                  <a:ea typeface="+mj-ea"/>
                  <a:cs typeface="+mj-ea"/>
                  <a:sym typeface="+mn-ea"/>
                </a:rPr>
                <a:t>（粗粒化描述</a:t>
              </a:r>
              <a:r>
                <a:rPr lang="zh-CN" altLang="en-US" sz="1300" dirty="0">
                  <a:solidFill>
                    <a:srgbClr val="202124"/>
                  </a:solidFill>
                  <a:latin typeface="+mj-ea"/>
                  <a:ea typeface="+mj-ea"/>
                  <a:cs typeface="+mj-ea"/>
                  <a:sym typeface="+mn-ea"/>
                </a:rPr>
                <a:t>）</a:t>
              </a:r>
              <a:endParaRPr lang="zh-CN" altLang="en-US" sz="1300" dirty="0">
                <a:solidFill>
                  <a:srgbClr val="202124"/>
                </a:solidFill>
                <a:latin typeface="+mj-ea"/>
                <a:ea typeface="+mj-ea"/>
                <a:cs typeface="+mj-ea"/>
                <a:sym typeface="+mn-ea"/>
              </a:endParaRPr>
            </a:p>
          </p:txBody>
        </p:sp>
      </p:grpSp>
      <p:cxnSp>
        <p:nvCxnSpPr>
          <p:cNvPr id="7" name="直接箭头连接符 6"/>
          <p:cNvCxnSpPr>
            <a:stCxn id="55" idx="2"/>
          </p:cNvCxnSpPr>
          <p:nvPr/>
        </p:nvCxnSpPr>
        <p:spPr>
          <a:xfrm>
            <a:off x="8328025" y="4237355"/>
            <a:ext cx="4445" cy="670560"/>
          </a:xfrm>
          <a:prstGeom prst="straightConnector1">
            <a:avLst/>
          </a:prstGeom>
          <a:ln w="21590">
            <a:solidFill>
              <a:schemeClr val="accent6">
                <a:lumMod val="75000"/>
              </a:schemeClr>
            </a:solidFill>
            <a:headEnd type="arrow"/>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hape 6"/>
          <p:cNvSpPr/>
          <p:nvPr>
            <p:custDataLst>
              <p:tags r:id="rId1"/>
            </p:custDataLst>
          </p:nvPr>
        </p:nvSpPr>
        <p:spPr>
          <a:xfrm>
            <a:off x="6537960" y="1229360"/>
            <a:ext cx="5053965" cy="3942715"/>
          </a:xfrm>
          <a:prstGeom prst="roundRect">
            <a:avLst>
              <a:gd name="adj" fmla="val 3774"/>
            </a:avLst>
          </a:prstGeom>
          <a:solidFill>
            <a:srgbClr val="EAF3FA"/>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a:p>
        </p:txBody>
      </p:sp>
      <p:sp>
        <p:nvSpPr>
          <p:cNvPr id="20" name="Shape 2"/>
          <p:cNvSpPr/>
          <p:nvPr>
            <p:custDataLst>
              <p:tags r:id="rId2"/>
            </p:custDataLst>
          </p:nvPr>
        </p:nvSpPr>
        <p:spPr>
          <a:xfrm>
            <a:off x="608330" y="3176905"/>
            <a:ext cx="5537200" cy="1995170"/>
          </a:xfrm>
          <a:prstGeom prst="roundRect">
            <a:avLst>
              <a:gd name="adj" fmla="val 3774"/>
            </a:avLst>
          </a:prstGeom>
          <a:solidFill>
            <a:srgbClr val="F1EEFA"/>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a:p>
        </p:txBody>
      </p:sp>
      <p:sp>
        <p:nvSpPr>
          <p:cNvPr id="2" name="文本框 1"/>
          <p:cNvSpPr txBox="1"/>
          <p:nvPr/>
        </p:nvSpPr>
        <p:spPr>
          <a:xfrm>
            <a:off x="389890" y="192405"/>
            <a:ext cx="8742680" cy="448945"/>
          </a:xfrm>
          <a:prstGeom prst="rect">
            <a:avLst/>
          </a:prstGeom>
        </p:spPr>
        <p:txBody>
          <a:bodyPr wrap="square">
            <a:noAutofit/>
          </a:bodyPr>
          <a:lstStyle/>
          <a:p>
            <a:r>
              <a:rPr lang="zh-CN" altLang="en-US" sz="2500" b="1" dirty="0">
                <a:solidFill>
                  <a:schemeClr val="tx1"/>
                </a:solidFill>
                <a:latin typeface="+mj-ea"/>
                <a:ea typeface="+mj-ea"/>
                <a:cs typeface="Noto Sans CJK SC" pitchFamily="34" charset="-120"/>
              </a:rPr>
              <a:t>原子尺度缺陷动力学与连续体输运的跨尺度关联</a:t>
            </a:r>
            <a:endParaRPr lang="zh-CN" altLang="en-US" sz="2500" b="1" dirty="0">
              <a:solidFill>
                <a:schemeClr val="tx1"/>
              </a:solidFill>
              <a:latin typeface="+mj-ea"/>
              <a:ea typeface="+mj-ea"/>
              <a:cs typeface="Noto Sans CJK SC" pitchFamily="34" charset="-120"/>
            </a:endParaRPr>
          </a:p>
        </p:txBody>
      </p:sp>
      <p:sp>
        <p:nvSpPr>
          <p:cNvPr id="4" name="文本框 3"/>
          <p:cNvSpPr txBox="1"/>
          <p:nvPr/>
        </p:nvSpPr>
        <p:spPr>
          <a:xfrm>
            <a:off x="1938655" y="3895090"/>
            <a:ext cx="2686050" cy="469900"/>
          </a:xfrm>
          <a:prstGeom prst="rect">
            <a:avLst/>
          </a:prstGeom>
        </p:spPr>
        <p:txBody>
          <a:bodyPr>
            <a:noAutofit/>
          </a:bodyPr>
          <a:lstStyle/>
          <a:p>
            <a:r>
              <a:rPr lang="en-US" altLang="zh-CN" sz="2000"/>
              <a:t>S(</a:t>
            </a:r>
            <a:r>
              <a:rPr lang="en-US" altLang="zh-CN" sz="2000" b="1"/>
              <a:t>r</a:t>
            </a:r>
            <a:r>
              <a:rPr lang="en-US" altLang="zh-CN" sz="2000"/>
              <a:t>,t) → T</a:t>
            </a:r>
            <a:r>
              <a:rPr lang="en-US" altLang="zh-CN" sz="2000" baseline="-25000"/>
              <a:t>e</a:t>
            </a:r>
            <a:r>
              <a:rPr lang="en-US" altLang="zh-CN" sz="2000"/>
              <a:t>(</a:t>
            </a:r>
            <a:r>
              <a:rPr lang="en-US" altLang="zh-CN" sz="2000" b="1"/>
              <a:t>r</a:t>
            </a:r>
            <a:r>
              <a:rPr lang="en-US" altLang="zh-CN" sz="2000"/>
              <a:t>,t) ↔ T</a:t>
            </a:r>
            <a:r>
              <a:rPr lang="en-US" altLang="zh-CN" sz="2000" baseline="-25000"/>
              <a:t>i</a:t>
            </a:r>
            <a:r>
              <a:rPr lang="en-US" altLang="zh-CN" sz="2000"/>
              <a:t>(</a:t>
            </a:r>
            <a:r>
              <a:rPr lang="en-US" altLang="zh-CN" sz="2000" b="1"/>
              <a:t>r</a:t>
            </a:r>
            <a:r>
              <a:rPr lang="en-US" altLang="zh-CN" sz="2000"/>
              <a:t>,t)</a:t>
            </a:r>
            <a:endParaRPr lang="en-US" altLang="zh-CN" sz="2000"/>
          </a:p>
        </p:txBody>
      </p:sp>
      <p:sp>
        <p:nvSpPr>
          <p:cNvPr id="5" name="文本框 4"/>
          <p:cNvSpPr txBox="1"/>
          <p:nvPr/>
        </p:nvSpPr>
        <p:spPr>
          <a:xfrm>
            <a:off x="7217410" y="3562350"/>
            <a:ext cx="3790315" cy="469265"/>
          </a:xfrm>
          <a:prstGeom prst="rect">
            <a:avLst/>
          </a:prstGeom>
        </p:spPr>
        <p:txBody>
          <a:bodyPr>
            <a:noAutofit/>
          </a:bodyPr>
          <a:lstStyle/>
          <a:p>
            <a:r>
              <a:rPr lang="en-US" altLang="zh-CN" sz="2000"/>
              <a:t>n(</a:t>
            </a:r>
            <a:r>
              <a:rPr lang="en-US" altLang="zh-CN" sz="2000" b="1"/>
              <a:t>r</a:t>
            </a:r>
            <a:r>
              <a:rPr lang="en-US" altLang="zh-CN" sz="2000"/>
              <a:t>,t) , p(</a:t>
            </a:r>
            <a:r>
              <a:rPr lang="en-US" altLang="zh-CN" sz="2000" b="1"/>
              <a:t>r</a:t>
            </a:r>
            <a:r>
              <a:rPr lang="en-US" altLang="zh-CN" sz="2000"/>
              <a:t>,t) → J</a:t>
            </a:r>
            <a:r>
              <a:rPr lang="en-US" altLang="zh-CN" sz="2000" baseline="-25000"/>
              <a:t>n</a:t>
            </a:r>
            <a:r>
              <a:rPr lang="en-US" altLang="zh-CN" sz="2000"/>
              <a:t> , J</a:t>
            </a:r>
            <a:r>
              <a:rPr lang="en-US" altLang="zh-CN" sz="2000" baseline="-25000"/>
              <a:t>p</a:t>
            </a:r>
            <a:r>
              <a:rPr lang="en-US" altLang="zh-CN" sz="2000"/>
              <a:t>→ </a:t>
            </a:r>
            <a:r>
              <a:rPr lang="zh-CN" altLang="en-US" sz="2000"/>
              <a:t>光电响应</a:t>
            </a:r>
            <a:endParaRPr lang="en-US" altLang="zh-CN" sz="2000"/>
          </a:p>
        </p:txBody>
      </p:sp>
      <p:sp>
        <p:nvSpPr>
          <p:cNvPr id="6" name="文本框 5"/>
          <p:cNvSpPr txBox="1"/>
          <p:nvPr/>
        </p:nvSpPr>
        <p:spPr>
          <a:xfrm>
            <a:off x="803275" y="4495165"/>
            <a:ext cx="5234305" cy="469900"/>
          </a:xfrm>
          <a:prstGeom prst="rect">
            <a:avLst/>
          </a:prstGeom>
        </p:spPr>
        <p:txBody>
          <a:bodyPr>
            <a:noAutofit/>
          </a:bodyPr>
          <a:lstStyle/>
          <a:p>
            <a:pPr algn="ctr"/>
            <a:r>
              <a:rPr lang="zh-CN" altLang="en-US" sz="2000"/>
              <a:t>激光能量怎样在电子和晶格之间传递</a:t>
            </a:r>
            <a:endParaRPr lang="zh-CN" altLang="en-US" sz="2000"/>
          </a:p>
        </p:txBody>
      </p:sp>
      <p:sp>
        <p:nvSpPr>
          <p:cNvPr id="7" name="文本框 6"/>
          <p:cNvSpPr txBox="1"/>
          <p:nvPr/>
        </p:nvSpPr>
        <p:spPr>
          <a:xfrm>
            <a:off x="6762115" y="4162425"/>
            <a:ext cx="4598670" cy="706755"/>
          </a:xfrm>
          <a:prstGeom prst="rect">
            <a:avLst/>
          </a:prstGeom>
        </p:spPr>
        <p:txBody>
          <a:bodyPr wrap="square">
            <a:spAutoFit/>
          </a:bodyPr>
          <a:lstStyle/>
          <a:p>
            <a:pPr algn="ctr"/>
            <a:r>
              <a:rPr lang="zh-CN" altLang="en-US" sz="2000"/>
              <a:t>缺陷形成以后，电子和空穴怎样输运，最终怎样影响探测性能</a:t>
            </a:r>
            <a:endParaRPr lang="zh-CN" altLang="en-US" sz="2000"/>
          </a:p>
        </p:txBody>
      </p:sp>
      <p:grpSp>
        <p:nvGrpSpPr>
          <p:cNvPr id="16" name="组合 15"/>
          <p:cNvGrpSpPr/>
          <p:nvPr/>
        </p:nvGrpSpPr>
        <p:grpSpPr>
          <a:xfrm>
            <a:off x="608241" y="1099820"/>
            <a:ext cx="5706217" cy="1711544"/>
            <a:chOff x="708" y="6281"/>
            <a:chExt cx="11167" cy="3437"/>
          </a:xfrm>
        </p:grpSpPr>
        <p:pic>
          <p:nvPicPr>
            <p:cNvPr id="8" name="图片 7"/>
            <p:cNvPicPr>
              <a:picLocks noChangeAspect="1"/>
            </p:cNvPicPr>
            <p:nvPr/>
          </p:nvPicPr>
          <p:blipFill>
            <a:blip r:embed="rId3"/>
            <a:stretch>
              <a:fillRect/>
            </a:stretch>
          </p:blipFill>
          <p:spPr>
            <a:xfrm>
              <a:off x="1446" y="7097"/>
              <a:ext cx="3061" cy="1211"/>
            </a:xfrm>
            <a:prstGeom prst="rect">
              <a:avLst/>
            </a:prstGeom>
          </p:spPr>
        </p:pic>
        <p:pic>
          <p:nvPicPr>
            <p:cNvPr id="9" name="图片 8"/>
            <p:cNvPicPr>
              <a:picLocks noChangeAspect="1"/>
            </p:cNvPicPr>
            <p:nvPr/>
          </p:nvPicPr>
          <p:blipFill>
            <a:blip r:embed="rId4"/>
            <a:stretch>
              <a:fillRect/>
            </a:stretch>
          </p:blipFill>
          <p:spPr>
            <a:xfrm>
              <a:off x="8031" y="6998"/>
              <a:ext cx="3173" cy="1310"/>
            </a:xfrm>
            <a:prstGeom prst="rect">
              <a:avLst/>
            </a:prstGeom>
          </p:spPr>
        </p:pic>
        <p:sp>
          <p:nvSpPr>
            <p:cNvPr id="10" name="文本框 9"/>
            <p:cNvSpPr txBox="1"/>
            <p:nvPr/>
          </p:nvSpPr>
          <p:spPr>
            <a:xfrm>
              <a:off x="8368" y="6281"/>
              <a:ext cx="2407" cy="815"/>
            </a:xfrm>
            <a:prstGeom prst="rect">
              <a:avLst/>
            </a:prstGeom>
            <a:noFill/>
          </p:spPr>
          <p:txBody>
            <a:bodyPr wrap="square" rtlCol="0" anchor="t">
              <a:noAutofit/>
            </a:bodyPr>
            <a:lstStyle/>
            <a:p>
              <a:pPr algn="ctr"/>
              <a:r>
                <a:rPr lang="zh-CN" altLang="en-US">
                  <a:sym typeface="+mn-ea"/>
                </a:rPr>
                <a:t>连续体</a:t>
              </a:r>
              <a:endParaRPr lang="zh-CN" altLang="en-US">
                <a:sym typeface="+mn-ea"/>
              </a:endParaRPr>
            </a:p>
          </p:txBody>
        </p:sp>
        <p:sp>
          <p:nvSpPr>
            <p:cNvPr id="11" name="文本框 10"/>
            <p:cNvSpPr txBox="1"/>
            <p:nvPr/>
          </p:nvSpPr>
          <p:spPr>
            <a:xfrm>
              <a:off x="1839" y="6394"/>
              <a:ext cx="2276" cy="604"/>
            </a:xfrm>
            <a:prstGeom prst="rect">
              <a:avLst/>
            </a:prstGeom>
            <a:noFill/>
          </p:spPr>
          <p:txBody>
            <a:bodyPr wrap="square" rtlCol="0" anchor="t">
              <a:noAutofit/>
            </a:bodyPr>
            <a:lstStyle/>
            <a:p>
              <a:pPr algn="ctr"/>
              <a:r>
                <a:rPr lang="zh-CN" altLang="en-US">
                  <a:sym typeface="+mn-ea"/>
                </a:rPr>
                <a:t>原子尺度</a:t>
              </a:r>
              <a:endParaRPr lang="zh-CN" altLang="en-US">
                <a:sym typeface="+mn-ea"/>
              </a:endParaRPr>
            </a:p>
          </p:txBody>
        </p:sp>
        <p:sp>
          <p:nvSpPr>
            <p:cNvPr id="12" name="文本框 11"/>
            <p:cNvSpPr txBox="1"/>
            <p:nvPr/>
          </p:nvSpPr>
          <p:spPr>
            <a:xfrm>
              <a:off x="708" y="8477"/>
              <a:ext cx="4448" cy="1241"/>
            </a:xfrm>
            <a:prstGeom prst="rect">
              <a:avLst/>
            </a:prstGeom>
          </p:spPr>
          <p:txBody>
            <a:bodyPr>
              <a:noAutofit/>
            </a:bodyPr>
            <a:lstStyle/>
            <a:p>
              <a:pPr algn="ctr"/>
              <a:r>
                <a:rPr lang="zh-CN" altLang="en-US" sz="1600"/>
                <a:t>解析原子位置、缺陷形成、结构演化</a:t>
              </a:r>
              <a:endParaRPr lang="zh-CN" altLang="en-US" sz="1600"/>
            </a:p>
          </p:txBody>
        </p:sp>
        <p:sp>
          <p:nvSpPr>
            <p:cNvPr id="13" name="文本框 12"/>
            <p:cNvSpPr txBox="1"/>
            <p:nvPr/>
          </p:nvSpPr>
          <p:spPr>
            <a:xfrm>
              <a:off x="7104" y="8477"/>
              <a:ext cx="4771" cy="1239"/>
            </a:xfrm>
            <a:prstGeom prst="rect">
              <a:avLst/>
            </a:prstGeom>
          </p:spPr>
          <p:txBody>
            <a:bodyPr>
              <a:noAutofit/>
            </a:bodyPr>
            <a:lstStyle/>
            <a:p>
              <a:pPr algn="ctr"/>
              <a:r>
                <a:rPr lang="zh-CN" altLang="en-US" sz="1600"/>
                <a:t>解析温度场、载流子浓度场、能量 </a:t>
              </a:r>
              <a:r>
                <a:rPr lang="en-US" altLang="zh-CN" sz="1600"/>
                <a:t>/ </a:t>
              </a:r>
              <a:r>
                <a:rPr lang="zh-CN" altLang="en-US" sz="1600"/>
                <a:t>电荷输运</a:t>
              </a:r>
              <a:endParaRPr lang="zh-CN" altLang="en-US" sz="1600"/>
            </a:p>
          </p:txBody>
        </p:sp>
        <p:sp>
          <p:nvSpPr>
            <p:cNvPr id="14" name="左右箭头 13"/>
            <p:cNvSpPr/>
            <p:nvPr/>
          </p:nvSpPr>
          <p:spPr>
            <a:xfrm>
              <a:off x="4939" y="7517"/>
              <a:ext cx="2660" cy="371"/>
            </a:xfrm>
            <a:prstGeom prst="leftRightArrow">
              <a:avLst/>
            </a:prstGeom>
            <a:gradFill>
              <a:gsLst>
                <a:gs pos="0">
                  <a:schemeClr val="accent1">
                    <a:lumMod val="5000"/>
                    <a:lumOff val="95000"/>
                  </a:schemeClr>
                </a:gs>
                <a:gs pos="49000">
                  <a:schemeClr val="accent1"/>
                </a:gs>
                <a:gs pos="100000">
                  <a:schemeClr val="accent1">
                    <a:lumMod val="30000"/>
                    <a:lumOff val="70000"/>
                  </a:schemeClr>
                </a:gs>
              </a:gsLst>
              <a:lin ang="15600000" scaled="0"/>
            </a:gradFill>
            <a:ln w="12700" cmpd="sng">
              <a:noFill/>
              <a:prstDash val="lgDashDot"/>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5155" y="7096"/>
              <a:ext cx="2228" cy="422"/>
            </a:xfrm>
            <a:prstGeom prst="rect">
              <a:avLst/>
            </a:prstGeom>
          </p:spPr>
          <p:txBody>
            <a:bodyPr>
              <a:noAutofit/>
            </a:bodyPr>
            <a:lstStyle/>
            <a:p>
              <a:pPr algn="ctr"/>
              <a:r>
                <a:rPr lang="zh-CN" altLang="en-US" sz="1200"/>
                <a:t>双向信息交换</a:t>
              </a:r>
              <a:endParaRPr lang="zh-CN" altLang="en-US" sz="1200"/>
            </a:p>
          </p:txBody>
        </p:sp>
      </p:grpSp>
      <p:graphicFrame>
        <p:nvGraphicFramePr>
          <p:cNvPr id="3" name="对象 2"/>
          <p:cNvGraphicFramePr>
            <a:graphicFrameLocks noChangeAspect="1"/>
          </p:cNvGraphicFramePr>
          <p:nvPr/>
        </p:nvGraphicFramePr>
        <p:xfrm>
          <a:off x="6831872" y="2193222"/>
          <a:ext cx="2057400" cy="1238250"/>
        </p:xfrm>
        <a:graphic>
          <a:graphicData uri="http://schemas.openxmlformats.org/presentationml/2006/ole">
            <mc:AlternateContent xmlns:mc="http://schemas.openxmlformats.org/markup-compatibility/2006">
              <mc:Choice xmlns:v="urn:schemas-microsoft-com:vml" Requires="v">
                <p:oleObj spid="_x0000_s0" name="Equation" r:id="rId5" imgW="34442400" imgH="20726400" progId="Equation.DSMT4">
                  <p:embed/>
                </p:oleObj>
              </mc:Choice>
              <mc:Fallback>
                <p:oleObj name="Equation" r:id="rId5" imgW="34442400" imgH="20726400" progId="Equation.DSMT4">
                  <p:embed/>
                  <p:pic>
                    <p:nvPicPr>
                      <p:cNvPr id="0" name="图片 -1"/>
                      <p:cNvPicPr/>
                      <p:nvPr/>
                    </p:nvPicPr>
                    <p:blipFill>
                      <a:blip r:embed="rId6"/>
                      <a:stretch>
                        <a:fillRect/>
                      </a:stretch>
                    </p:blipFill>
                    <p:spPr>
                      <a:xfrm>
                        <a:off x="6831872" y="2193222"/>
                        <a:ext cx="2057400" cy="1238250"/>
                      </a:xfrm>
                      <a:prstGeom prst="rect">
                        <a:avLst/>
                      </a:prstGeom>
                    </p:spPr>
                  </p:pic>
                </p:oleObj>
              </mc:Fallback>
            </mc:AlternateContent>
          </a:graphicData>
        </a:graphic>
      </p:graphicFrame>
      <p:graphicFrame>
        <p:nvGraphicFramePr>
          <p:cNvPr id="17" name="对象 16"/>
          <p:cNvGraphicFramePr>
            <a:graphicFrameLocks noChangeAspect="1"/>
          </p:cNvGraphicFramePr>
          <p:nvPr/>
        </p:nvGraphicFramePr>
        <p:xfrm>
          <a:off x="9303187" y="2446427"/>
          <a:ext cx="2057400" cy="730665"/>
        </p:xfrm>
        <a:graphic>
          <a:graphicData uri="http://schemas.openxmlformats.org/presentationml/2006/ole">
            <mc:AlternateContent xmlns:mc="http://schemas.openxmlformats.org/markup-compatibility/2006">
              <mc:Choice xmlns:v="urn:schemas-microsoft-com:vml" Requires="v">
                <p:oleObj spid="_x0000_s0" name="Equation" r:id="rId7" imgW="32613600" imgH="11582400" progId="Equation.DSMT4">
                  <p:embed/>
                </p:oleObj>
              </mc:Choice>
              <mc:Fallback>
                <p:oleObj name="Equation" r:id="rId7" imgW="32613600" imgH="11582400" progId="Equation.DSMT4">
                  <p:embed/>
                  <p:pic>
                    <p:nvPicPr>
                      <p:cNvPr id="0" name="图片 -1"/>
                      <p:cNvPicPr/>
                      <p:nvPr/>
                    </p:nvPicPr>
                    <p:blipFill>
                      <a:blip r:embed="rId8"/>
                      <a:stretch>
                        <a:fillRect/>
                      </a:stretch>
                    </p:blipFill>
                    <p:spPr>
                      <a:xfrm>
                        <a:off x="9303187" y="2446427"/>
                        <a:ext cx="2057400" cy="730665"/>
                      </a:xfrm>
                      <a:prstGeom prst="rect">
                        <a:avLst/>
                      </a:prstGeom>
                    </p:spPr>
                  </p:pic>
                </p:oleObj>
              </mc:Fallback>
            </mc:AlternateContent>
          </a:graphicData>
        </a:graphic>
      </p:graphicFrame>
      <p:sp>
        <p:nvSpPr>
          <p:cNvPr id="18" name="文本框 17"/>
          <p:cNvSpPr txBox="1"/>
          <p:nvPr/>
        </p:nvSpPr>
        <p:spPr>
          <a:xfrm>
            <a:off x="1410335" y="3295650"/>
            <a:ext cx="4064000" cy="469265"/>
          </a:xfrm>
          <a:prstGeom prst="rect">
            <a:avLst/>
          </a:prstGeom>
          <a:noFill/>
        </p:spPr>
        <p:txBody>
          <a:bodyPr wrap="square" rtlCol="0">
            <a:noAutofit/>
          </a:bodyPr>
          <a:lstStyle/>
          <a:p>
            <a:pPr algn="ctr"/>
            <a:r>
              <a:rPr lang="en-US" altLang="zh-CN" sz="2000" b="1">
                <a:sym typeface="+mn-ea"/>
              </a:rPr>
              <a:t>TTM</a:t>
            </a:r>
            <a:r>
              <a:rPr lang="zh-CN" altLang="en-US" sz="2000" b="1">
                <a:sym typeface="+mn-ea"/>
              </a:rPr>
              <a:t>热输运</a:t>
            </a:r>
            <a:r>
              <a:rPr lang="zh-CN" altLang="en-US" sz="2000" b="1"/>
              <a:t>连续场模型</a:t>
            </a:r>
            <a:endParaRPr lang="zh-CN" altLang="en-US" sz="2000" b="1"/>
          </a:p>
        </p:txBody>
      </p:sp>
      <p:sp>
        <p:nvSpPr>
          <p:cNvPr id="19" name="文本框 18"/>
          <p:cNvSpPr txBox="1"/>
          <p:nvPr/>
        </p:nvSpPr>
        <p:spPr>
          <a:xfrm>
            <a:off x="7152005" y="1561465"/>
            <a:ext cx="4064000" cy="398780"/>
          </a:xfrm>
          <a:prstGeom prst="rect">
            <a:avLst/>
          </a:prstGeom>
          <a:noFill/>
        </p:spPr>
        <p:txBody>
          <a:bodyPr wrap="square" rtlCol="0">
            <a:spAutoFit/>
          </a:bodyPr>
          <a:lstStyle/>
          <a:p>
            <a:r>
              <a:rPr lang="zh-CN" altLang="en-US" sz="2000" b="1"/>
              <a:t>载流子输运连续体（漂移-扩散）</a:t>
            </a:r>
            <a:endParaRPr lang="zh-CN" altLang="en-US" sz="2000" b="1"/>
          </a:p>
        </p:txBody>
      </p:sp>
      <p:sp>
        <p:nvSpPr>
          <p:cNvPr id="22" name="文本框 21"/>
          <p:cNvSpPr txBox="1"/>
          <p:nvPr/>
        </p:nvSpPr>
        <p:spPr>
          <a:xfrm>
            <a:off x="608330" y="5449570"/>
            <a:ext cx="10983595" cy="833120"/>
          </a:xfrm>
          <a:prstGeom prst="rect">
            <a:avLst/>
          </a:prstGeom>
          <a:noFill/>
        </p:spPr>
        <p:txBody>
          <a:bodyPr wrap="square" rtlCol="0" anchor="t">
            <a:noAutofit/>
          </a:bodyPr>
          <a:lstStyle/>
          <a:p>
            <a:pPr algn="ctr"/>
            <a:r>
              <a:rPr lang="zh-CN" altLang="en-US" sz="2000" b="1">
                <a:solidFill>
                  <a:srgbClr val="FF0000"/>
                </a:solidFill>
                <a:sym typeface="+mn-ea"/>
              </a:rPr>
              <a:t>原子尺度模拟回答缺陷如何生成；连续体模型刻画能量与载流子的长程输运，原子缺陷结构通过改变载流子产生、复合和输运过程，最终影响探测性能</a:t>
            </a:r>
            <a:endParaRPr lang="zh-CN" altLang="en-US" sz="2000" b="1">
              <a:solidFill>
                <a:srgbClr val="FF0000"/>
              </a:solidFill>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28172" y="182164"/>
            <a:ext cx="7512485" cy="475615"/>
          </a:xfrm>
          <a:prstGeom prst="rect">
            <a:avLst/>
          </a:prstGeom>
          <a:noFill/>
        </p:spPr>
        <p:txBody>
          <a:bodyPr wrap="square">
            <a:spAutoFit/>
          </a:bodyPr>
          <a:lstStyle/>
          <a:p>
            <a:r>
              <a:rPr lang="zh-CN" altLang="en-US" sz="2500" b="1" dirty="0">
                <a:solidFill>
                  <a:srgbClr val="102A43"/>
                </a:solidFill>
                <a:latin typeface="微软雅黑" panose="020B0503020204020204" charset="-122"/>
                <a:ea typeface="微软雅黑" panose="020B0503020204020204" charset="-122"/>
              </a:rPr>
              <a:t>研究内容</a:t>
            </a:r>
            <a:r>
              <a:rPr lang="en-US" altLang="zh-CN" sz="2500" b="1" dirty="0">
                <a:solidFill>
                  <a:srgbClr val="102A43"/>
                </a:solidFill>
                <a:latin typeface="微软雅黑" panose="020B0503020204020204" charset="-122"/>
                <a:ea typeface="微软雅黑" panose="020B0503020204020204" charset="-122"/>
                <a:sym typeface="+mn-ea"/>
              </a:rPr>
              <a:t> 4｜</a:t>
            </a:r>
            <a:r>
              <a:rPr lang="zh-CN" altLang="en-US" sz="2500" b="1" dirty="0">
                <a:solidFill>
                  <a:srgbClr val="102A43"/>
                </a:solidFill>
                <a:latin typeface="微软雅黑" panose="020B0503020204020204" charset="-122"/>
                <a:ea typeface="微软雅黑" panose="020B0503020204020204" charset="-122"/>
                <a:sym typeface="+mn-ea"/>
              </a:rPr>
              <a:t>并行支路</a:t>
            </a:r>
            <a:r>
              <a:rPr lang="en-US" altLang="zh-CN" sz="2500" b="1" dirty="0">
                <a:solidFill>
                  <a:srgbClr val="102A43"/>
                </a:solidFill>
                <a:latin typeface="微软雅黑" panose="020B0503020204020204" charset="-122"/>
                <a:ea typeface="微软雅黑" panose="020B0503020204020204" charset="-122"/>
                <a:sym typeface="+mn-ea"/>
              </a:rPr>
              <a:t> - </a:t>
            </a:r>
            <a:r>
              <a:rPr lang="zh-CN" altLang="en-US" sz="2500" b="1" dirty="0">
                <a:solidFill>
                  <a:srgbClr val="102A43"/>
                </a:solidFill>
                <a:latin typeface="微软雅黑" panose="020B0503020204020204" charset="-122"/>
                <a:ea typeface="微软雅黑" panose="020B0503020204020204" charset="-122"/>
                <a:sym typeface="+mn-ea"/>
              </a:rPr>
              <a:t>光学吸收</a:t>
            </a:r>
            <a:endParaRPr lang="zh-CN" altLang="en-US" sz="2500" b="1" dirty="0">
              <a:solidFill>
                <a:srgbClr val="102A43"/>
              </a:solidFill>
              <a:latin typeface="微软雅黑" panose="020B0503020204020204" charset="-122"/>
              <a:ea typeface="微软雅黑" panose="020B0503020204020204" charset="-122"/>
            </a:endParaRPr>
          </a:p>
        </p:txBody>
      </p:sp>
      <p:sp>
        <p:nvSpPr>
          <p:cNvPr id="4" name="Shape 2"/>
          <p:cNvSpPr/>
          <p:nvPr/>
        </p:nvSpPr>
        <p:spPr>
          <a:xfrm>
            <a:off x="1449070" y="1350010"/>
            <a:ext cx="3949065" cy="3898900"/>
          </a:xfrm>
          <a:prstGeom prst="roundRect">
            <a:avLst>
              <a:gd name="adj" fmla="val 2424"/>
            </a:avLst>
          </a:prstGeom>
          <a:solidFill>
            <a:srgbClr val="F0EDFF"/>
          </a:solidFill>
          <a:ln w="19050">
            <a:solidFill>
              <a:srgbClr val="6B5DD3"/>
            </a:solidFill>
            <a:prstDash val="solid"/>
          </a:ln>
        </p:spPr>
        <p:txBody>
          <a:bodyPr/>
          <a:lstStyle/>
          <a:p>
            <a:endParaRPr lang="zh-CN" altLang="en-US" dirty="0"/>
          </a:p>
        </p:txBody>
      </p:sp>
      <p:sp>
        <p:nvSpPr>
          <p:cNvPr id="5" name="Text 3"/>
          <p:cNvSpPr/>
          <p:nvPr/>
        </p:nvSpPr>
        <p:spPr>
          <a:xfrm>
            <a:off x="1793367" y="1479296"/>
            <a:ext cx="2688336" cy="292608"/>
          </a:xfrm>
          <a:prstGeom prst="rect">
            <a:avLst/>
          </a:prstGeom>
          <a:noFill/>
        </p:spPr>
        <p:txBody>
          <a:bodyPr wrap="square" lIns="0" tIns="0" rIns="0" bIns="0" rtlCol="0" anchor="ctr"/>
          <a:lstStyle/>
          <a:p>
            <a:pPr marL="0" indent="0">
              <a:buNone/>
            </a:pPr>
            <a:endParaRPr lang="en-US" sz="1800" dirty="0"/>
          </a:p>
        </p:txBody>
      </p:sp>
      <p:sp>
        <p:nvSpPr>
          <p:cNvPr id="12" name="Shape 10"/>
          <p:cNvSpPr/>
          <p:nvPr/>
        </p:nvSpPr>
        <p:spPr>
          <a:xfrm flipV="1">
            <a:off x="5398135" y="3256915"/>
            <a:ext cx="1184910" cy="1270"/>
          </a:xfrm>
          <a:prstGeom prst="line">
            <a:avLst/>
          </a:prstGeom>
          <a:noFill/>
          <a:ln w="33020">
            <a:solidFill>
              <a:srgbClr val="6B5DD3"/>
            </a:solidFill>
            <a:prstDash val="solid"/>
            <a:headEnd type="none"/>
            <a:tailEnd type="triangle"/>
          </a:ln>
        </p:spPr>
      </p:sp>
      <p:sp>
        <p:nvSpPr>
          <p:cNvPr id="13" name="Shape 11"/>
          <p:cNvSpPr/>
          <p:nvPr/>
        </p:nvSpPr>
        <p:spPr>
          <a:xfrm>
            <a:off x="6597015" y="1351280"/>
            <a:ext cx="4100195" cy="3898900"/>
          </a:xfrm>
          <a:prstGeom prst="roundRect">
            <a:avLst>
              <a:gd name="adj" fmla="val 2192"/>
            </a:avLst>
          </a:prstGeom>
          <a:solidFill>
            <a:srgbClr val="FFFFFF"/>
          </a:solidFill>
          <a:ln w="20320">
            <a:solidFill>
              <a:srgbClr val="6B5DD3"/>
            </a:solidFill>
            <a:prstDash val="solid"/>
          </a:ln>
        </p:spPr>
      </p:sp>
      <p:sp>
        <p:nvSpPr>
          <p:cNvPr id="14" name="Text 12"/>
          <p:cNvSpPr/>
          <p:nvPr/>
        </p:nvSpPr>
        <p:spPr>
          <a:xfrm>
            <a:off x="6820027" y="1478661"/>
            <a:ext cx="3008376" cy="292608"/>
          </a:xfrm>
          <a:prstGeom prst="rect">
            <a:avLst/>
          </a:prstGeom>
          <a:noFill/>
        </p:spPr>
        <p:txBody>
          <a:bodyPr wrap="square" lIns="0" tIns="0" rIns="0" bIns="0" rtlCol="0" anchor="ctr"/>
          <a:lstStyle/>
          <a:p>
            <a:pPr marL="0" indent="0">
              <a:buNone/>
            </a:pPr>
            <a:r>
              <a:rPr lang="en-US" b="1" dirty="0">
                <a:solidFill>
                  <a:srgbClr val="6B5DD3"/>
                </a:solidFill>
                <a:latin typeface="+mj-ea"/>
                <a:ea typeface="+mj-ea"/>
                <a:cs typeface="+mj-ea"/>
                <a:sym typeface="+mn-ea"/>
              </a:rPr>
              <a:t>电子-晶格能量输运</a:t>
            </a:r>
            <a:endParaRPr lang="en-US" sz="1800" dirty="0">
              <a:latin typeface="+mj-ea"/>
              <a:ea typeface="+mj-ea"/>
              <a:cs typeface="+mj-ea"/>
            </a:endParaRPr>
          </a:p>
        </p:txBody>
      </p:sp>
      <p:sp>
        <p:nvSpPr>
          <p:cNvPr id="18" name="Shape 16"/>
          <p:cNvSpPr/>
          <p:nvPr/>
        </p:nvSpPr>
        <p:spPr>
          <a:xfrm>
            <a:off x="7197090" y="4671060"/>
            <a:ext cx="2670175" cy="440055"/>
          </a:xfrm>
          <a:prstGeom prst="roundRect">
            <a:avLst>
              <a:gd name="adj" fmla="val 5814"/>
            </a:avLst>
          </a:prstGeom>
          <a:solidFill>
            <a:srgbClr val="F0EDFF"/>
          </a:solidFill>
          <a:ln w="12700">
            <a:solidFill>
              <a:srgbClr val="DED8FA"/>
            </a:solidFill>
            <a:prstDash val="solid"/>
          </a:ln>
        </p:spPr>
        <p:txBody>
          <a:bodyPr/>
          <a:lstStyle/>
          <a:p>
            <a:endParaRPr lang="zh-CN" altLang="en-US" sz="1400" b="1" dirty="0">
              <a:solidFill>
                <a:srgbClr val="6B5DD3"/>
              </a:solidFill>
              <a:latin typeface="+mj-ea"/>
              <a:ea typeface="+mj-ea"/>
              <a:cs typeface="+mj-ea"/>
            </a:endParaRPr>
          </a:p>
        </p:txBody>
      </p:sp>
      <p:sp>
        <p:nvSpPr>
          <p:cNvPr id="19" name="Text 17"/>
          <p:cNvSpPr/>
          <p:nvPr/>
        </p:nvSpPr>
        <p:spPr>
          <a:xfrm>
            <a:off x="1793240" y="4772660"/>
            <a:ext cx="3228340" cy="370840"/>
          </a:xfrm>
          <a:prstGeom prst="rect">
            <a:avLst/>
          </a:prstGeom>
          <a:noFill/>
        </p:spPr>
        <p:txBody>
          <a:bodyPr wrap="square" lIns="0" tIns="0" rIns="0" bIns="0" rtlCol="0" anchor="ctr">
            <a:noAutofit/>
          </a:bodyPr>
          <a:lstStyle/>
          <a:p>
            <a:pPr marL="0" indent="0" algn="ctr">
              <a:buNone/>
            </a:pPr>
            <a:r>
              <a:rPr lang="zh-CN" altLang="en-US" sz="1400" b="1" dirty="0">
                <a:solidFill>
                  <a:srgbClr val="6B5DD3"/>
                </a:solidFill>
                <a:latin typeface="+mj-ea"/>
                <a:ea typeface="+mj-ea"/>
                <a:cs typeface="+mj-ea"/>
              </a:rPr>
              <a:t>建立</a:t>
            </a:r>
            <a:r>
              <a:rPr lang="en-US" sz="1400" b="1" dirty="0">
                <a:solidFill>
                  <a:srgbClr val="6B5DD3"/>
                </a:solidFill>
                <a:latin typeface="+mj-ea"/>
                <a:ea typeface="+mj-ea"/>
                <a:cs typeface="+mj-ea"/>
              </a:rPr>
              <a:t>Te</a:t>
            </a:r>
            <a:r>
              <a:rPr lang="en-US" altLang="zh-CN" sz="1400" b="1" dirty="0">
                <a:solidFill>
                  <a:srgbClr val="6B5DD3"/>
                </a:solidFill>
                <a:latin typeface="+mj-ea"/>
                <a:ea typeface="+mj-ea"/>
                <a:cs typeface="+mj-ea"/>
              </a:rPr>
              <a:t>→ε→α</a:t>
            </a:r>
            <a:r>
              <a:rPr lang="zh-CN" altLang="en-US" sz="1400" b="1" dirty="0">
                <a:solidFill>
                  <a:srgbClr val="6B5DD3"/>
                </a:solidFill>
                <a:latin typeface="+mj-ea"/>
                <a:ea typeface="+mj-ea"/>
                <a:cs typeface="+mj-ea"/>
              </a:rPr>
              <a:t>的光学数据库</a:t>
            </a:r>
            <a:endParaRPr lang="zh-CN" altLang="en-US" sz="1400" b="1" dirty="0">
              <a:solidFill>
                <a:srgbClr val="6B5DD3"/>
              </a:solidFill>
              <a:latin typeface="+mj-ea"/>
              <a:ea typeface="+mj-ea"/>
              <a:cs typeface="+mj-ea"/>
            </a:endParaRPr>
          </a:p>
        </p:txBody>
      </p:sp>
      <p:graphicFrame>
        <p:nvGraphicFramePr>
          <p:cNvPr id="39" name="对象 38"/>
          <p:cNvGraphicFramePr>
            <a:graphicFrameLocks noChangeAspect="1"/>
          </p:cNvGraphicFramePr>
          <p:nvPr>
            <p:custDataLst>
              <p:tags r:id="rId1"/>
            </p:custDataLst>
          </p:nvPr>
        </p:nvGraphicFramePr>
        <p:xfrm>
          <a:off x="7064188" y="3397250"/>
          <a:ext cx="3248847" cy="1264920"/>
        </p:xfrm>
        <a:graphic>
          <a:graphicData uri="http://schemas.openxmlformats.org/presentationml/2006/ole">
            <mc:AlternateContent xmlns:mc="http://schemas.openxmlformats.org/markup-compatibility/2006">
              <mc:Choice xmlns:v="urn:schemas-microsoft-com:vml" Requires="v">
                <p:oleObj spid="_x0000_s0" name="Equation" r:id="rId2" imgW="59131200" imgH="19507200" progId="Equation.DSMT4">
                  <p:embed/>
                </p:oleObj>
              </mc:Choice>
              <mc:Fallback>
                <p:oleObj name="Equation" r:id="rId2" imgW="59131200" imgH="19507200" progId="Equation.DSMT4">
                  <p:embed/>
                  <p:pic>
                    <p:nvPicPr>
                      <p:cNvPr id="0" name="图片 1"/>
                      <p:cNvPicPr/>
                      <p:nvPr/>
                    </p:nvPicPr>
                    <p:blipFill>
                      <a:blip r:embed="rId3"/>
                      <a:stretch>
                        <a:fillRect/>
                      </a:stretch>
                    </p:blipFill>
                    <p:spPr>
                      <a:xfrm>
                        <a:off x="7064188" y="3397250"/>
                        <a:ext cx="3248847" cy="1264920"/>
                      </a:xfrm>
                      <a:prstGeom prst="rect">
                        <a:avLst/>
                      </a:prstGeom>
                    </p:spPr>
                  </p:pic>
                </p:oleObj>
              </mc:Fallback>
            </mc:AlternateContent>
          </a:graphicData>
        </a:graphic>
      </p:graphicFrame>
      <p:graphicFrame>
        <p:nvGraphicFramePr>
          <p:cNvPr id="42" name="对象 41"/>
          <p:cNvGraphicFramePr>
            <a:graphicFrameLocks noChangeAspect="1"/>
          </p:cNvGraphicFramePr>
          <p:nvPr/>
        </p:nvGraphicFramePr>
        <p:xfrm>
          <a:off x="6614795" y="2239645"/>
          <a:ext cx="4082415" cy="669925"/>
        </p:xfrm>
        <a:graphic>
          <a:graphicData uri="http://schemas.openxmlformats.org/presentationml/2006/ole">
            <mc:AlternateContent xmlns:mc="http://schemas.openxmlformats.org/markup-compatibility/2006">
              <mc:Choice xmlns:v="urn:schemas-microsoft-com:vml" Requires="v">
                <p:oleObj spid="_x0000_s0" name="Equation" r:id="rId4" imgW="3084195" imgH="514985" progId="Equation.DSMT4">
                  <p:embed/>
                </p:oleObj>
              </mc:Choice>
              <mc:Fallback>
                <p:oleObj name="Equation" r:id="rId4" imgW="3084195" imgH="514985" progId="Equation.DSMT4">
                  <p:embed/>
                  <p:pic>
                    <p:nvPicPr>
                      <p:cNvPr id="0" name="图片 8"/>
                      <p:cNvPicPr/>
                      <p:nvPr/>
                    </p:nvPicPr>
                    <p:blipFill>
                      <a:blip r:embed="rId5"/>
                      <a:stretch>
                        <a:fillRect/>
                      </a:stretch>
                    </p:blipFill>
                    <p:spPr>
                      <a:xfrm>
                        <a:off x="6614795" y="2239645"/>
                        <a:ext cx="4082415" cy="669925"/>
                      </a:xfrm>
                      <a:prstGeom prst="rect">
                        <a:avLst/>
                      </a:prstGeom>
                    </p:spPr>
                  </p:pic>
                </p:oleObj>
              </mc:Fallback>
            </mc:AlternateContent>
          </a:graphicData>
        </a:graphic>
      </p:graphicFrame>
      <p:sp>
        <p:nvSpPr>
          <p:cNvPr id="2" name="文本框 1"/>
          <p:cNvSpPr txBox="1"/>
          <p:nvPr/>
        </p:nvSpPr>
        <p:spPr>
          <a:xfrm>
            <a:off x="2106295" y="6144895"/>
            <a:ext cx="6695440" cy="583565"/>
          </a:xfrm>
          <a:prstGeom prst="rect">
            <a:avLst/>
          </a:prstGeom>
          <a:noFill/>
        </p:spPr>
        <p:txBody>
          <a:bodyPr wrap="square" rtlCol="0" anchor="t">
            <a:spAutoFit/>
          </a:bodyPr>
          <a:lstStyle/>
          <a:p>
            <a:r>
              <a:rPr lang="zh-CN" altLang="en-US" sz="1600" dirty="0">
                <a:latin typeface="Times New Roman" panose="02020603050405020304" charset="0"/>
                <a:cs typeface="Times New Roman" panose="02020603050405020304" charset="0"/>
              </a:rPr>
              <a:t>Yamada, Shunsuke,Otobe,et al. Physical Review B,2025,Vol.111(7): 075105.</a:t>
            </a:r>
            <a:endParaRPr lang="zh-CN" altLang="en-US" sz="1600" dirty="0">
              <a:latin typeface="Times New Roman" panose="02020603050405020304" charset="0"/>
              <a:cs typeface="Times New Roman" panose="02020603050405020304" charset="0"/>
            </a:endParaRPr>
          </a:p>
          <a:p>
            <a:r>
              <a:rPr lang="zh-CN" altLang="en-US" sz="1600" dirty="0">
                <a:latin typeface="Times New Roman" panose="02020603050405020304" charset="0"/>
                <a:cs typeface="Times New Roman" panose="02020603050405020304" charset="0"/>
              </a:rPr>
              <a:t>Sato, SA,Shinohara,et al. PHYSICAL REVIEW B,2014,Vol.90(17).</a:t>
            </a:r>
            <a:endParaRPr lang="zh-CN" altLang="en-US" sz="1600" dirty="0">
              <a:latin typeface="Times New Roman" panose="02020603050405020304" charset="0"/>
              <a:cs typeface="Times New Roman" panose="02020603050405020304" charset="0"/>
            </a:endParaRPr>
          </a:p>
        </p:txBody>
      </p:sp>
      <p:graphicFrame>
        <p:nvGraphicFramePr>
          <p:cNvPr id="6" name="对象 5"/>
          <p:cNvGraphicFramePr>
            <a:graphicFrameLocks noChangeAspect="1"/>
          </p:cNvGraphicFramePr>
          <p:nvPr/>
        </p:nvGraphicFramePr>
        <p:xfrm>
          <a:off x="2025015" y="4187825"/>
          <a:ext cx="1488440" cy="588645"/>
        </p:xfrm>
        <a:graphic>
          <a:graphicData uri="http://schemas.openxmlformats.org/presentationml/2006/ole">
            <mc:AlternateContent xmlns:mc="http://schemas.openxmlformats.org/markup-compatibility/2006">
              <mc:Choice xmlns:v="urn:schemas-microsoft-com:vml" Requires="v">
                <p:oleObj spid="_x0000_s0" name="Equation" r:id="rId6" imgW="990600" imgH="393700" progId="Equation.DSMT4">
                  <p:embed/>
                </p:oleObj>
              </mc:Choice>
              <mc:Fallback>
                <p:oleObj name="Equation" r:id="rId6" imgW="990600" imgH="393700" progId="Equation.DSMT4">
                  <p:embed/>
                  <p:pic>
                    <p:nvPicPr>
                      <p:cNvPr id="0" name="图片 -1"/>
                      <p:cNvPicPr/>
                      <p:nvPr/>
                    </p:nvPicPr>
                    <p:blipFill>
                      <a:blip r:embed="rId7"/>
                      <a:stretch>
                        <a:fillRect/>
                      </a:stretch>
                    </p:blipFill>
                    <p:spPr>
                      <a:xfrm>
                        <a:off x="2025015" y="4187825"/>
                        <a:ext cx="1488440" cy="588645"/>
                      </a:xfrm>
                      <a:prstGeom prst="rect">
                        <a:avLst/>
                      </a:prstGeom>
                    </p:spPr>
                  </p:pic>
                </p:oleObj>
              </mc:Fallback>
            </mc:AlternateContent>
          </a:graphicData>
        </a:graphic>
      </p:graphicFrame>
      <p:cxnSp>
        <p:nvCxnSpPr>
          <p:cNvPr id="8" name="肘形连接符 7"/>
          <p:cNvCxnSpPr/>
          <p:nvPr/>
        </p:nvCxnSpPr>
        <p:spPr>
          <a:xfrm rot="5400000" flipH="1">
            <a:off x="6035040" y="2637790"/>
            <a:ext cx="1270" cy="5223510"/>
          </a:xfrm>
          <a:prstGeom prst="bentConnector3">
            <a:avLst>
              <a:gd name="adj1" fmla="val -18750000"/>
            </a:avLst>
          </a:prstGeom>
          <a:noFill/>
          <a:ln w="33020">
            <a:solidFill>
              <a:srgbClr val="6B5DD3"/>
            </a:solidFill>
            <a:prstDash val="solid"/>
            <a:headEnd type="none"/>
            <a:tailEnd type="triangle"/>
          </a:ln>
        </p:spPr>
      </p:cxnSp>
      <p:sp>
        <p:nvSpPr>
          <p:cNvPr id="9" name="Text 12"/>
          <p:cNvSpPr/>
          <p:nvPr/>
        </p:nvSpPr>
        <p:spPr>
          <a:xfrm>
            <a:off x="1793367" y="1479296"/>
            <a:ext cx="3008376" cy="292608"/>
          </a:xfrm>
          <a:prstGeom prst="rect">
            <a:avLst/>
          </a:prstGeom>
          <a:noFill/>
        </p:spPr>
        <p:txBody>
          <a:bodyPr wrap="square" lIns="0" tIns="0" rIns="0" bIns="0" rtlCol="0" anchor="ctr"/>
          <a:lstStyle/>
          <a:p>
            <a:pPr marL="0" indent="0">
              <a:buNone/>
            </a:pPr>
            <a:r>
              <a:rPr lang="en-US" sz="1800" b="1" dirty="0">
                <a:solidFill>
                  <a:srgbClr val="6B5DD3"/>
                </a:solidFill>
                <a:latin typeface="+mj-ea"/>
                <a:ea typeface="+mj-ea"/>
                <a:cs typeface="+mj-ea"/>
              </a:rPr>
              <a:t>有限 Te 光学响应</a:t>
            </a:r>
            <a:endParaRPr lang="zh-CN" altLang="en-US" sz="1800" b="1" dirty="0">
              <a:solidFill>
                <a:srgbClr val="6B5DD3"/>
              </a:solidFill>
              <a:latin typeface="+mj-ea"/>
              <a:ea typeface="+mj-ea"/>
              <a:cs typeface="+mj-ea"/>
            </a:endParaRPr>
          </a:p>
        </p:txBody>
      </p:sp>
      <p:graphicFrame>
        <p:nvGraphicFramePr>
          <p:cNvPr id="7" name="对象 6"/>
          <p:cNvGraphicFramePr>
            <a:graphicFrameLocks noChangeAspect="1"/>
          </p:cNvGraphicFramePr>
          <p:nvPr/>
        </p:nvGraphicFramePr>
        <p:xfrm>
          <a:off x="2005996" y="2266585"/>
          <a:ext cx="3014917" cy="366679"/>
        </p:xfrm>
        <a:graphic>
          <a:graphicData uri="http://schemas.openxmlformats.org/presentationml/2006/ole">
            <mc:AlternateContent xmlns:mc="http://schemas.openxmlformats.org/markup-compatibility/2006">
              <mc:Choice xmlns:v="urn:schemas-microsoft-com:vml" Requires="v">
                <p:oleObj spid="_x0000_s0" name="Equation" r:id="rId8" imgW="45110400" imgH="5486400" progId="Equation.DSMT4">
                  <p:embed/>
                </p:oleObj>
              </mc:Choice>
              <mc:Fallback>
                <p:oleObj name="Equation" r:id="rId8" imgW="45110400" imgH="5486400" progId="Equation.DSMT4">
                  <p:embed/>
                  <p:pic>
                    <p:nvPicPr>
                      <p:cNvPr id="0" name="图片 -1"/>
                      <p:cNvPicPr/>
                      <p:nvPr/>
                    </p:nvPicPr>
                    <p:blipFill>
                      <a:blip r:embed="rId9"/>
                      <a:stretch>
                        <a:fillRect/>
                      </a:stretch>
                    </p:blipFill>
                    <p:spPr>
                      <a:xfrm>
                        <a:off x="2005996" y="2266585"/>
                        <a:ext cx="3014917" cy="366679"/>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2005965" y="3025140"/>
          <a:ext cx="2506980" cy="798195"/>
        </p:xfrm>
        <a:graphic>
          <a:graphicData uri="http://schemas.openxmlformats.org/presentationml/2006/ole">
            <mc:AlternateContent xmlns:mc="http://schemas.openxmlformats.org/markup-compatibility/2006">
              <mc:Choice xmlns:v="urn:schemas-microsoft-com:vml" Requires="v">
                <p:oleObj spid="_x0000_s0" name="Equation" r:id="rId10" imgW="1612900" imgH="508000" progId="Equation.DSMT4">
                  <p:embed/>
                </p:oleObj>
              </mc:Choice>
              <mc:Fallback>
                <p:oleObj name="Equation" r:id="rId10" imgW="1612900" imgH="508000" progId="Equation.DSMT4">
                  <p:embed/>
                  <p:pic>
                    <p:nvPicPr>
                      <p:cNvPr id="0" name="图片 -1"/>
                      <p:cNvPicPr/>
                      <p:nvPr/>
                    </p:nvPicPr>
                    <p:blipFill>
                      <a:blip r:embed="rId11"/>
                      <a:stretch>
                        <a:fillRect/>
                      </a:stretch>
                    </p:blipFill>
                    <p:spPr>
                      <a:xfrm>
                        <a:off x="2005965" y="3025140"/>
                        <a:ext cx="2506980" cy="798195"/>
                      </a:xfrm>
                      <a:prstGeom prst="rect">
                        <a:avLst/>
                      </a:prstGeom>
                    </p:spPr>
                  </p:pic>
                </p:oleObj>
              </mc:Fallback>
            </mc:AlternateContent>
          </a:graphicData>
        </a:graphic>
      </p:graphicFrame>
      <p:sp>
        <p:nvSpPr>
          <p:cNvPr id="11" name="文本框 10"/>
          <p:cNvSpPr txBox="1"/>
          <p:nvPr/>
        </p:nvSpPr>
        <p:spPr>
          <a:xfrm>
            <a:off x="1793240" y="1900555"/>
            <a:ext cx="3323590" cy="384175"/>
          </a:xfrm>
          <a:prstGeom prst="rect">
            <a:avLst/>
          </a:prstGeom>
        </p:spPr>
        <p:txBody>
          <a:bodyPr>
            <a:noAutofit/>
          </a:bodyPr>
          <a:lstStyle/>
          <a:p>
            <a:r>
              <a:rPr lang="en-US" altLang="zh-CN" sz="1600"/>
              <a:t>1. finite-Te DFT </a:t>
            </a:r>
            <a:r>
              <a:rPr lang="zh-CN" altLang="en-US" sz="1600"/>
              <a:t>输出复介电函数</a:t>
            </a:r>
            <a:endParaRPr lang="zh-CN" altLang="en-US" sz="1600"/>
          </a:p>
        </p:txBody>
      </p:sp>
      <p:sp>
        <p:nvSpPr>
          <p:cNvPr id="15" name="文本框 14"/>
          <p:cNvSpPr txBox="1"/>
          <p:nvPr/>
        </p:nvSpPr>
        <p:spPr>
          <a:xfrm>
            <a:off x="1812290" y="2689860"/>
            <a:ext cx="2669540" cy="335915"/>
          </a:xfrm>
          <a:prstGeom prst="rect">
            <a:avLst/>
          </a:prstGeom>
        </p:spPr>
        <p:txBody>
          <a:bodyPr>
            <a:noAutofit/>
          </a:bodyPr>
          <a:lstStyle/>
          <a:p>
            <a:r>
              <a:rPr lang="en-US" altLang="zh-CN" sz="1600"/>
              <a:t>2. </a:t>
            </a:r>
            <a:r>
              <a:rPr lang="zh-CN" altLang="en-US" sz="1600"/>
              <a:t>由</a:t>
            </a:r>
            <a:r>
              <a:rPr lang="en-US" altLang="zh-CN" sz="1600"/>
              <a:t>ε</a:t>
            </a:r>
            <a:r>
              <a:rPr lang="en-US" altLang="zh-CN" sz="1600" baseline="-25000"/>
              <a:t>1</a:t>
            </a:r>
            <a:r>
              <a:rPr lang="zh-CN" altLang="en-US" sz="1600"/>
              <a:t>、</a:t>
            </a:r>
            <a:r>
              <a:rPr lang="en-US" altLang="zh-CN" sz="1600"/>
              <a:t>ε</a:t>
            </a:r>
            <a:r>
              <a:rPr lang="en-US" altLang="zh-CN" sz="1600" baseline="-25000"/>
              <a:t>2</a:t>
            </a:r>
            <a:r>
              <a:rPr lang="zh-CN" altLang="en-US" sz="1600"/>
              <a:t>得到消光系数</a:t>
            </a:r>
            <a:r>
              <a:rPr lang="en-US" altLang="zh-CN" sz="1600"/>
              <a:t>κ</a:t>
            </a:r>
            <a:endParaRPr lang="en-US" altLang="zh-CN" sz="1600"/>
          </a:p>
        </p:txBody>
      </p:sp>
      <p:sp>
        <p:nvSpPr>
          <p:cNvPr id="17" name="文本框 16"/>
          <p:cNvSpPr txBox="1"/>
          <p:nvPr/>
        </p:nvSpPr>
        <p:spPr>
          <a:xfrm>
            <a:off x="1812290" y="3856355"/>
            <a:ext cx="2991485" cy="365760"/>
          </a:xfrm>
          <a:prstGeom prst="rect">
            <a:avLst/>
          </a:prstGeom>
        </p:spPr>
        <p:txBody>
          <a:bodyPr>
            <a:noAutofit/>
          </a:bodyPr>
          <a:lstStyle/>
          <a:p>
            <a:r>
              <a:rPr lang="en-US" altLang="zh-CN" sz="1600"/>
              <a:t>3. </a:t>
            </a:r>
            <a:r>
              <a:rPr lang="zh-CN" altLang="en-US" sz="1600"/>
              <a:t>得到电子温度依赖吸收系数</a:t>
            </a:r>
            <a:endParaRPr lang="zh-CN" altLang="en-US" sz="1600"/>
          </a:p>
        </p:txBody>
      </p:sp>
      <p:sp>
        <p:nvSpPr>
          <p:cNvPr id="20" name="文本框 19"/>
          <p:cNvSpPr txBox="1"/>
          <p:nvPr/>
        </p:nvSpPr>
        <p:spPr>
          <a:xfrm>
            <a:off x="6870700" y="1900555"/>
            <a:ext cx="3323590" cy="339090"/>
          </a:xfrm>
          <a:prstGeom prst="rect">
            <a:avLst/>
          </a:prstGeom>
        </p:spPr>
        <p:txBody>
          <a:bodyPr>
            <a:noAutofit/>
          </a:bodyPr>
          <a:lstStyle/>
          <a:p>
            <a:r>
              <a:rPr lang="en-US" altLang="zh-CN" sz="1600"/>
              <a:t>1. </a:t>
            </a:r>
            <a:r>
              <a:rPr lang="zh-CN" altLang="en-US" sz="1600"/>
              <a:t>动态吸收调控激光能量沉积</a:t>
            </a:r>
            <a:endParaRPr lang="zh-CN" altLang="en-US" sz="1600"/>
          </a:p>
        </p:txBody>
      </p:sp>
      <p:sp>
        <p:nvSpPr>
          <p:cNvPr id="21" name="文本框 20"/>
          <p:cNvSpPr txBox="1"/>
          <p:nvPr/>
        </p:nvSpPr>
        <p:spPr>
          <a:xfrm>
            <a:off x="6870700" y="2974975"/>
            <a:ext cx="3168650" cy="422275"/>
          </a:xfrm>
          <a:prstGeom prst="rect">
            <a:avLst/>
          </a:prstGeom>
        </p:spPr>
        <p:txBody>
          <a:bodyPr>
            <a:noAutofit/>
          </a:bodyPr>
          <a:lstStyle/>
          <a:p>
            <a:r>
              <a:rPr lang="en-US" altLang="zh-CN" sz="1600"/>
              <a:t>2. </a:t>
            </a:r>
            <a:r>
              <a:rPr lang="zh-CN" altLang="en-US" sz="1600"/>
              <a:t>作为 </a:t>
            </a:r>
            <a:r>
              <a:rPr lang="en-US" altLang="zh-CN" sz="1600"/>
              <a:t>TTM </a:t>
            </a:r>
            <a:r>
              <a:rPr lang="zh-CN" altLang="en-US" sz="1600"/>
              <a:t>的外部热源项</a:t>
            </a:r>
            <a:endParaRPr lang="zh-CN" altLang="en-US" sz="1600"/>
          </a:p>
        </p:txBody>
      </p:sp>
      <p:sp>
        <p:nvSpPr>
          <p:cNvPr id="22" name="文本框 21"/>
          <p:cNvSpPr txBox="1"/>
          <p:nvPr/>
        </p:nvSpPr>
        <p:spPr>
          <a:xfrm>
            <a:off x="5764530" y="2870835"/>
            <a:ext cx="455295" cy="381000"/>
          </a:xfrm>
          <a:prstGeom prst="rect">
            <a:avLst/>
          </a:prstGeom>
          <a:noFill/>
        </p:spPr>
        <p:txBody>
          <a:bodyPr wrap="square" rtlCol="0">
            <a:noAutofit/>
          </a:bodyPr>
          <a:lstStyle/>
          <a:p>
            <a:pPr algn="ctr"/>
            <a:r>
              <a:rPr lang="en-US" b="1" dirty="0">
                <a:solidFill>
                  <a:srgbClr val="6B5DD3"/>
                </a:solidFill>
                <a:latin typeface="+mj-ea"/>
                <a:ea typeface="+mj-ea"/>
                <a:cs typeface="+mj-ea"/>
              </a:rPr>
              <a:t>α</a:t>
            </a:r>
            <a:endParaRPr lang="en-US" b="1" dirty="0">
              <a:solidFill>
                <a:srgbClr val="6B5DD3"/>
              </a:solidFill>
              <a:latin typeface="+mj-ea"/>
              <a:ea typeface="+mj-ea"/>
              <a:cs typeface="+mj-ea"/>
            </a:endParaRPr>
          </a:p>
        </p:txBody>
      </p:sp>
      <p:sp>
        <p:nvSpPr>
          <p:cNvPr id="23" name="文本框 22"/>
          <p:cNvSpPr txBox="1"/>
          <p:nvPr/>
        </p:nvSpPr>
        <p:spPr>
          <a:xfrm>
            <a:off x="5765165" y="5114290"/>
            <a:ext cx="478155" cy="359410"/>
          </a:xfrm>
          <a:prstGeom prst="rect">
            <a:avLst/>
          </a:prstGeom>
          <a:noFill/>
        </p:spPr>
        <p:txBody>
          <a:bodyPr wrap="square" rtlCol="0">
            <a:noAutofit/>
          </a:bodyPr>
          <a:lstStyle/>
          <a:p>
            <a:pPr algn="ctr"/>
            <a:r>
              <a:rPr lang="en-US" b="1" dirty="0">
                <a:solidFill>
                  <a:srgbClr val="6B5DD3"/>
                </a:solidFill>
                <a:latin typeface="+mj-ea"/>
                <a:ea typeface="+mj-ea"/>
                <a:cs typeface="+mj-ea"/>
              </a:rPr>
              <a:t>Te</a:t>
            </a:r>
            <a:endParaRPr lang="en-US" altLang="zh-CN"/>
          </a:p>
        </p:txBody>
      </p:sp>
      <p:sp>
        <p:nvSpPr>
          <p:cNvPr id="24" name="文本框 23"/>
          <p:cNvSpPr txBox="1"/>
          <p:nvPr/>
        </p:nvSpPr>
        <p:spPr>
          <a:xfrm>
            <a:off x="7202805" y="4676140"/>
            <a:ext cx="2663825" cy="443865"/>
          </a:xfrm>
          <a:prstGeom prst="rect">
            <a:avLst/>
          </a:prstGeom>
          <a:noFill/>
        </p:spPr>
        <p:txBody>
          <a:bodyPr wrap="square" rtlCol="0" anchor="t">
            <a:noAutofit/>
          </a:bodyPr>
          <a:lstStyle/>
          <a:p>
            <a:pPr algn="ctr">
              <a:lnSpc>
                <a:spcPct val="140000"/>
              </a:lnSpc>
            </a:pPr>
            <a:r>
              <a:rPr lang="zh-CN" altLang="en-US" sz="1400" b="1" dirty="0">
                <a:solidFill>
                  <a:srgbClr val="6B5DD3"/>
                </a:solidFill>
                <a:latin typeface="+mj-ea"/>
                <a:ea typeface="+mj-ea"/>
                <a:cs typeface="+mj-ea"/>
                <a:sym typeface="+mn-ea"/>
              </a:rPr>
              <a:t>建立α→s→Te的闭环耦合</a:t>
            </a:r>
            <a:endParaRPr lang="zh-CN" altLang="en-US" sz="1400" b="1" dirty="0">
              <a:solidFill>
                <a:srgbClr val="6B5DD3"/>
              </a:solidFill>
              <a:latin typeface="+mj-ea"/>
              <a:ea typeface="+mj-ea"/>
              <a:cs typeface="+mj-ea"/>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28172" y="182164"/>
            <a:ext cx="7512485" cy="475615"/>
          </a:xfrm>
          <a:prstGeom prst="rect">
            <a:avLst/>
          </a:prstGeom>
          <a:noFill/>
        </p:spPr>
        <p:txBody>
          <a:bodyPr wrap="square">
            <a:spAutoFit/>
          </a:bodyPr>
          <a:lstStyle/>
          <a:p>
            <a:pPr marL="0" indent="0">
              <a:buNone/>
            </a:pPr>
            <a:r>
              <a:rPr lang="zh-CN" altLang="en-US" sz="2500" b="1" dirty="0">
                <a:solidFill>
                  <a:srgbClr val="102A43"/>
                </a:solidFill>
                <a:latin typeface="微软雅黑" panose="020B0503020204020204" charset="-122"/>
                <a:ea typeface="微软雅黑" panose="020B0503020204020204" charset="-122"/>
              </a:rPr>
              <a:t>利用</a:t>
            </a:r>
            <a:r>
              <a:rPr lang="en-US" altLang="zh-CN" sz="2500" b="1" dirty="0">
                <a:solidFill>
                  <a:srgbClr val="102A43"/>
                </a:solidFill>
                <a:latin typeface="微软雅黑" panose="020B0503020204020204" charset="-122"/>
                <a:ea typeface="微软雅黑" panose="020B0503020204020204" charset="-122"/>
              </a:rPr>
              <a:t>DFT</a:t>
            </a:r>
            <a:r>
              <a:rPr lang="zh-CN" altLang="en-US" sz="2500" b="1" dirty="0">
                <a:solidFill>
                  <a:srgbClr val="102A43"/>
                </a:solidFill>
                <a:latin typeface="微软雅黑" panose="020B0503020204020204" charset="-122"/>
                <a:ea typeface="微软雅黑" panose="020B0503020204020204" charset="-122"/>
              </a:rPr>
              <a:t>的光学响应系数计算框架</a:t>
            </a:r>
            <a:endParaRPr lang="zh-CN" altLang="en-US" sz="2500" b="1" dirty="0">
              <a:solidFill>
                <a:srgbClr val="102A43"/>
              </a:solidFill>
              <a:latin typeface="微软雅黑" panose="020B0503020204020204" charset="-122"/>
              <a:ea typeface="微软雅黑" panose="020B0503020204020204" charset="-122"/>
            </a:endParaRPr>
          </a:p>
        </p:txBody>
      </p:sp>
      <p:graphicFrame>
        <p:nvGraphicFramePr>
          <p:cNvPr id="2" name="对象 1"/>
          <p:cNvGraphicFramePr>
            <a:graphicFrameLocks noChangeAspect="1"/>
          </p:cNvGraphicFramePr>
          <p:nvPr/>
        </p:nvGraphicFramePr>
        <p:xfrm>
          <a:off x="4536776" y="2196156"/>
          <a:ext cx="2706244" cy="573087"/>
        </p:xfrm>
        <a:graphic>
          <a:graphicData uri="http://schemas.openxmlformats.org/presentationml/2006/ole">
            <mc:AlternateContent xmlns:mc="http://schemas.openxmlformats.org/markup-compatibility/2006">
              <mc:Choice xmlns:v="urn:schemas-microsoft-com:vml" Requires="v">
                <p:oleObj spid="_x0000_s0" name="Equation" r:id="rId1" imgW="25908000" imgH="5486400" progId="Equation.DSMT4">
                  <p:embed/>
                </p:oleObj>
              </mc:Choice>
              <mc:Fallback>
                <p:oleObj name="Equation" r:id="rId1" imgW="25908000" imgH="5486400" progId="Equation.DSMT4">
                  <p:embed/>
                  <p:pic>
                    <p:nvPicPr>
                      <p:cNvPr id="0" name="图片 -1"/>
                      <p:cNvPicPr/>
                      <p:nvPr/>
                    </p:nvPicPr>
                    <p:blipFill>
                      <a:blip r:embed="rId2"/>
                      <a:stretch>
                        <a:fillRect/>
                      </a:stretch>
                    </p:blipFill>
                    <p:spPr>
                      <a:xfrm>
                        <a:off x="4536776" y="2196156"/>
                        <a:ext cx="2706244" cy="573087"/>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1418291" y="3376575"/>
          <a:ext cx="2470150" cy="1040063"/>
        </p:xfrm>
        <a:graphic>
          <a:graphicData uri="http://schemas.openxmlformats.org/presentationml/2006/ole">
            <mc:AlternateContent xmlns:mc="http://schemas.openxmlformats.org/markup-compatibility/2006">
              <mc:Choice xmlns:v="urn:schemas-microsoft-com:vml" Requires="v">
                <p:oleObj spid="_x0000_s0" name="Equation" r:id="rId3" imgW="28956000" imgH="12192000" progId="Equation.DSMT4">
                  <p:embed/>
                </p:oleObj>
              </mc:Choice>
              <mc:Fallback>
                <p:oleObj name="Equation" r:id="rId3" imgW="28956000" imgH="12192000" progId="Equation.DSMT4">
                  <p:embed/>
                  <p:pic>
                    <p:nvPicPr>
                      <p:cNvPr id="0" name="图片 -1"/>
                      <p:cNvPicPr/>
                      <p:nvPr/>
                    </p:nvPicPr>
                    <p:blipFill>
                      <a:blip r:embed="rId4"/>
                      <a:stretch>
                        <a:fillRect/>
                      </a:stretch>
                    </p:blipFill>
                    <p:spPr>
                      <a:xfrm>
                        <a:off x="1418291" y="3376575"/>
                        <a:ext cx="2470150" cy="1040063"/>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7756351" y="3376295"/>
          <a:ext cx="2470149" cy="1029229"/>
        </p:xfrm>
        <a:graphic>
          <a:graphicData uri="http://schemas.openxmlformats.org/presentationml/2006/ole">
            <mc:AlternateContent xmlns:mc="http://schemas.openxmlformats.org/markup-compatibility/2006">
              <mc:Choice xmlns:v="urn:schemas-microsoft-com:vml" Requires="v">
                <p:oleObj spid="_x0000_s0" name="Equation" r:id="rId5" imgW="29260800" imgH="12192000" progId="Equation.DSMT4">
                  <p:embed/>
                </p:oleObj>
              </mc:Choice>
              <mc:Fallback>
                <p:oleObj name="Equation" r:id="rId5" imgW="29260800" imgH="12192000" progId="Equation.DSMT4">
                  <p:embed/>
                  <p:pic>
                    <p:nvPicPr>
                      <p:cNvPr id="0" name="图片 -1"/>
                      <p:cNvPicPr/>
                      <p:nvPr/>
                    </p:nvPicPr>
                    <p:blipFill>
                      <a:blip r:embed="rId6"/>
                      <a:stretch>
                        <a:fillRect/>
                      </a:stretch>
                    </p:blipFill>
                    <p:spPr>
                      <a:xfrm>
                        <a:off x="7756351" y="3376295"/>
                        <a:ext cx="2470149" cy="1029229"/>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1588417" y="4733539"/>
          <a:ext cx="2273987" cy="958910"/>
        </p:xfrm>
        <a:graphic>
          <a:graphicData uri="http://schemas.openxmlformats.org/presentationml/2006/ole">
            <mc:AlternateContent xmlns:mc="http://schemas.openxmlformats.org/markup-compatibility/2006">
              <mc:Choice xmlns:v="urn:schemas-microsoft-com:vml" Requires="v">
                <p:oleObj spid="_x0000_s0" name="Equation" r:id="rId7" imgW="25298400" imgH="10668000" progId="Equation.DSMT4">
                  <p:embed/>
                </p:oleObj>
              </mc:Choice>
              <mc:Fallback>
                <p:oleObj name="Equation" r:id="rId7" imgW="25298400" imgH="10668000" progId="Equation.DSMT4">
                  <p:embed/>
                  <p:pic>
                    <p:nvPicPr>
                      <p:cNvPr id="0" name="图片 -1"/>
                      <p:cNvPicPr/>
                      <p:nvPr/>
                    </p:nvPicPr>
                    <p:blipFill>
                      <a:blip r:embed="rId8"/>
                      <a:stretch>
                        <a:fillRect/>
                      </a:stretch>
                    </p:blipFill>
                    <p:spPr>
                      <a:xfrm>
                        <a:off x="1588417" y="4733539"/>
                        <a:ext cx="2273987" cy="95891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7971789" y="4861839"/>
          <a:ext cx="1136839" cy="749830"/>
        </p:xfrm>
        <a:graphic>
          <a:graphicData uri="http://schemas.openxmlformats.org/presentationml/2006/ole">
            <mc:AlternateContent xmlns:mc="http://schemas.openxmlformats.org/markup-compatibility/2006">
              <mc:Choice xmlns:v="urn:schemas-microsoft-com:vml" Requires="v">
                <p:oleObj spid="_x0000_s0" name="Equation" r:id="rId9" imgW="14325600" imgH="9448800" progId="Equation.DSMT4">
                  <p:embed/>
                </p:oleObj>
              </mc:Choice>
              <mc:Fallback>
                <p:oleObj name="Equation" r:id="rId9" imgW="14325600" imgH="9448800" progId="Equation.DSMT4">
                  <p:embed/>
                  <p:pic>
                    <p:nvPicPr>
                      <p:cNvPr id="0" name="图片 -1"/>
                      <p:cNvPicPr/>
                      <p:nvPr/>
                    </p:nvPicPr>
                    <p:blipFill>
                      <a:blip r:embed="rId10"/>
                      <a:stretch>
                        <a:fillRect/>
                      </a:stretch>
                    </p:blipFill>
                    <p:spPr>
                      <a:xfrm>
                        <a:off x="7971789" y="4861839"/>
                        <a:ext cx="1136839" cy="749830"/>
                      </a:xfrm>
                      <a:prstGeom prst="rect">
                        <a:avLst/>
                      </a:prstGeom>
                    </p:spPr>
                  </p:pic>
                </p:oleObj>
              </mc:Fallback>
            </mc:AlternateContent>
          </a:graphicData>
        </a:graphic>
      </p:graphicFrame>
      <p:sp>
        <p:nvSpPr>
          <p:cNvPr id="10" name="Shape 5"/>
          <p:cNvSpPr/>
          <p:nvPr>
            <p:custDataLst>
              <p:tags r:id="rId11"/>
            </p:custDataLst>
          </p:nvPr>
        </p:nvSpPr>
        <p:spPr>
          <a:xfrm>
            <a:off x="4802505" y="1324610"/>
            <a:ext cx="2129155" cy="694690"/>
          </a:xfrm>
          <a:prstGeom prst="roundRect">
            <a:avLst>
              <a:gd name="adj" fmla="val 13793"/>
            </a:avLst>
          </a:prstGeom>
          <a:solidFill>
            <a:srgbClr val="EAF4FF"/>
          </a:solidFill>
          <a:ln w="15240">
            <a:solidFill>
              <a:srgbClr val="1469B0"/>
            </a:solidFill>
            <a:prstDash val="solid"/>
          </a:ln>
        </p:spPr>
      </p:sp>
      <p:sp>
        <p:nvSpPr>
          <p:cNvPr id="11" name="Text 6"/>
          <p:cNvSpPr/>
          <p:nvPr>
            <p:custDataLst>
              <p:tags r:id="rId12"/>
            </p:custDataLst>
          </p:nvPr>
        </p:nvSpPr>
        <p:spPr>
          <a:xfrm>
            <a:off x="4801870" y="1319530"/>
            <a:ext cx="2130425" cy="692150"/>
          </a:xfrm>
          <a:prstGeom prst="rect">
            <a:avLst/>
          </a:prstGeom>
          <a:noFill/>
        </p:spPr>
        <p:txBody>
          <a:bodyPr wrap="square" lIns="635" tIns="635" rIns="635" bIns="635" rtlCol="0" anchor="ctr">
            <a:normAutofit/>
          </a:bodyPr>
          <a:lstStyle/>
          <a:p>
            <a:pPr marL="0" indent="0" algn="ctr">
              <a:buNone/>
            </a:pPr>
            <a:r>
              <a:rPr lang="en-US" sz="2000" b="1" dirty="0">
                <a:solidFill>
                  <a:srgbClr val="06345A"/>
                </a:solidFill>
                <a:latin typeface="Times New Roman" panose="02020603050405020304" charset="0"/>
                <a:ea typeface="Noto Sans CJK SC" pitchFamily="34" charset="-122"/>
                <a:cs typeface="Times New Roman" panose="02020603050405020304" charset="0"/>
              </a:rPr>
              <a:t>ε(ω,Tₑ)</a:t>
            </a:r>
            <a:endParaRPr lang="en-US" sz="2000" b="1" dirty="0">
              <a:solidFill>
                <a:srgbClr val="06345A"/>
              </a:solidFill>
              <a:latin typeface="Times New Roman" panose="02020603050405020304" charset="0"/>
              <a:ea typeface="Noto Sans CJK SC" pitchFamily="34" charset="-122"/>
              <a:cs typeface="Times New Roman" panose="02020603050405020304" charset="0"/>
            </a:endParaRPr>
          </a:p>
          <a:p>
            <a:pPr marL="0" indent="0" algn="ctr">
              <a:buNone/>
            </a:pPr>
            <a:r>
              <a:rPr lang="en-US" sz="2000" b="1" dirty="0">
                <a:solidFill>
                  <a:srgbClr val="06345A"/>
                </a:solidFill>
                <a:latin typeface="+mj-ea"/>
                <a:ea typeface="+mj-ea"/>
                <a:cs typeface="Times New Roman" panose="02020603050405020304" charset="0"/>
              </a:rPr>
              <a:t>复介电函数</a:t>
            </a:r>
            <a:endParaRPr lang="en-US" sz="2000" b="1" dirty="0">
              <a:solidFill>
                <a:srgbClr val="06345A"/>
              </a:solidFill>
              <a:latin typeface="+mj-ea"/>
              <a:ea typeface="+mj-ea"/>
              <a:cs typeface="Times New Roman" panose="02020603050405020304" charset="0"/>
            </a:endParaRPr>
          </a:p>
        </p:txBody>
      </p:sp>
      <p:sp>
        <p:nvSpPr>
          <p:cNvPr id="12" name="Shape 7"/>
          <p:cNvSpPr/>
          <p:nvPr>
            <p:custDataLst>
              <p:tags r:id="rId13"/>
            </p:custDataLst>
          </p:nvPr>
        </p:nvSpPr>
        <p:spPr>
          <a:xfrm>
            <a:off x="4803140" y="3493135"/>
            <a:ext cx="2130425" cy="694690"/>
          </a:xfrm>
          <a:prstGeom prst="roundRect">
            <a:avLst>
              <a:gd name="adj" fmla="val 13793"/>
            </a:avLst>
          </a:prstGeom>
          <a:solidFill>
            <a:srgbClr val="ECF8F1"/>
          </a:solidFill>
          <a:ln w="15240">
            <a:solidFill>
              <a:srgbClr val="2E8B57"/>
            </a:solidFill>
            <a:prstDash val="solid"/>
          </a:ln>
        </p:spPr>
      </p:sp>
      <p:sp>
        <p:nvSpPr>
          <p:cNvPr id="13" name="Text 8"/>
          <p:cNvSpPr/>
          <p:nvPr>
            <p:custDataLst>
              <p:tags r:id="rId14"/>
            </p:custDataLst>
          </p:nvPr>
        </p:nvSpPr>
        <p:spPr>
          <a:xfrm>
            <a:off x="4803775" y="3493135"/>
            <a:ext cx="2128520" cy="681990"/>
          </a:xfrm>
          <a:prstGeom prst="rect">
            <a:avLst/>
          </a:prstGeom>
          <a:noFill/>
        </p:spPr>
        <p:txBody>
          <a:bodyPr wrap="square" lIns="635" tIns="635" rIns="635" bIns="635" rtlCol="0" anchor="ctr">
            <a:normAutofit/>
          </a:bodyPr>
          <a:lstStyle/>
          <a:p>
            <a:pPr marL="0" algn="ctr">
              <a:buClrTx/>
              <a:buSzTx/>
              <a:buNone/>
            </a:pPr>
            <a:r>
              <a:rPr lang="en-US" sz="2000" b="1" dirty="0">
                <a:solidFill>
                  <a:srgbClr val="06345A"/>
                </a:solidFill>
                <a:latin typeface="Times New Roman" panose="02020603050405020304" charset="0"/>
                <a:ea typeface="Noto Sans CJK SC" pitchFamily="34" charset="-122"/>
                <a:cs typeface="Times New Roman" panose="02020603050405020304" charset="0"/>
              </a:rPr>
              <a:t>n, κ</a:t>
            </a:r>
            <a:endParaRPr lang="en-US" sz="2000" b="1" dirty="0">
              <a:solidFill>
                <a:srgbClr val="06345A"/>
              </a:solidFill>
              <a:latin typeface="Times New Roman" panose="02020603050405020304" charset="0"/>
              <a:ea typeface="Noto Sans CJK SC" pitchFamily="34" charset="-122"/>
              <a:cs typeface="Times New Roman" panose="02020603050405020304" charset="0"/>
            </a:endParaRPr>
          </a:p>
          <a:p>
            <a:pPr marL="0" algn="ctr">
              <a:buClrTx/>
              <a:buSzTx/>
              <a:buNone/>
            </a:pPr>
            <a:r>
              <a:rPr lang="en-US" sz="2000" b="1" dirty="0">
                <a:solidFill>
                  <a:srgbClr val="06345A"/>
                </a:solidFill>
                <a:latin typeface="+mj-ea"/>
                <a:ea typeface="+mj-ea"/>
                <a:cs typeface="+mj-ea"/>
              </a:rPr>
              <a:t>折射率</a:t>
            </a:r>
            <a:r>
              <a:rPr lang="en-US" sz="2000" b="1" dirty="0">
                <a:solidFill>
                  <a:srgbClr val="06345A"/>
                </a:solidFill>
                <a:latin typeface="+mj-ea"/>
                <a:ea typeface="+mj-ea"/>
                <a:cs typeface="+mj-ea"/>
                <a:sym typeface="+mn-ea"/>
              </a:rPr>
              <a:t>、</a:t>
            </a:r>
            <a:r>
              <a:rPr lang="en-US" sz="2000" b="1" dirty="0">
                <a:solidFill>
                  <a:srgbClr val="06345A"/>
                </a:solidFill>
                <a:latin typeface="+mj-ea"/>
                <a:ea typeface="+mj-ea"/>
                <a:cs typeface="+mj-ea"/>
              </a:rPr>
              <a:t>消光系数</a:t>
            </a:r>
            <a:endParaRPr lang="en-US" sz="2000" b="1" dirty="0">
              <a:solidFill>
                <a:srgbClr val="06345A"/>
              </a:solidFill>
              <a:latin typeface="+mj-ea"/>
              <a:ea typeface="+mj-ea"/>
              <a:cs typeface="+mj-ea"/>
            </a:endParaRPr>
          </a:p>
        </p:txBody>
      </p:sp>
      <p:sp>
        <p:nvSpPr>
          <p:cNvPr id="14" name="Shape 9"/>
          <p:cNvSpPr/>
          <p:nvPr>
            <p:custDataLst>
              <p:tags r:id="rId15"/>
            </p:custDataLst>
          </p:nvPr>
        </p:nvSpPr>
        <p:spPr>
          <a:xfrm>
            <a:off x="4806950" y="4861560"/>
            <a:ext cx="2166620" cy="694690"/>
          </a:xfrm>
          <a:prstGeom prst="roundRect">
            <a:avLst>
              <a:gd name="adj" fmla="val 13793"/>
            </a:avLst>
          </a:prstGeom>
          <a:solidFill>
            <a:srgbClr val="FFF3E7"/>
          </a:solidFill>
          <a:ln w="15240">
            <a:solidFill>
              <a:srgbClr val="E8751A"/>
            </a:solidFill>
            <a:prstDash val="solid"/>
          </a:ln>
        </p:spPr>
      </p:sp>
      <p:sp>
        <p:nvSpPr>
          <p:cNvPr id="15" name="Text 10"/>
          <p:cNvSpPr/>
          <p:nvPr>
            <p:custDataLst>
              <p:tags r:id="rId16"/>
            </p:custDataLst>
          </p:nvPr>
        </p:nvSpPr>
        <p:spPr>
          <a:xfrm>
            <a:off x="4807585" y="4856480"/>
            <a:ext cx="2165350" cy="707390"/>
          </a:xfrm>
          <a:prstGeom prst="rect">
            <a:avLst/>
          </a:prstGeom>
          <a:noFill/>
        </p:spPr>
        <p:txBody>
          <a:bodyPr wrap="square" lIns="635" tIns="635" rIns="635" bIns="635" rtlCol="0" anchor="ctr">
            <a:normAutofit/>
          </a:bodyPr>
          <a:lstStyle/>
          <a:p>
            <a:pPr marL="0" algn="ctr">
              <a:buClrTx/>
              <a:buSzTx/>
              <a:buNone/>
            </a:pPr>
            <a:r>
              <a:rPr lang="en-US" sz="2000" b="1" dirty="0">
                <a:solidFill>
                  <a:srgbClr val="06345A"/>
                </a:solidFill>
                <a:latin typeface="Times New Roman" panose="02020603050405020304" charset="0"/>
                <a:ea typeface="Noto Sans CJK SC" pitchFamily="34" charset="-122"/>
                <a:cs typeface="Times New Roman" panose="02020603050405020304" charset="0"/>
              </a:rPr>
              <a:t>R, α</a:t>
            </a:r>
            <a:endParaRPr lang="en-US" sz="2000" b="1" dirty="0">
              <a:solidFill>
                <a:srgbClr val="06345A"/>
              </a:solidFill>
              <a:latin typeface="Times New Roman" panose="02020603050405020304" charset="0"/>
              <a:ea typeface="Noto Sans CJK SC" pitchFamily="34" charset="-122"/>
              <a:cs typeface="Times New Roman" panose="02020603050405020304" charset="0"/>
            </a:endParaRPr>
          </a:p>
          <a:p>
            <a:pPr marL="0" algn="ctr">
              <a:buClrTx/>
              <a:buSzTx/>
              <a:buNone/>
            </a:pPr>
            <a:r>
              <a:rPr lang="en-US" sz="2000" b="1" dirty="0">
                <a:solidFill>
                  <a:srgbClr val="06345A"/>
                </a:solidFill>
                <a:latin typeface="+mj-ea"/>
                <a:ea typeface="+mj-ea"/>
                <a:cs typeface="+mj-ea"/>
              </a:rPr>
              <a:t>反射</a:t>
            </a:r>
            <a:r>
              <a:rPr lang="zh-CN" altLang="en-US" sz="2000" b="1" dirty="0">
                <a:solidFill>
                  <a:srgbClr val="06345A"/>
                </a:solidFill>
                <a:latin typeface="+mj-ea"/>
                <a:ea typeface="+mj-ea"/>
                <a:cs typeface="+mj-ea"/>
              </a:rPr>
              <a:t>、</a:t>
            </a:r>
            <a:r>
              <a:rPr lang="en-US" sz="2000" b="1" dirty="0">
                <a:solidFill>
                  <a:srgbClr val="06345A"/>
                </a:solidFill>
                <a:latin typeface="+mj-ea"/>
                <a:ea typeface="+mj-ea"/>
                <a:cs typeface="+mj-ea"/>
              </a:rPr>
              <a:t>吸收</a:t>
            </a:r>
            <a:r>
              <a:rPr lang="zh-CN" altLang="en-US" sz="2000" b="1" dirty="0">
                <a:solidFill>
                  <a:srgbClr val="06345A"/>
                </a:solidFill>
                <a:latin typeface="+mj-ea"/>
                <a:ea typeface="+mj-ea"/>
                <a:cs typeface="+mj-ea"/>
              </a:rPr>
              <a:t>系数</a:t>
            </a:r>
            <a:endParaRPr lang="zh-CN" altLang="en-US" sz="2000" b="1" dirty="0">
              <a:solidFill>
                <a:srgbClr val="06345A"/>
              </a:solidFill>
              <a:latin typeface="+mj-ea"/>
              <a:ea typeface="+mj-ea"/>
              <a:cs typeface="+mj-ea"/>
            </a:endParaRPr>
          </a:p>
        </p:txBody>
      </p:sp>
      <p:cxnSp>
        <p:nvCxnSpPr>
          <p:cNvPr id="27" name="直接箭头连接符 26"/>
          <p:cNvCxnSpPr/>
          <p:nvPr/>
        </p:nvCxnSpPr>
        <p:spPr>
          <a:xfrm>
            <a:off x="5876925" y="4303395"/>
            <a:ext cx="0" cy="42989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8" name="直接箭头连接符 27"/>
          <p:cNvCxnSpPr/>
          <p:nvPr/>
        </p:nvCxnSpPr>
        <p:spPr>
          <a:xfrm>
            <a:off x="5876925" y="2946400"/>
            <a:ext cx="0" cy="429895"/>
          </a:xfrm>
          <a:prstGeom prst="straightConnector1">
            <a:avLst/>
          </a:prstGeom>
          <a:ln w="31750" cap="rnd">
            <a:solidFill>
              <a:schemeClr val="accent1"/>
            </a:solidFill>
            <a:round/>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7759" y="187452"/>
            <a:ext cx="5379971" cy="42062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zh-CN" altLang="en-US" sz="2500" b="1" dirty="0">
                <a:solidFill>
                  <a:srgbClr val="102A43"/>
                </a:solidFill>
                <a:latin typeface="+mj-ea"/>
                <a:ea typeface="+mj-ea"/>
                <a:cs typeface="Noto Sans CJK SC" pitchFamily="34" charset="-120"/>
              </a:rPr>
              <a:t>整体</a:t>
            </a:r>
            <a:r>
              <a:rPr lang="en-US" sz="2500" b="1" dirty="0">
                <a:solidFill>
                  <a:srgbClr val="102A43"/>
                </a:solidFill>
                <a:latin typeface="+mj-ea"/>
                <a:ea typeface="+mj-ea"/>
                <a:cs typeface="Noto Sans CJK SC" pitchFamily="34" charset="-120"/>
              </a:rPr>
              <a:t>研究</a:t>
            </a:r>
            <a:r>
              <a:rPr lang="zh-CN" altLang="en-US" sz="2500" b="1" dirty="0">
                <a:solidFill>
                  <a:srgbClr val="102A43"/>
                </a:solidFill>
                <a:latin typeface="+mj-ea"/>
                <a:ea typeface="+mj-ea"/>
                <a:cs typeface="Noto Sans CJK SC" pitchFamily="34" charset="-120"/>
              </a:rPr>
              <a:t>路线</a:t>
            </a:r>
            <a:r>
              <a:rPr lang="en-US" sz="2500" b="1" dirty="0">
                <a:solidFill>
                  <a:srgbClr val="102A43"/>
                </a:solidFill>
                <a:latin typeface="+mj-ea"/>
                <a:ea typeface="+mj-ea"/>
                <a:cs typeface="Noto Sans CJK SC" pitchFamily="34" charset="-120"/>
              </a:rPr>
              <a:t>与</a:t>
            </a:r>
            <a:r>
              <a:rPr lang="zh-CN" altLang="en-US" sz="2500" b="1" dirty="0">
                <a:solidFill>
                  <a:srgbClr val="102A43"/>
                </a:solidFill>
                <a:latin typeface="+mj-ea"/>
                <a:ea typeface="+mj-ea"/>
                <a:cs typeface="Noto Sans CJK SC" pitchFamily="34" charset="-120"/>
              </a:rPr>
              <a:t>涉及</a:t>
            </a:r>
            <a:r>
              <a:rPr lang="en-US" sz="2500" b="1" dirty="0">
                <a:solidFill>
                  <a:srgbClr val="102A43"/>
                </a:solidFill>
                <a:latin typeface="+mj-ea"/>
                <a:ea typeface="+mj-ea"/>
                <a:cs typeface="Noto Sans CJK SC" pitchFamily="34" charset="-120"/>
              </a:rPr>
              <a:t>核心科学问题</a:t>
            </a:r>
            <a:endParaRPr lang="en-US" sz="2500" dirty="0">
              <a:latin typeface="+mj-ea"/>
              <a:ea typeface="+mj-ea"/>
            </a:endParaRPr>
          </a:p>
        </p:txBody>
      </p:sp>
      <p:grpSp>
        <p:nvGrpSpPr>
          <p:cNvPr id="27" name="组合 26"/>
          <p:cNvGrpSpPr/>
          <p:nvPr/>
        </p:nvGrpSpPr>
        <p:grpSpPr>
          <a:xfrm>
            <a:off x="636905" y="1261745"/>
            <a:ext cx="3529330" cy="1938020"/>
            <a:chOff x="1003" y="1987"/>
            <a:chExt cx="5558" cy="3052"/>
          </a:xfrm>
        </p:grpSpPr>
        <p:sp>
          <p:nvSpPr>
            <p:cNvPr id="4" name="Shape 2"/>
            <p:cNvSpPr/>
            <p:nvPr>
              <p:custDataLst>
                <p:tags r:id="rId1"/>
              </p:custDataLst>
            </p:nvPr>
          </p:nvSpPr>
          <p:spPr>
            <a:xfrm>
              <a:off x="1003" y="1987"/>
              <a:ext cx="5558" cy="3053"/>
            </a:xfrm>
            <a:prstGeom prst="roundRect">
              <a:avLst>
                <a:gd name="adj" fmla="val 3774"/>
              </a:avLst>
            </a:prstGeom>
            <a:solidFill>
              <a:srgbClr val="F1EEFA"/>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a:p>
          </p:txBody>
        </p:sp>
        <p:sp>
          <p:nvSpPr>
            <p:cNvPr id="5" name="Text 3"/>
            <p:cNvSpPr/>
            <p:nvPr>
              <p:custDataLst>
                <p:tags r:id="rId2"/>
              </p:custDataLst>
            </p:nvPr>
          </p:nvSpPr>
          <p:spPr>
            <a:xfrm>
              <a:off x="1262" y="2159"/>
              <a:ext cx="5040" cy="461"/>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6E5AA6"/>
                  </a:solidFill>
                  <a:latin typeface="+mj-ea"/>
                  <a:ea typeface="+mj-ea"/>
                  <a:cs typeface="Noto Sans CJK SC" pitchFamily="34" charset="-120"/>
                </a:rPr>
                <a:t>科学问题 1</a:t>
              </a:r>
              <a:endParaRPr lang="en-US" dirty="0">
                <a:latin typeface="+mj-ea"/>
                <a:ea typeface="+mj-ea"/>
              </a:endParaRPr>
            </a:p>
          </p:txBody>
        </p:sp>
        <p:sp>
          <p:nvSpPr>
            <p:cNvPr id="6" name="Text 4"/>
            <p:cNvSpPr/>
            <p:nvPr>
              <p:custDataLst>
                <p:tags r:id="rId3"/>
              </p:custDataLst>
            </p:nvPr>
          </p:nvSpPr>
          <p:spPr>
            <a:xfrm>
              <a:off x="1435" y="2918"/>
              <a:ext cx="4694" cy="778"/>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102A43"/>
                  </a:solidFill>
                  <a:latin typeface="+mj-ea"/>
                  <a:ea typeface="+mj-ea"/>
                  <a:cs typeface="Noto Sans CJK SC" pitchFamily="34" charset="-120"/>
                </a:rPr>
                <a:t>Te </a:t>
              </a:r>
              <a:r>
                <a:rPr lang="zh-CN" altLang="en-US" sz="1600" b="1" dirty="0">
                  <a:solidFill>
                    <a:srgbClr val="102A43"/>
                  </a:solidFill>
                  <a:latin typeface="+mj-ea"/>
                  <a:ea typeface="+mj-ea"/>
                  <a:cs typeface="Noto Sans CJK SC" pitchFamily="34" charset="-120"/>
                </a:rPr>
                <a:t>如何调制单晶硅的电子结构与原子间相互作用自由能面？</a:t>
              </a:r>
              <a:endParaRPr lang="zh-CN" altLang="en-US" sz="1600" b="1" dirty="0">
                <a:solidFill>
                  <a:srgbClr val="102A43"/>
                </a:solidFill>
                <a:latin typeface="+mj-ea"/>
                <a:ea typeface="+mj-ea"/>
                <a:cs typeface="Noto Sans CJK SC" pitchFamily="34" charset="-120"/>
              </a:endParaRPr>
            </a:p>
          </p:txBody>
        </p:sp>
        <p:sp>
          <p:nvSpPr>
            <p:cNvPr id="7" name="Text 5"/>
            <p:cNvSpPr/>
            <p:nvPr>
              <p:custDataLst>
                <p:tags r:id="rId4"/>
              </p:custDataLst>
            </p:nvPr>
          </p:nvSpPr>
          <p:spPr>
            <a:xfrm>
              <a:off x="1507" y="3974"/>
              <a:ext cx="4579" cy="778"/>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6E5AA6"/>
                  </a:solidFill>
                  <a:latin typeface="+mj-lt"/>
                  <a:ea typeface="Noto Sans CJK SC" pitchFamily="34" charset="-122"/>
                  <a:cs typeface="Noto Sans CJK SC" pitchFamily="34" charset="-120"/>
                </a:rPr>
                <a:t>finite-Te DFT + Te-dependent ML potential</a:t>
              </a:r>
              <a:endParaRPr lang="en-US" sz="1500" dirty="0">
                <a:latin typeface="+mj-lt"/>
              </a:endParaRPr>
            </a:p>
          </p:txBody>
        </p:sp>
      </p:grpSp>
      <p:grpSp>
        <p:nvGrpSpPr>
          <p:cNvPr id="28" name="组合 27"/>
          <p:cNvGrpSpPr/>
          <p:nvPr/>
        </p:nvGrpSpPr>
        <p:grpSpPr>
          <a:xfrm>
            <a:off x="4284980" y="1261745"/>
            <a:ext cx="3529330" cy="1938020"/>
            <a:chOff x="6748" y="1987"/>
            <a:chExt cx="5558" cy="3052"/>
          </a:xfrm>
        </p:grpSpPr>
        <p:sp>
          <p:nvSpPr>
            <p:cNvPr id="8" name="Shape 6"/>
            <p:cNvSpPr/>
            <p:nvPr>
              <p:custDataLst>
                <p:tags r:id="rId5"/>
              </p:custDataLst>
            </p:nvPr>
          </p:nvSpPr>
          <p:spPr>
            <a:xfrm>
              <a:off x="6748" y="1987"/>
              <a:ext cx="5558" cy="3053"/>
            </a:xfrm>
            <a:prstGeom prst="roundRect">
              <a:avLst>
                <a:gd name="adj" fmla="val 3774"/>
              </a:avLst>
            </a:prstGeom>
            <a:solidFill>
              <a:srgbClr val="EAF3FA"/>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a:p>
          </p:txBody>
        </p:sp>
        <p:sp>
          <p:nvSpPr>
            <p:cNvPr id="9" name="Text 7"/>
            <p:cNvSpPr/>
            <p:nvPr>
              <p:custDataLst>
                <p:tags r:id="rId6"/>
              </p:custDataLst>
            </p:nvPr>
          </p:nvSpPr>
          <p:spPr>
            <a:xfrm>
              <a:off x="7008" y="2159"/>
              <a:ext cx="5040" cy="461"/>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zh-CN" altLang="en-US" b="1" dirty="0">
                  <a:solidFill>
                    <a:srgbClr val="2F6B9A"/>
                  </a:solidFill>
                  <a:latin typeface="+mj-ea"/>
                  <a:ea typeface="+mj-ea"/>
                  <a:cs typeface="Noto Sans CJK SC" pitchFamily="34" charset="-120"/>
                </a:rPr>
                <a:t>科学</a:t>
              </a:r>
              <a:r>
                <a:rPr lang="en-US" b="1" dirty="0" err="1">
                  <a:solidFill>
                    <a:srgbClr val="2F6B9A"/>
                  </a:solidFill>
                  <a:latin typeface="+mj-ea"/>
                  <a:ea typeface="+mj-ea"/>
                  <a:cs typeface="Noto Sans CJK SC" pitchFamily="34" charset="-120"/>
                </a:rPr>
                <a:t>问题</a:t>
              </a:r>
              <a:r>
                <a:rPr lang="en-US" b="1" dirty="0">
                  <a:solidFill>
                    <a:srgbClr val="2F6B9A"/>
                  </a:solidFill>
                  <a:latin typeface="+mj-ea"/>
                  <a:ea typeface="+mj-ea"/>
                  <a:cs typeface="Noto Sans CJK SC" pitchFamily="34" charset="-120"/>
                </a:rPr>
                <a:t> 2</a:t>
              </a:r>
              <a:endParaRPr lang="en-US" dirty="0">
                <a:latin typeface="+mj-ea"/>
                <a:ea typeface="+mj-ea"/>
              </a:endParaRPr>
            </a:p>
          </p:txBody>
        </p:sp>
        <p:sp>
          <p:nvSpPr>
            <p:cNvPr id="10" name="Text 8"/>
            <p:cNvSpPr/>
            <p:nvPr>
              <p:custDataLst>
                <p:tags r:id="rId7"/>
              </p:custDataLst>
            </p:nvPr>
          </p:nvSpPr>
          <p:spPr>
            <a:xfrm>
              <a:off x="7296" y="2918"/>
              <a:ext cx="4752" cy="778"/>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102A43"/>
                  </a:solidFill>
                  <a:latin typeface="+mj-ea"/>
                  <a:ea typeface="+mj-ea"/>
                  <a:cs typeface="Noto Sans CJK SC" pitchFamily="34" charset="-120"/>
                </a:rPr>
                <a:t>Te </a:t>
              </a:r>
              <a:r>
                <a:rPr lang="zh-CN" altLang="en-US" sz="1600" b="1" dirty="0">
                  <a:solidFill>
                    <a:srgbClr val="102A43"/>
                  </a:solidFill>
                  <a:latin typeface="+mj-ea"/>
                  <a:ea typeface="+mj-ea"/>
                  <a:cs typeface="Noto Sans CJK SC" pitchFamily="34" charset="-120"/>
                </a:rPr>
                <a:t>调制的原子间作用如何驱动激光辐照下单晶硅的缺陷</a:t>
              </a:r>
              <a:r>
                <a:rPr lang="en-US" sz="1600" b="1" dirty="0">
                  <a:solidFill>
                    <a:srgbClr val="102A43"/>
                  </a:solidFill>
                  <a:latin typeface="+mj-ea"/>
                  <a:ea typeface="+mj-ea"/>
                  <a:cs typeface="Noto Sans CJK SC" pitchFamily="34" charset="-120"/>
                </a:rPr>
                <a:t>演化？</a:t>
              </a:r>
              <a:endParaRPr lang="en-US" sz="1600" dirty="0">
                <a:latin typeface="+mj-ea"/>
                <a:ea typeface="+mj-ea"/>
              </a:endParaRPr>
            </a:p>
          </p:txBody>
        </p:sp>
        <p:sp>
          <p:nvSpPr>
            <p:cNvPr id="11" name="Text 9"/>
            <p:cNvSpPr/>
            <p:nvPr>
              <p:custDataLst>
                <p:tags r:id="rId8"/>
              </p:custDataLst>
            </p:nvPr>
          </p:nvSpPr>
          <p:spPr>
            <a:xfrm>
              <a:off x="7324" y="3974"/>
              <a:ext cx="4349" cy="778"/>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err="1">
                  <a:solidFill>
                    <a:srgbClr val="2F6B9A"/>
                  </a:solidFill>
                  <a:latin typeface="+mj-lt"/>
                  <a:ea typeface="+mj-ea"/>
                  <a:cs typeface="Noto Sans CJK SC" pitchFamily="34" charset="-120"/>
                </a:rPr>
                <a:t>Te</a:t>
              </a:r>
              <a:r>
                <a:rPr lang="en-US" sz="1500" b="1" dirty="0">
                  <a:solidFill>
                    <a:srgbClr val="2F6B9A"/>
                  </a:solidFill>
                  <a:latin typeface="+mj-lt"/>
                  <a:ea typeface="+mj-ea"/>
                  <a:cs typeface="Noto Sans CJK SC" pitchFamily="34" charset="-120"/>
                </a:rPr>
                <a:t>-DPMD + </a:t>
              </a:r>
              <a:r>
                <a:rPr lang="en-US" sz="1500" b="1" dirty="0" err="1">
                  <a:solidFill>
                    <a:srgbClr val="2F6B9A"/>
                  </a:solidFill>
                  <a:latin typeface="+mj-lt"/>
                  <a:ea typeface="+mj-ea"/>
                  <a:cs typeface="Noto Sans CJK SC" pitchFamily="34" charset="-120"/>
                </a:rPr>
                <a:t>激光能量沉积</a:t>
              </a:r>
              <a:r>
                <a:rPr lang="en-US" sz="1500" b="1" dirty="0">
                  <a:solidFill>
                    <a:srgbClr val="2F6B9A"/>
                  </a:solidFill>
                  <a:latin typeface="+mj-lt"/>
                  <a:ea typeface="+mj-ea"/>
                  <a:cs typeface="Noto Sans CJK SC" pitchFamily="34" charset="-120"/>
                </a:rPr>
                <a:t> / TTM</a:t>
              </a:r>
              <a:endParaRPr lang="en-US" sz="1500" dirty="0">
                <a:latin typeface="+mj-lt"/>
                <a:ea typeface="+mj-ea"/>
              </a:endParaRPr>
            </a:p>
          </p:txBody>
        </p:sp>
      </p:grpSp>
      <p:grpSp>
        <p:nvGrpSpPr>
          <p:cNvPr id="29" name="组合 28"/>
          <p:cNvGrpSpPr/>
          <p:nvPr/>
        </p:nvGrpSpPr>
        <p:grpSpPr>
          <a:xfrm>
            <a:off x="7933690" y="1261745"/>
            <a:ext cx="3529330" cy="1938020"/>
            <a:chOff x="12494" y="1987"/>
            <a:chExt cx="5558" cy="3052"/>
          </a:xfrm>
        </p:grpSpPr>
        <p:sp>
          <p:nvSpPr>
            <p:cNvPr id="12" name="Shape 10"/>
            <p:cNvSpPr/>
            <p:nvPr>
              <p:custDataLst>
                <p:tags r:id="rId9"/>
              </p:custDataLst>
            </p:nvPr>
          </p:nvSpPr>
          <p:spPr>
            <a:xfrm>
              <a:off x="12494" y="1987"/>
              <a:ext cx="5558" cy="3053"/>
            </a:xfrm>
            <a:prstGeom prst="roundRect">
              <a:avLst>
                <a:gd name="adj" fmla="val 3774"/>
              </a:avLst>
            </a:prstGeom>
            <a:solidFill>
              <a:srgbClr val="FFF2E5"/>
            </a:solidFill>
            <a:ln w="13970">
              <a:solidFill>
                <a:srgbClr val="CEDAE6"/>
              </a:solidFill>
              <a:prstDash val="solid"/>
            </a:ln>
            <a:effectLst>
              <a:outerShdw blurRad="19050" dist="50800" dir="2700000" algn="bl" rotWithShape="0">
                <a:srgbClr val="B8C6D2">
                  <a:alpha val="18000"/>
                </a:srgbClr>
              </a:outerShdw>
            </a:effectLst>
          </p:spPr>
          <p:txBody>
            <a:bodyPr/>
            <a:lstStyle/>
            <a:p>
              <a:endParaRPr lang="zh-CN" altLang="en-US"/>
            </a:p>
          </p:txBody>
        </p:sp>
        <p:sp>
          <p:nvSpPr>
            <p:cNvPr id="13" name="Text 11"/>
            <p:cNvSpPr/>
            <p:nvPr>
              <p:custDataLst>
                <p:tags r:id="rId10"/>
              </p:custDataLst>
            </p:nvPr>
          </p:nvSpPr>
          <p:spPr>
            <a:xfrm>
              <a:off x="12753" y="2159"/>
              <a:ext cx="5040" cy="461"/>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b="1" dirty="0">
                  <a:solidFill>
                    <a:srgbClr val="D9822B"/>
                  </a:solidFill>
                  <a:latin typeface="+mj-ea"/>
                  <a:ea typeface="+mj-ea"/>
                  <a:cs typeface="Noto Sans CJK SC" pitchFamily="34" charset="-120"/>
                </a:rPr>
                <a:t>科学问题 3</a:t>
              </a:r>
              <a:endParaRPr lang="en-US" dirty="0">
                <a:latin typeface="+mj-ea"/>
                <a:ea typeface="+mj-ea"/>
              </a:endParaRPr>
            </a:p>
          </p:txBody>
        </p:sp>
        <p:sp>
          <p:nvSpPr>
            <p:cNvPr id="14" name="Text 12"/>
            <p:cNvSpPr/>
            <p:nvPr>
              <p:custDataLst>
                <p:tags r:id="rId11"/>
              </p:custDataLst>
            </p:nvPr>
          </p:nvSpPr>
          <p:spPr>
            <a:xfrm>
              <a:off x="12782" y="2918"/>
              <a:ext cx="5030" cy="778"/>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zh-CN" altLang="en-US" sz="1500" b="1" dirty="0">
                  <a:solidFill>
                    <a:srgbClr val="102A43"/>
                  </a:solidFill>
                  <a:latin typeface="+mj-ea"/>
                  <a:ea typeface="+mj-ea"/>
                  <a:cs typeface="Noto Sans CJK SC" pitchFamily="34" charset="-120"/>
                </a:rPr>
                <a:t>缺陷结构如何调控材料光学吸收与载流子输运，最终决定光电响应</a:t>
              </a:r>
              <a:r>
                <a:rPr lang="zh-CN" altLang="en-US" sz="1500" b="1" dirty="0">
                  <a:latin typeface="+mj-ea"/>
                  <a:ea typeface="+mj-ea"/>
                </a:rPr>
                <a:t>？</a:t>
              </a:r>
              <a:endParaRPr lang="zh-CN" altLang="en-US" sz="1500" b="1" dirty="0">
                <a:latin typeface="+mj-ea"/>
                <a:ea typeface="+mj-ea"/>
              </a:endParaRPr>
            </a:p>
          </p:txBody>
        </p:sp>
        <p:sp>
          <p:nvSpPr>
            <p:cNvPr id="15" name="Text 13"/>
            <p:cNvSpPr/>
            <p:nvPr>
              <p:custDataLst>
                <p:tags r:id="rId12"/>
              </p:custDataLst>
            </p:nvPr>
          </p:nvSpPr>
          <p:spPr>
            <a:xfrm>
              <a:off x="13027" y="3974"/>
              <a:ext cx="4464" cy="734"/>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a:solidFill>
                    <a:srgbClr val="D9822B"/>
                  </a:solidFill>
                  <a:latin typeface="+mj-lt"/>
                  <a:ea typeface="+mj-ea"/>
                  <a:cs typeface="Noto Sans CJK SC" pitchFamily="34" charset="-120"/>
                </a:rPr>
                <a:t>HSE06 + ε(ω) + α</a:t>
              </a:r>
              <a:r>
                <a:rPr lang="en-US" sz="1500" b="1" baseline="-25000" dirty="0">
                  <a:solidFill>
                    <a:srgbClr val="D9822B"/>
                  </a:solidFill>
                  <a:latin typeface="+mj-lt"/>
                  <a:ea typeface="+mj-ea"/>
                  <a:cs typeface="Noto Sans CJK SC" pitchFamily="34" charset="-120"/>
                </a:rPr>
                <a:t>defect</a:t>
              </a:r>
              <a:r>
                <a:rPr lang="en-US" sz="1500" b="1" dirty="0">
                  <a:solidFill>
                    <a:srgbClr val="D9822B"/>
                  </a:solidFill>
                  <a:latin typeface="+mj-lt"/>
                  <a:ea typeface="+mj-ea"/>
                  <a:cs typeface="Noto Sans CJK SC" pitchFamily="34" charset="-120"/>
                  <a:sym typeface="+mn-ea"/>
                </a:rPr>
                <a:t>(ω)</a:t>
              </a:r>
              <a:r>
                <a:rPr lang="en-US" sz="1500" b="1" dirty="0">
                  <a:solidFill>
                    <a:srgbClr val="D9822B"/>
                  </a:solidFill>
                  <a:latin typeface="+mj-lt"/>
                  <a:ea typeface="+mj-ea"/>
                  <a:cs typeface="Noto Sans CJK SC" pitchFamily="34" charset="-120"/>
                </a:rPr>
                <a:t> + 漂移扩散</a:t>
              </a:r>
              <a:endParaRPr lang="en-US" sz="1500" dirty="0">
                <a:latin typeface="+mj-lt"/>
                <a:ea typeface="+mj-ea"/>
              </a:endParaRPr>
            </a:p>
          </p:txBody>
        </p:sp>
      </p:grpSp>
      <p:sp>
        <p:nvSpPr>
          <p:cNvPr id="39" name="文本框 38"/>
          <p:cNvSpPr txBox="1"/>
          <p:nvPr/>
        </p:nvSpPr>
        <p:spPr>
          <a:xfrm>
            <a:off x="673735" y="5248910"/>
            <a:ext cx="10825480" cy="706755"/>
          </a:xfrm>
          <a:prstGeom prst="rect">
            <a:avLst/>
          </a:prstGeom>
          <a:noFill/>
          <a:ln w="28575" cmpd="sng">
            <a:solidFill>
              <a:schemeClr val="tx1"/>
            </a:solidFill>
            <a:prstDash val="solid"/>
          </a:ln>
        </p:spPr>
        <p:txBody>
          <a:bodyPr wrap="square" rtlCol="0">
            <a:spAutoFit/>
          </a:bodyPr>
          <a:lstStyle/>
          <a:p>
            <a:pPr algn="ctr"/>
            <a:r>
              <a:rPr lang="zh-CN" altLang="en-US" sz="2000" dirty="0"/>
              <a:t>量子电子结构（ 构建</a:t>
            </a:r>
            <a:r>
              <a:rPr lang="en-US" altLang="zh-CN" sz="2000" dirty="0"/>
              <a:t>Te</a:t>
            </a:r>
            <a:r>
              <a:rPr lang="zh-CN" altLang="en-US" sz="2000" dirty="0"/>
              <a:t>依赖 </a:t>
            </a:r>
            <a:r>
              <a:rPr lang="en-US" altLang="zh-CN" sz="2000" dirty="0"/>
              <a:t>ML </a:t>
            </a:r>
            <a:r>
              <a:rPr lang="zh-CN" altLang="en-US" sz="2000" dirty="0"/>
              <a:t>势+ 获取光学吸收输入）→原子尺度 </a:t>
            </a:r>
            <a:r>
              <a:rPr lang="en-US" altLang="zh-CN" sz="2000" dirty="0"/>
              <a:t>ML-MD（</a:t>
            </a:r>
            <a:r>
              <a:rPr lang="zh-CN" altLang="en-US" sz="2000" dirty="0"/>
              <a:t>缺陷演化）↔连续体模型（</a:t>
            </a:r>
            <a:r>
              <a:rPr lang="en-US" altLang="zh-CN" sz="2000" dirty="0"/>
              <a:t>TTM </a:t>
            </a:r>
            <a:r>
              <a:rPr lang="zh-CN" altLang="en-US" sz="2000" dirty="0"/>
              <a:t>电子能量输运 + 载流子漂移-扩散） → 缺陷光电性能评估</a:t>
            </a:r>
            <a:endParaRPr lang="zh-CN" altLang="en-US" sz="2000" dirty="0"/>
          </a:p>
        </p:txBody>
      </p:sp>
      <p:grpSp>
        <p:nvGrpSpPr>
          <p:cNvPr id="53" name="组合 52"/>
          <p:cNvGrpSpPr/>
          <p:nvPr/>
        </p:nvGrpSpPr>
        <p:grpSpPr>
          <a:xfrm>
            <a:off x="346075" y="3849370"/>
            <a:ext cx="11465560" cy="736600"/>
            <a:chOff x="542" y="6178"/>
            <a:chExt cx="18056" cy="1160"/>
          </a:xfrm>
        </p:grpSpPr>
        <p:sp>
          <p:nvSpPr>
            <p:cNvPr id="52" name="Shape 32"/>
            <p:cNvSpPr/>
            <p:nvPr/>
          </p:nvSpPr>
          <p:spPr>
            <a:xfrm>
              <a:off x="10406" y="6200"/>
              <a:ext cx="874" cy="1108"/>
            </a:xfrm>
            <a:prstGeom prst="roundRect">
              <a:avLst>
                <a:gd name="adj" fmla="val 7692"/>
              </a:avLst>
            </a:prstGeom>
            <a:solidFill>
              <a:srgbClr val="D9822B"/>
            </a:solidFill>
            <a:ln w="12700">
              <a:solidFill>
                <a:srgbClr val="D9822B"/>
              </a:solidFill>
              <a:prstDash val="solid"/>
            </a:ln>
          </p:spPr>
          <p:txBody>
            <a:bodyPr/>
            <a:lstStyle/>
            <a:p>
              <a:endParaRPr lang="zh-CN" altLang="en-US" dirty="0"/>
            </a:p>
          </p:txBody>
        </p:sp>
        <p:grpSp>
          <p:nvGrpSpPr>
            <p:cNvPr id="51" name="组合 50"/>
            <p:cNvGrpSpPr/>
            <p:nvPr/>
          </p:nvGrpSpPr>
          <p:grpSpPr>
            <a:xfrm>
              <a:off x="542" y="6178"/>
              <a:ext cx="18057" cy="1160"/>
              <a:chOff x="542" y="6178"/>
              <a:chExt cx="18057" cy="1160"/>
            </a:xfrm>
          </p:grpSpPr>
          <p:sp>
            <p:nvSpPr>
              <p:cNvPr id="49" name="Shape 23"/>
              <p:cNvSpPr/>
              <p:nvPr/>
            </p:nvSpPr>
            <p:spPr>
              <a:xfrm>
                <a:off x="8154" y="6178"/>
                <a:ext cx="905" cy="1160"/>
              </a:xfrm>
              <a:prstGeom prst="roundRect">
                <a:avLst>
                  <a:gd name="adj" fmla="val 7692"/>
                </a:avLst>
              </a:prstGeom>
              <a:solidFill>
                <a:schemeClr val="accent5">
                  <a:lumMod val="75000"/>
                </a:schemeClr>
              </a:solidFill>
              <a:ln w="12700">
                <a:solidFill>
                  <a:schemeClr val="accent5">
                    <a:lumMod val="40000"/>
                    <a:lumOff val="60000"/>
                  </a:schemeClr>
                </a:solidFill>
                <a:prstDash val="solid"/>
              </a:ln>
            </p:spPr>
            <p:txBody>
              <a:bodyPr/>
              <a:lstStyle/>
              <a:p>
                <a:endParaRPr lang="zh-CN" altLang="en-US"/>
              </a:p>
            </p:txBody>
          </p:sp>
          <p:grpSp>
            <p:nvGrpSpPr>
              <p:cNvPr id="48" name="组合 47"/>
              <p:cNvGrpSpPr/>
              <p:nvPr/>
            </p:nvGrpSpPr>
            <p:grpSpPr>
              <a:xfrm>
                <a:off x="542" y="6178"/>
                <a:ext cx="18057" cy="1160"/>
                <a:chOff x="1319" y="6178"/>
                <a:chExt cx="15351" cy="1160"/>
              </a:xfrm>
            </p:grpSpPr>
            <p:sp>
              <p:nvSpPr>
                <p:cNvPr id="16" name="Shape 14"/>
                <p:cNvSpPr/>
                <p:nvPr/>
              </p:nvSpPr>
              <p:spPr>
                <a:xfrm>
                  <a:off x="3222" y="6187"/>
                  <a:ext cx="1527" cy="1123"/>
                </a:xfrm>
                <a:prstGeom prst="roundRect">
                  <a:avLst>
                    <a:gd name="adj" fmla="val 7692"/>
                  </a:avLst>
                </a:prstGeom>
                <a:solidFill>
                  <a:srgbClr val="6E5AA6"/>
                </a:solidFill>
                <a:ln w="12700">
                  <a:solidFill>
                    <a:srgbClr val="6E5AA6"/>
                  </a:solidFill>
                  <a:prstDash val="solid"/>
                </a:ln>
              </p:spPr>
              <p:txBody>
                <a:bodyPr/>
                <a:lstStyle/>
                <a:p>
                  <a:endParaRPr lang="zh-CN" altLang="en-US"/>
                </a:p>
              </p:txBody>
            </p:sp>
            <p:sp>
              <p:nvSpPr>
                <p:cNvPr id="17" name="Text 15"/>
                <p:cNvSpPr/>
                <p:nvPr/>
              </p:nvSpPr>
              <p:spPr>
                <a:xfrm>
                  <a:off x="3223" y="6232"/>
                  <a:ext cx="1533" cy="1019"/>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FFFFFF"/>
                      </a:solidFill>
                      <a:latin typeface="+mj-ea"/>
                      <a:ea typeface="+mj-ea"/>
                      <a:cs typeface="Noto Sans CJK SC" pitchFamily="34" charset="-120"/>
                    </a:rPr>
                    <a:t>电子激发</a:t>
                  </a:r>
                  <a:endParaRPr lang="en-US" sz="1600" dirty="0">
                    <a:latin typeface="+mj-ea"/>
                    <a:ea typeface="+mj-ea"/>
                  </a:endParaRPr>
                </a:p>
              </p:txBody>
            </p:sp>
            <p:sp>
              <p:nvSpPr>
                <p:cNvPr id="18" name="Shape 16"/>
                <p:cNvSpPr/>
                <p:nvPr/>
              </p:nvSpPr>
              <p:spPr>
                <a:xfrm>
                  <a:off x="4749" y="6748"/>
                  <a:ext cx="374" cy="0"/>
                </a:xfrm>
                <a:prstGeom prst="line">
                  <a:avLst/>
                </a:prstGeom>
                <a:noFill/>
                <a:ln w="22860">
                  <a:solidFill>
                    <a:srgbClr val="8CA8BD"/>
                  </a:solidFill>
                  <a:prstDash val="solid"/>
                  <a:headEnd type="none"/>
                  <a:tailEnd type="triangle"/>
                </a:ln>
              </p:spPr>
              <p:txBody>
                <a:bodyPr/>
                <a:lstStyle/>
                <a:p>
                  <a:endParaRPr lang="zh-CN" altLang="en-US"/>
                </a:p>
              </p:txBody>
            </p:sp>
            <p:sp>
              <p:nvSpPr>
                <p:cNvPr id="19" name="Shape 17"/>
                <p:cNvSpPr/>
                <p:nvPr/>
              </p:nvSpPr>
              <p:spPr>
                <a:xfrm>
                  <a:off x="5132" y="6185"/>
                  <a:ext cx="1533" cy="1123"/>
                </a:xfrm>
                <a:prstGeom prst="roundRect">
                  <a:avLst>
                    <a:gd name="adj" fmla="val 7692"/>
                  </a:avLst>
                </a:prstGeom>
                <a:solidFill>
                  <a:srgbClr val="6E5AA6"/>
                </a:solidFill>
                <a:ln w="12700">
                  <a:solidFill>
                    <a:srgbClr val="6E5AA6"/>
                  </a:solidFill>
                  <a:prstDash val="solid"/>
                </a:ln>
              </p:spPr>
              <p:txBody>
                <a:bodyPr/>
                <a:lstStyle/>
                <a:p>
                  <a:endParaRPr lang="zh-CN" altLang="en-US"/>
                </a:p>
              </p:txBody>
            </p:sp>
            <p:sp>
              <p:nvSpPr>
                <p:cNvPr id="20" name="Text 18"/>
                <p:cNvSpPr/>
                <p:nvPr/>
              </p:nvSpPr>
              <p:spPr>
                <a:xfrm>
                  <a:off x="5124" y="6329"/>
                  <a:ext cx="1539" cy="931"/>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err="1">
                      <a:solidFill>
                        <a:srgbClr val="FFFFFF"/>
                      </a:solidFill>
                      <a:latin typeface="+mj-ea"/>
                      <a:ea typeface="+mj-ea"/>
                    </a:rPr>
                    <a:t>自由能面改变</a:t>
                  </a:r>
                  <a:endParaRPr lang="en-US" sz="1600" b="1" dirty="0">
                    <a:solidFill>
                      <a:srgbClr val="FFFFFF"/>
                    </a:solidFill>
                    <a:latin typeface="+mj-ea"/>
                    <a:ea typeface="+mj-ea"/>
                  </a:endParaRPr>
                </a:p>
              </p:txBody>
            </p:sp>
            <p:sp>
              <p:nvSpPr>
                <p:cNvPr id="21" name="Shape 19"/>
                <p:cNvSpPr/>
                <p:nvPr/>
              </p:nvSpPr>
              <p:spPr>
                <a:xfrm>
                  <a:off x="6663" y="6747"/>
                  <a:ext cx="374" cy="0"/>
                </a:xfrm>
                <a:prstGeom prst="line">
                  <a:avLst/>
                </a:prstGeom>
                <a:noFill/>
                <a:ln w="22860">
                  <a:solidFill>
                    <a:srgbClr val="8CA8BD"/>
                  </a:solidFill>
                  <a:prstDash val="solid"/>
                  <a:headEnd type="none"/>
                  <a:tailEnd type="triangle"/>
                </a:ln>
              </p:spPr>
              <p:txBody>
                <a:bodyPr/>
                <a:lstStyle/>
                <a:p>
                  <a:endParaRPr lang="zh-CN" altLang="en-US"/>
                </a:p>
              </p:txBody>
            </p:sp>
            <p:sp>
              <p:nvSpPr>
                <p:cNvPr id="22" name="Shape 20"/>
                <p:cNvSpPr/>
                <p:nvPr/>
              </p:nvSpPr>
              <p:spPr>
                <a:xfrm>
                  <a:off x="7041" y="6186"/>
                  <a:ext cx="746" cy="1123"/>
                </a:xfrm>
                <a:prstGeom prst="roundRect">
                  <a:avLst>
                    <a:gd name="adj" fmla="val 7692"/>
                  </a:avLst>
                </a:prstGeom>
                <a:solidFill>
                  <a:srgbClr val="6E5AA6"/>
                </a:solidFill>
                <a:ln w="12700">
                  <a:solidFill>
                    <a:srgbClr val="6E5AA6"/>
                  </a:solidFill>
                  <a:prstDash val="solid"/>
                </a:ln>
              </p:spPr>
              <p:txBody>
                <a:bodyPr>
                  <a:noAutofit/>
                </a:bodyPr>
                <a:lstStyle/>
                <a:p>
                  <a:pPr lvl="0" algn="l">
                    <a:buClrTx/>
                    <a:buSzTx/>
                    <a:buFontTx/>
                  </a:pPr>
                  <a:endParaRPr lang="zh-CN" altLang="en-US">
                    <a:sym typeface="+mn-ea"/>
                  </a:endParaRPr>
                </a:p>
              </p:txBody>
            </p:sp>
            <p:sp>
              <p:nvSpPr>
                <p:cNvPr id="23" name="Text 21"/>
                <p:cNvSpPr/>
                <p:nvPr/>
              </p:nvSpPr>
              <p:spPr>
                <a:xfrm>
                  <a:off x="7037" y="6217"/>
                  <a:ext cx="1500" cy="1074"/>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1" dirty="0" err="1">
                      <a:solidFill>
                        <a:srgbClr val="FFFFFF"/>
                      </a:solidFill>
                      <a:latin typeface="+mj-ea"/>
                      <a:ea typeface="+mj-ea"/>
                    </a:rPr>
                    <a:t>原子间作用</a:t>
                  </a:r>
                  <a:r>
                    <a:rPr lang="zh-CN" altLang="en-US" sz="1600" b="1" dirty="0">
                      <a:solidFill>
                        <a:srgbClr val="FFFFFF"/>
                      </a:solidFill>
                      <a:latin typeface="+mj-ea"/>
                      <a:ea typeface="+mj-ea"/>
                    </a:rPr>
                    <a:t>力</a:t>
                  </a:r>
                  <a:r>
                    <a:rPr lang="en-US" sz="1600" b="1" dirty="0" err="1">
                      <a:solidFill>
                        <a:srgbClr val="FFFFFF"/>
                      </a:solidFill>
                      <a:latin typeface="+mj-ea"/>
                      <a:ea typeface="+mj-ea"/>
                    </a:rPr>
                    <a:t>改变</a:t>
                  </a:r>
                  <a:endParaRPr lang="en-US" sz="1600" b="1" dirty="0">
                    <a:solidFill>
                      <a:srgbClr val="FFFFFF"/>
                    </a:solidFill>
                    <a:latin typeface="+mj-ea"/>
                    <a:ea typeface="+mj-ea"/>
                  </a:endParaRPr>
                </a:p>
              </p:txBody>
            </p:sp>
            <p:sp>
              <p:nvSpPr>
                <p:cNvPr id="24" name="Shape 22"/>
                <p:cNvSpPr/>
                <p:nvPr/>
              </p:nvSpPr>
              <p:spPr>
                <a:xfrm>
                  <a:off x="8563" y="6747"/>
                  <a:ext cx="374" cy="0"/>
                </a:xfrm>
                <a:prstGeom prst="line">
                  <a:avLst/>
                </a:prstGeom>
                <a:noFill/>
                <a:ln w="22860">
                  <a:solidFill>
                    <a:srgbClr val="8CA8BD"/>
                  </a:solidFill>
                  <a:prstDash val="solid"/>
                  <a:headEnd type="none"/>
                  <a:tailEnd type="triangle"/>
                </a:ln>
              </p:spPr>
              <p:txBody>
                <a:bodyPr/>
                <a:lstStyle/>
                <a:p>
                  <a:endParaRPr lang="zh-CN" altLang="en-US"/>
                </a:p>
              </p:txBody>
            </p:sp>
            <p:sp>
              <p:nvSpPr>
                <p:cNvPr id="25" name="Shape 23"/>
                <p:cNvSpPr/>
                <p:nvPr/>
              </p:nvSpPr>
              <p:spPr>
                <a:xfrm>
                  <a:off x="8955" y="6178"/>
                  <a:ext cx="756" cy="1160"/>
                </a:xfrm>
                <a:prstGeom prst="roundRect">
                  <a:avLst>
                    <a:gd name="adj" fmla="val 7692"/>
                  </a:avLst>
                </a:prstGeom>
                <a:solidFill>
                  <a:schemeClr val="accent5">
                    <a:lumMod val="75000"/>
                  </a:schemeClr>
                </a:solidFill>
                <a:ln w="12700">
                  <a:solidFill>
                    <a:schemeClr val="accent5">
                      <a:lumMod val="40000"/>
                      <a:lumOff val="60000"/>
                    </a:schemeClr>
                  </a:solidFill>
                  <a:prstDash val="solid"/>
                </a:ln>
              </p:spPr>
              <p:txBody>
                <a:bodyPr/>
                <a:lstStyle/>
                <a:p>
                  <a:endParaRPr lang="zh-CN" altLang="en-US"/>
                </a:p>
              </p:txBody>
            </p:sp>
            <p:sp>
              <p:nvSpPr>
                <p:cNvPr id="26" name="Text 24"/>
                <p:cNvSpPr/>
                <p:nvPr/>
              </p:nvSpPr>
              <p:spPr>
                <a:xfrm>
                  <a:off x="8945" y="6178"/>
                  <a:ext cx="1512" cy="1132"/>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a:solidFill>
                        <a:srgbClr val="FFFFFF"/>
                      </a:solidFill>
                      <a:latin typeface="+mj-ea"/>
                      <a:ea typeface="+mj-ea"/>
                    </a:rPr>
                    <a:t>缺陷演化</a:t>
                  </a:r>
                  <a:endParaRPr lang="en-US" sz="1600" b="1" dirty="0">
                    <a:solidFill>
                      <a:srgbClr val="FFFFFF"/>
                    </a:solidFill>
                    <a:latin typeface="+mj-ea"/>
                    <a:ea typeface="+mj-ea"/>
                  </a:endParaRPr>
                </a:p>
              </p:txBody>
            </p:sp>
            <p:sp>
              <p:nvSpPr>
                <p:cNvPr id="3" name="Shape 25"/>
                <p:cNvSpPr/>
                <p:nvPr/>
              </p:nvSpPr>
              <p:spPr>
                <a:xfrm>
                  <a:off x="10478" y="6747"/>
                  <a:ext cx="374" cy="0"/>
                </a:xfrm>
                <a:prstGeom prst="line">
                  <a:avLst/>
                </a:prstGeom>
                <a:noFill/>
                <a:ln w="22860">
                  <a:solidFill>
                    <a:srgbClr val="8CA8BD"/>
                  </a:solidFill>
                  <a:prstDash val="solid"/>
                  <a:headEnd type="none"/>
                  <a:tailEnd type="triangle"/>
                </a:ln>
              </p:spPr>
              <p:txBody>
                <a:bodyPr/>
                <a:lstStyle/>
                <a:p>
                  <a:endParaRPr lang="zh-CN" altLang="en-US"/>
                </a:p>
              </p:txBody>
            </p:sp>
            <p:sp>
              <p:nvSpPr>
                <p:cNvPr id="36" name="Shape 26"/>
                <p:cNvSpPr/>
                <p:nvPr/>
              </p:nvSpPr>
              <p:spPr>
                <a:xfrm>
                  <a:off x="10877" y="6185"/>
                  <a:ext cx="1615" cy="1123"/>
                </a:xfrm>
                <a:prstGeom prst="roundRect">
                  <a:avLst>
                    <a:gd name="adj" fmla="val 7692"/>
                  </a:avLst>
                </a:prstGeom>
                <a:solidFill>
                  <a:srgbClr val="D9822B"/>
                </a:solidFill>
                <a:ln w="12700">
                  <a:solidFill>
                    <a:srgbClr val="D9822B"/>
                  </a:solidFill>
                  <a:prstDash val="solid"/>
                </a:ln>
              </p:spPr>
              <p:txBody>
                <a:bodyPr>
                  <a:noAutofit/>
                </a:bodyPr>
                <a:lstStyle/>
                <a:p>
                  <a:pPr lvl="0" algn="l">
                    <a:buClrTx/>
                    <a:buSzTx/>
                    <a:buFontTx/>
                  </a:pPr>
                  <a:endParaRPr lang="zh-CN" altLang="en-US" dirty="0">
                    <a:sym typeface="+mn-ea"/>
                  </a:endParaRPr>
                </a:p>
              </p:txBody>
            </p:sp>
            <p:sp>
              <p:nvSpPr>
                <p:cNvPr id="37" name="Text 27"/>
                <p:cNvSpPr/>
                <p:nvPr/>
              </p:nvSpPr>
              <p:spPr>
                <a:xfrm>
                  <a:off x="10904" y="6218"/>
                  <a:ext cx="1592" cy="1054"/>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err="1">
                      <a:solidFill>
                        <a:srgbClr val="FFFFFF"/>
                      </a:solidFill>
                      <a:latin typeface="+mj-ea"/>
                      <a:ea typeface="+mj-ea"/>
                    </a:rPr>
                    <a:t>缺陷诱导电子结构改变</a:t>
                  </a:r>
                  <a:endParaRPr lang="en-US" sz="1500" b="1" dirty="0" err="1">
                    <a:solidFill>
                      <a:srgbClr val="FFFFFF"/>
                    </a:solidFill>
                    <a:latin typeface="+mj-ea"/>
                    <a:ea typeface="+mj-ea"/>
                  </a:endParaRPr>
                </a:p>
              </p:txBody>
            </p:sp>
            <p:sp>
              <p:nvSpPr>
                <p:cNvPr id="38" name="Shape 28"/>
                <p:cNvSpPr/>
                <p:nvPr/>
              </p:nvSpPr>
              <p:spPr>
                <a:xfrm>
                  <a:off x="12535" y="6747"/>
                  <a:ext cx="374" cy="0"/>
                </a:xfrm>
                <a:prstGeom prst="line">
                  <a:avLst/>
                </a:prstGeom>
                <a:noFill/>
                <a:ln w="22860">
                  <a:solidFill>
                    <a:srgbClr val="8CA8BD"/>
                  </a:solidFill>
                  <a:prstDash val="solid"/>
                  <a:headEnd type="none"/>
                  <a:tailEnd type="triangle"/>
                </a:ln>
              </p:spPr>
              <p:txBody>
                <a:bodyPr/>
                <a:lstStyle/>
                <a:p>
                  <a:endParaRPr lang="zh-CN" altLang="en-US"/>
                </a:p>
              </p:txBody>
            </p:sp>
            <p:sp>
              <p:nvSpPr>
                <p:cNvPr id="40" name="Shape 29"/>
                <p:cNvSpPr/>
                <p:nvPr/>
              </p:nvSpPr>
              <p:spPr>
                <a:xfrm>
                  <a:off x="12949" y="6186"/>
                  <a:ext cx="1596" cy="1123"/>
                </a:xfrm>
                <a:prstGeom prst="roundRect">
                  <a:avLst>
                    <a:gd name="adj" fmla="val 7692"/>
                  </a:avLst>
                </a:prstGeom>
                <a:solidFill>
                  <a:srgbClr val="D9822B"/>
                </a:solidFill>
                <a:ln w="12700">
                  <a:solidFill>
                    <a:srgbClr val="D9822B"/>
                  </a:solidFill>
                  <a:prstDash val="solid"/>
                </a:ln>
              </p:spPr>
              <p:txBody>
                <a:bodyPr/>
                <a:lstStyle/>
                <a:p>
                  <a:endParaRPr lang="zh-CN" altLang="en-US"/>
                </a:p>
              </p:txBody>
            </p:sp>
            <p:sp>
              <p:nvSpPr>
                <p:cNvPr id="41" name="Text 30"/>
                <p:cNvSpPr/>
                <p:nvPr/>
              </p:nvSpPr>
              <p:spPr>
                <a:xfrm>
                  <a:off x="12992" y="6204"/>
                  <a:ext cx="1580" cy="1096"/>
                </a:xfrm>
                <a:prstGeom prst="rect">
                  <a:avLst/>
                </a:prstGeom>
                <a:noFill/>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500" b="1" dirty="0" err="1">
                      <a:solidFill>
                        <a:srgbClr val="FFFFFF"/>
                      </a:solidFill>
                      <a:latin typeface="+mj-ea"/>
                      <a:ea typeface="+mj-ea"/>
                    </a:rPr>
                    <a:t>缺陷调制光学 / 输运</a:t>
                  </a:r>
                  <a:endParaRPr lang="en-US" altLang="en-US" sz="1000" b="1" dirty="0" err="1">
                    <a:solidFill>
                      <a:srgbClr val="FFFFFF"/>
                    </a:solidFill>
                    <a:latin typeface="+mj-ea"/>
                    <a:ea typeface="+mj-ea"/>
                  </a:endParaRPr>
                </a:p>
              </p:txBody>
            </p:sp>
            <p:sp>
              <p:nvSpPr>
                <p:cNvPr id="42" name="Shape 31"/>
                <p:cNvSpPr/>
                <p:nvPr/>
              </p:nvSpPr>
              <p:spPr>
                <a:xfrm>
                  <a:off x="14658" y="6747"/>
                  <a:ext cx="374" cy="0"/>
                </a:xfrm>
                <a:prstGeom prst="line">
                  <a:avLst/>
                </a:prstGeom>
                <a:noFill/>
                <a:ln w="22860">
                  <a:solidFill>
                    <a:srgbClr val="8CA8BD"/>
                  </a:solidFill>
                  <a:prstDash val="solid"/>
                  <a:headEnd type="none"/>
                  <a:tailEnd type="triangle"/>
                </a:ln>
              </p:spPr>
              <p:txBody>
                <a:bodyPr/>
                <a:lstStyle/>
                <a:p>
                  <a:endParaRPr lang="zh-CN" altLang="en-US"/>
                </a:p>
              </p:txBody>
            </p:sp>
            <p:sp>
              <p:nvSpPr>
                <p:cNvPr id="43" name="Shape 32"/>
                <p:cNvSpPr/>
                <p:nvPr/>
              </p:nvSpPr>
              <p:spPr>
                <a:xfrm>
                  <a:off x="15068" y="6186"/>
                  <a:ext cx="1557" cy="1123"/>
                </a:xfrm>
                <a:prstGeom prst="roundRect">
                  <a:avLst>
                    <a:gd name="adj" fmla="val 7692"/>
                  </a:avLst>
                </a:prstGeom>
                <a:solidFill>
                  <a:srgbClr val="D9822B"/>
                </a:solidFill>
                <a:ln w="12700">
                  <a:solidFill>
                    <a:srgbClr val="D9822B"/>
                  </a:solidFill>
                  <a:prstDash val="solid"/>
                </a:ln>
              </p:spPr>
              <p:txBody>
                <a:bodyPr/>
                <a:lstStyle/>
                <a:p>
                  <a:endParaRPr lang="zh-CN" altLang="en-US" dirty="0"/>
                </a:p>
              </p:txBody>
            </p:sp>
            <p:sp>
              <p:nvSpPr>
                <p:cNvPr id="44" name="Text 33"/>
                <p:cNvSpPr/>
                <p:nvPr/>
              </p:nvSpPr>
              <p:spPr>
                <a:xfrm>
                  <a:off x="15068" y="6214"/>
                  <a:ext cx="1602" cy="1071"/>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err="1">
                      <a:solidFill>
                        <a:srgbClr val="FFFFFF"/>
                      </a:solidFill>
                      <a:latin typeface="+mj-ea"/>
                      <a:ea typeface="+mj-ea"/>
                    </a:rPr>
                    <a:t>光电响应</a:t>
                  </a:r>
                  <a:endParaRPr lang="en-US" sz="1600" b="1" dirty="0">
                    <a:solidFill>
                      <a:srgbClr val="FFFFFF"/>
                    </a:solidFill>
                    <a:latin typeface="+mj-ea"/>
                    <a:ea typeface="+mj-ea"/>
                  </a:endParaRPr>
                </a:p>
              </p:txBody>
            </p:sp>
            <p:sp>
              <p:nvSpPr>
                <p:cNvPr id="45" name="Shape 14"/>
                <p:cNvSpPr/>
                <p:nvPr/>
              </p:nvSpPr>
              <p:spPr>
                <a:xfrm>
                  <a:off x="1319" y="6178"/>
                  <a:ext cx="1528" cy="1123"/>
                </a:xfrm>
                <a:prstGeom prst="roundRect">
                  <a:avLst>
                    <a:gd name="adj" fmla="val 7692"/>
                  </a:avLst>
                </a:prstGeom>
                <a:solidFill>
                  <a:srgbClr val="6E5AA6"/>
                </a:solidFill>
                <a:ln w="12700">
                  <a:solidFill>
                    <a:srgbClr val="6E5AA6"/>
                  </a:solidFill>
                  <a:prstDash val="solid"/>
                </a:ln>
              </p:spPr>
              <p:txBody>
                <a:bodyPr/>
                <a:lstStyle/>
                <a:p>
                  <a:endParaRPr lang="zh-CN" altLang="en-US"/>
                </a:p>
              </p:txBody>
            </p:sp>
            <p:sp>
              <p:nvSpPr>
                <p:cNvPr id="46" name="Text 15"/>
                <p:cNvSpPr/>
                <p:nvPr/>
              </p:nvSpPr>
              <p:spPr>
                <a:xfrm>
                  <a:off x="1319" y="6328"/>
                  <a:ext cx="1528" cy="923"/>
                </a:xfrm>
                <a:prstGeom prst="rect">
                  <a:avLst/>
                </a:prstGeom>
                <a:noFill/>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600" b="1" dirty="0">
                      <a:solidFill>
                        <a:srgbClr val="FFFFFF"/>
                      </a:solidFill>
                      <a:latin typeface="+mj-ea"/>
                      <a:ea typeface="+mj-ea"/>
                      <a:cs typeface="Noto Sans CJK SC" pitchFamily="34" charset="-120"/>
                    </a:rPr>
                    <a:t>激光能量沉积</a:t>
                  </a:r>
                  <a:endParaRPr lang="en-US" sz="1600" b="1" dirty="0">
                    <a:solidFill>
                      <a:srgbClr val="FFFFFF"/>
                    </a:solidFill>
                    <a:latin typeface="+mj-ea"/>
                    <a:ea typeface="+mj-ea"/>
                    <a:cs typeface="Noto Sans CJK SC" pitchFamily="34" charset="-120"/>
                  </a:endParaRPr>
                </a:p>
              </p:txBody>
            </p:sp>
            <p:sp>
              <p:nvSpPr>
                <p:cNvPr id="47" name="Shape 16"/>
                <p:cNvSpPr/>
                <p:nvPr/>
              </p:nvSpPr>
              <p:spPr>
                <a:xfrm>
                  <a:off x="2847" y="6740"/>
                  <a:ext cx="374" cy="0"/>
                </a:xfrm>
                <a:prstGeom prst="line">
                  <a:avLst/>
                </a:prstGeom>
                <a:noFill/>
                <a:ln w="22860">
                  <a:solidFill>
                    <a:srgbClr val="8CA8BD"/>
                  </a:solidFill>
                  <a:prstDash val="solid"/>
                  <a:headEnd type="none"/>
                  <a:tailEnd type="triangle"/>
                </a:ln>
              </p:spPr>
              <p:txBody>
                <a:bodyPr/>
                <a:lstStyle/>
                <a:p>
                  <a:endParaRPr lang="zh-CN" altLang="en-US"/>
                </a:p>
              </p:txBody>
            </p:sp>
          </p:gr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4424" y="256032"/>
            <a:ext cx="5379971" cy="42062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zh-CN" sz="2500" b="1" dirty="0">
                <a:solidFill>
                  <a:srgbClr val="102A43"/>
                </a:solidFill>
                <a:latin typeface="+mj-ea"/>
                <a:ea typeface="+mj-ea"/>
                <a:cs typeface="Noto Sans CJK SC" pitchFamily="34" charset="-120"/>
              </a:rPr>
              <a:t>进展</a:t>
            </a:r>
            <a:endParaRPr lang="zh-CN" sz="2500" dirty="0">
              <a:latin typeface="+mj-ea"/>
              <a:ea typeface="+mj-ea"/>
            </a:endParaRPr>
          </a:p>
        </p:txBody>
      </p:sp>
      <p:sp>
        <p:nvSpPr>
          <p:cNvPr id="6" name="文本框 5"/>
          <p:cNvSpPr txBox="1"/>
          <p:nvPr/>
        </p:nvSpPr>
        <p:spPr>
          <a:xfrm>
            <a:off x="2353945" y="774700"/>
            <a:ext cx="7096760" cy="410210"/>
          </a:xfrm>
          <a:prstGeom prst="rect">
            <a:avLst/>
          </a:prstGeom>
        </p:spPr>
        <p:txBody>
          <a:bodyPr>
            <a:noAutofit/>
          </a:bodyPr>
          <a:lstStyle/>
          <a:p>
            <a:pPr algn="ctr"/>
            <a:r>
              <a:rPr lang="en-US" altLang="zh-CN" sz="2400" b="1" dirty="0"/>
              <a:t>Mermin-DFT </a:t>
            </a:r>
            <a:r>
              <a:rPr lang="zh-CN" altLang="en-US" sz="2400" b="1" dirty="0"/>
              <a:t>电子有限温度自由能</a:t>
            </a:r>
            <a:endParaRPr lang="zh-CN" altLang="en-US" sz="2400" b="1" dirty="0"/>
          </a:p>
        </p:txBody>
      </p:sp>
      <p:sp>
        <p:nvSpPr>
          <p:cNvPr id="9" name="文本框 8"/>
          <p:cNvSpPr txBox="1"/>
          <p:nvPr/>
        </p:nvSpPr>
        <p:spPr>
          <a:xfrm>
            <a:off x="996950" y="5302250"/>
            <a:ext cx="10532110" cy="920115"/>
          </a:xfrm>
          <a:prstGeom prst="rect">
            <a:avLst/>
          </a:prstGeom>
        </p:spPr>
        <p:txBody>
          <a:bodyPr wrap="square">
            <a:noAutofit/>
          </a:bodyPr>
          <a:lstStyle/>
          <a:p>
            <a:endParaRPr lang="zh-CN" altLang="en-US" sz="2000" dirty="0">
              <a:latin typeface="+mj-ea"/>
              <a:ea typeface="+mj-ea"/>
              <a:cs typeface="+mj-ea"/>
            </a:endParaRPr>
          </a:p>
          <a:p>
            <a:pPr marL="342900" indent="-342900">
              <a:buFont typeface="Wingdings" panose="05000000000000000000" charset="0"/>
              <a:buChar char="l"/>
            </a:pPr>
            <a:r>
              <a:rPr lang="zh-CN" altLang="en-US" sz="2000" dirty="0">
                <a:latin typeface="+mj-ea"/>
                <a:ea typeface="+mj-ea"/>
                <a:cs typeface="+mj-ea"/>
              </a:rPr>
              <a:t>同一</a:t>
            </a:r>
            <a:r>
              <a:rPr lang="en-US" altLang="zh-CN" sz="2000" dirty="0">
                <a:latin typeface="+mj-ea"/>
                <a:ea typeface="+mj-ea"/>
                <a:cs typeface="+mj-ea"/>
              </a:rPr>
              <a:t> </a:t>
            </a:r>
            <a:r>
              <a:rPr lang="en-US" altLang="zh-CN" sz="2000" dirty="0" err="1">
                <a:latin typeface="+mj-ea"/>
                <a:ea typeface="+mj-ea"/>
                <a:cs typeface="+mj-ea"/>
              </a:rPr>
              <a:t>Te</a:t>
            </a:r>
            <a:r>
              <a:rPr lang="en-US" altLang="zh-CN" sz="2000" dirty="0">
                <a:latin typeface="+mj-ea"/>
                <a:ea typeface="+mj-ea"/>
                <a:cs typeface="+mj-ea"/>
              </a:rPr>
              <a:t> </a:t>
            </a:r>
            <a:r>
              <a:rPr lang="zh-CN" altLang="en-US" sz="2000" dirty="0">
                <a:latin typeface="+mj-ea"/>
                <a:ea typeface="+mj-ea"/>
                <a:cs typeface="+mj-ea"/>
              </a:rPr>
              <a:t>下，完美晶胞 </a:t>
            </a:r>
            <a:r>
              <a:rPr lang="en-US" altLang="zh-CN" sz="2000" dirty="0">
                <a:latin typeface="+mj-ea"/>
                <a:ea typeface="+mj-ea"/>
                <a:cs typeface="+mj-ea"/>
              </a:rPr>
              <a:t>A </a:t>
            </a:r>
            <a:r>
              <a:rPr lang="zh-CN" altLang="en-US" sz="2000" dirty="0">
                <a:latin typeface="+mj-ea"/>
                <a:ea typeface="+mj-ea"/>
                <a:cs typeface="+mj-ea"/>
              </a:rPr>
              <a:t>＜ 空位晶胞 </a:t>
            </a:r>
            <a:r>
              <a:rPr lang="en-US" altLang="zh-CN" sz="2000" dirty="0">
                <a:latin typeface="+mj-ea"/>
                <a:ea typeface="+mj-ea"/>
                <a:cs typeface="+mj-ea"/>
              </a:rPr>
              <a:t>A</a:t>
            </a:r>
            <a:r>
              <a:rPr lang="zh-CN" altLang="en-US" sz="2000" dirty="0">
                <a:latin typeface="+mj-ea"/>
                <a:ea typeface="+mj-ea"/>
                <a:cs typeface="+mj-ea"/>
              </a:rPr>
              <a:t>，完美晶体自由能更低，热力学更稳定</a:t>
            </a:r>
            <a:endParaRPr lang="zh-CN" altLang="en-US" sz="2000" dirty="0">
              <a:latin typeface="+mj-ea"/>
              <a:ea typeface="+mj-ea"/>
              <a:cs typeface="+mj-ea"/>
            </a:endParaRPr>
          </a:p>
        </p:txBody>
      </p:sp>
      <p:pic>
        <p:nvPicPr>
          <p:cNvPr id="11" name="图片 10" descr="Te-F"/>
          <p:cNvPicPr>
            <a:picLocks noChangeAspect="1"/>
          </p:cNvPicPr>
          <p:nvPr/>
        </p:nvPicPr>
        <p:blipFill>
          <a:blip r:embed="rId1"/>
          <a:stretch>
            <a:fillRect/>
          </a:stretch>
        </p:blipFill>
        <p:spPr>
          <a:xfrm>
            <a:off x="6188710" y="1282700"/>
            <a:ext cx="5121275" cy="3630930"/>
          </a:xfrm>
          <a:prstGeom prst="rect">
            <a:avLst/>
          </a:prstGeom>
        </p:spPr>
      </p:pic>
      <p:sp>
        <p:nvSpPr>
          <p:cNvPr id="3" name="文本框 2"/>
          <p:cNvSpPr txBox="1"/>
          <p:nvPr/>
        </p:nvSpPr>
        <p:spPr>
          <a:xfrm>
            <a:off x="6449060" y="4810442"/>
            <a:ext cx="5080000" cy="645160"/>
          </a:xfrm>
          <a:prstGeom prst="rect">
            <a:avLst/>
          </a:prstGeom>
        </p:spPr>
        <p:txBody>
          <a:bodyPr>
            <a:spAutoFit/>
          </a:bodyPr>
          <a:lstStyle/>
          <a:p>
            <a:pPr algn="ctr"/>
            <a:r>
              <a:rPr lang="zh-CN" altLang="en-US"/>
              <a:t>完美 </a:t>
            </a:r>
            <a:r>
              <a:rPr lang="en-US" altLang="zh-CN"/>
              <a:t>Si </a:t>
            </a:r>
            <a:r>
              <a:rPr lang="zh-CN" altLang="en-US"/>
              <a:t>与含单空位 </a:t>
            </a:r>
            <a:r>
              <a:rPr lang="en-US" altLang="zh-CN"/>
              <a:t>Si </a:t>
            </a:r>
            <a:r>
              <a:rPr lang="zh-CN" altLang="en-US"/>
              <a:t>超胞的 </a:t>
            </a:r>
            <a:r>
              <a:rPr lang="en-US" altLang="zh-CN"/>
              <a:t>Mermin </a:t>
            </a:r>
            <a:r>
              <a:rPr lang="zh-CN" altLang="en-US"/>
              <a:t>自由能随电子温度</a:t>
            </a:r>
            <a:r>
              <a:rPr lang="en-US" altLang="zh-CN"/>
              <a:t>Te</a:t>
            </a:r>
            <a:r>
              <a:rPr lang="zh-CN" altLang="en-US"/>
              <a:t>变化曲线</a:t>
            </a:r>
            <a:endParaRPr lang="zh-CN" altLang="en-US"/>
          </a:p>
        </p:txBody>
      </p:sp>
      <p:pic>
        <p:nvPicPr>
          <p:cNvPr id="10" name="图片 9"/>
          <p:cNvPicPr>
            <a:picLocks noChangeAspect="1"/>
          </p:cNvPicPr>
          <p:nvPr/>
        </p:nvPicPr>
        <p:blipFill>
          <a:blip r:embed="rId2"/>
          <a:stretch>
            <a:fillRect/>
          </a:stretch>
        </p:blipFill>
        <p:spPr>
          <a:xfrm>
            <a:off x="344170" y="1572895"/>
            <a:ext cx="4917440" cy="3340735"/>
          </a:xfrm>
          <a:prstGeom prst="rect">
            <a:avLst/>
          </a:prstGeom>
        </p:spPr>
      </p:pic>
      <p:pic>
        <p:nvPicPr>
          <p:cNvPr id="7" name="图片 6"/>
          <p:cNvPicPr>
            <a:picLocks noChangeAspect="1"/>
          </p:cNvPicPr>
          <p:nvPr/>
        </p:nvPicPr>
        <p:blipFill>
          <a:blip r:embed="rId3"/>
          <a:stretch>
            <a:fillRect/>
          </a:stretch>
        </p:blipFill>
        <p:spPr>
          <a:xfrm>
            <a:off x="6290310" y="2673985"/>
            <a:ext cx="220345" cy="8483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44424" y="256032"/>
            <a:ext cx="5379971" cy="42062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zh-CN" sz="2500" b="1" dirty="0">
                <a:solidFill>
                  <a:srgbClr val="102A43"/>
                </a:solidFill>
                <a:latin typeface="+mj-ea"/>
                <a:ea typeface="+mj-ea"/>
                <a:cs typeface="Noto Sans CJK SC" pitchFamily="34" charset="-120"/>
              </a:rPr>
              <a:t>进展</a:t>
            </a:r>
            <a:endParaRPr lang="zh-CN" sz="2500" dirty="0">
              <a:latin typeface="+mj-ea"/>
              <a:ea typeface="+mj-ea"/>
            </a:endParaRPr>
          </a:p>
        </p:txBody>
      </p:sp>
      <p:sp>
        <p:nvSpPr>
          <p:cNvPr id="5" name="文本框 4"/>
          <p:cNvSpPr txBox="1"/>
          <p:nvPr/>
        </p:nvSpPr>
        <p:spPr>
          <a:xfrm>
            <a:off x="2724785" y="783590"/>
            <a:ext cx="7060565" cy="460375"/>
          </a:xfrm>
          <a:prstGeom prst="rect">
            <a:avLst/>
          </a:prstGeom>
          <a:noFill/>
        </p:spPr>
        <p:txBody>
          <a:bodyPr wrap="square">
            <a:spAutoFit/>
          </a:bodyPr>
          <a:lstStyle/>
          <a:p>
            <a:r>
              <a:rPr lang="en-US" altLang="zh-CN" sz="2400" b="1" dirty="0"/>
              <a:t>有限电子温度下体系对角应力分量 s11 s22 s33</a:t>
            </a:r>
            <a:endParaRPr lang="en-US" altLang="zh-CN" sz="2400" b="1" dirty="0"/>
          </a:p>
        </p:txBody>
      </p:sp>
      <p:pic>
        <p:nvPicPr>
          <p:cNvPr id="10" name="图片 9" descr="64"/>
          <p:cNvPicPr>
            <a:picLocks noChangeAspect="1"/>
          </p:cNvPicPr>
          <p:nvPr/>
        </p:nvPicPr>
        <p:blipFill>
          <a:blip r:embed="rId1"/>
          <a:stretch>
            <a:fillRect/>
          </a:stretch>
        </p:blipFill>
        <p:spPr>
          <a:xfrm>
            <a:off x="1021080" y="1350645"/>
            <a:ext cx="4065905" cy="2882900"/>
          </a:xfrm>
          <a:prstGeom prst="rect">
            <a:avLst/>
          </a:prstGeom>
        </p:spPr>
      </p:pic>
      <p:pic>
        <p:nvPicPr>
          <p:cNvPr id="13" name="图片 12" descr="63"/>
          <p:cNvPicPr>
            <a:picLocks noChangeAspect="1"/>
          </p:cNvPicPr>
          <p:nvPr/>
        </p:nvPicPr>
        <p:blipFill>
          <a:blip r:embed="rId2"/>
          <a:stretch>
            <a:fillRect/>
          </a:stretch>
        </p:blipFill>
        <p:spPr>
          <a:xfrm>
            <a:off x="6473190" y="1293495"/>
            <a:ext cx="4146550" cy="2940685"/>
          </a:xfrm>
          <a:prstGeom prst="rect">
            <a:avLst/>
          </a:prstGeom>
        </p:spPr>
      </p:pic>
      <p:sp>
        <p:nvSpPr>
          <p:cNvPr id="3" name="文本框 2"/>
          <p:cNvSpPr txBox="1"/>
          <p:nvPr/>
        </p:nvSpPr>
        <p:spPr>
          <a:xfrm>
            <a:off x="1021080" y="4340225"/>
            <a:ext cx="10102850" cy="1630045"/>
          </a:xfrm>
          <a:prstGeom prst="rect">
            <a:avLst/>
          </a:prstGeom>
        </p:spPr>
        <p:txBody>
          <a:bodyPr wrap="square">
            <a:spAutoFit/>
          </a:bodyPr>
          <a:lstStyle/>
          <a:p>
            <a:pPr marL="285750" indent="-285750">
              <a:buFont typeface="Wingdings" panose="05000000000000000000" charset="0"/>
              <a:buChar char="Ø"/>
            </a:pPr>
            <a:r>
              <a:rPr lang="zh-CN" altLang="en-US" sz="2000"/>
              <a:t>完美 </a:t>
            </a:r>
            <a:r>
              <a:rPr lang="en-US" altLang="zh-CN" sz="2000"/>
              <a:t>Si </a:t>
            </a:r>
            <a:r>
              <a:rPr lang="zh-CN" altLang="en-US" sz="2000"/>
              <a:t>具有晶格各向同性，</a:t>
            </a:r>
            <a:r>
              <a:rPr lang="en-US" altLang="zh-CN" sz="2000"/>
              <a:t>xyz</a:t>
            </a:r>
            <a:r>
              <a:rPr lang="zh-CN" altLang="en-US" sz="2000"/>
              <a:t>三个方向应力分量重合。电子温度升高，电子动能增大，电子气压强提升，应力同步增大。</a:t>
            </a:r>
            <a:endParaRPr lang="zh-CN" altLang="en-US" sz="2000"/>
          </a:p>
          <a:p>
            <a:pPr marL="285750" indent="-285750">
              <a:buFont typeface="Wingdings" panose="05000000000000000000" charset="0"/>
              <a:buChar char="Ø"/>
            </a:pPr>
            <a:r>
              <a:rPr lang="zh-CN" altLang="en-US" sz="2000"/>
              <a:t>引入空位后晶格对称性破缺，三者出现明显分化，产生应力各向异性。</a:t>
            </a:r>
            <a:endParaRPr lang="zh-CN" altLang="en-US" sz="2000"/>
          </a:p>
          <a:p>
            <a:pPr marL="285750" indent="-285750">
              <a:buFont typeface="Wingdings" panose="05000000000000000000" charset="0"/>
              <a:buChar char="Ø"/>
            </a:pPr>
            <a:r>
              <a:rPr lang="zh-CN" altLang="en-US" sz="2000"/>
              <a:t>同电子温度下，空位体系应力整体高于完美晶体：空位诱导局域缺陷态，局域电子在升温过程贡献额外电子压强，造成晶胞应力显著上升。</a:t>
            </a:r>
            <a:endParaRPr lang="zh-CN" alt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Si_abs_all_compare"/>
          <p:cNvPicPr>
            <a:picLocks noChangeAspect="1"/>
          </p:cNvPicPr>
          <p:nvPr/>
        </p:nvPicPr>
        <p:blipFill>
          <a:blip r:embed="rId1"/>
          <a:stretch>
            <a:fillRect/>
          </a:stretch>
        </p:blipFill>
        <p:spPr>
          <a:xfrm>
            <a:off x="566420" y="1639570"/>
            <a:ext cx="5079365" cy="3386455"/>
          </a:xfrm>
          <a:prstGeom prst="rect">
            <a:avLst/>
          </a:prstGeom>
        </p:spPr>
      </p:pic>
      <p:sp>
        <p:nvSpPr>
          <p:cNvPr id="7" name="文本框 6"/>
          <p:cNvSpPr txBox="1"/>
          <p:nvPr/>
        </p:nvSpPr>
        <p:spPr>
          <a:xfrm>
            <a:off x="6096000" y="1803400"/>
            <a:ext cx="5379720" cy="3132455"/>
          </a:xfrm>
          <a:prstGeom prst="rect">
            <a:avLst/>
          </a:prstGeom>
        </p:spPr>
        <p:txBody>
          <a:bodyPr wrap="square">
            <a:noAutofit/>
          </a:bodyPr>
          <a:lstStyle/>
          <a:p>
            <a:pPr marL="285750" indent="-285750">
              <a:buFont typeface="Wingdings" panose="05000000000000000000" charset="0"/>
              <a:buChar char="Ø"/>
            </a:pPr>
            <a:r>
              <a:rPr lang="zh-CN" altLang="en-US" sz="2000"/>
              <a:t>低温条件下，完美 </a:t>
            </a:r>
            <a:r>
              <a:rPr lang="en-US" altLang="zh-CN" sz="2000"/>
              <a:t>Si </a:t>
            </a:r>
            <a:r>
              <a:rPr lang="zh-CN" altLang="en-US" sz="2000"/>
              <a:t>仅在光子能量超过带隙后产生带间光吸收；</a:t>
            </a:r>
            <a:r>
              <a:rPr lang="zh-CN" altLang="en-US" sz="2000">
                <a:sym typeface="+mn-ea"/>
              </a:rPr>
              <a:t>引入</a:t>
            </a:r>
            <a:r>
              <a:rPr lang="zh-CN" altLang="en-US" sz="2000"/>
              <a:t>单空位后产生明显亚带隙吸收。</a:t>
            </a:r>
            <a:endParaRPr lang="zh-CN" altLang="en-US" sz="2000"/>
          </a:p>
          <a:p>
            <a:pPr marL="285750" indent="-285750">
              <a:buFont typeface="Wingdings" panose="05000000000000000000" charset="0"/>
              <a:buChar char="Ø"/>
            </a:pPr>
            <a:endParaRPr lang="zh-CN" altLang="en-US" sz="2000"/>
          </a:p>
          <a:p>
            <a:pPr marL="285750" indent="-285750">
              <a:buFont typeface="Wingdings" panose="05000000000000000000" charset="0"/>
              <a:buChar char="Ø"/>
            </a:pPr>
            <a:r>
              <a:rPr lang="zh-CN" altLang="en-US" sz="2000"/>
              <a:t>升高电子温度，费米分布展宽，能带占据重分布，尖锐吸收峰被抹平，吸收谱演化为连续平滑谱。</a:t>
            </a:r>
            <a:endParaRPr lang="zh-CN" altLang="en-US" sz="2000"/>
          </a:p>
          <a:p>
            <a:pPr marL="285750" indent="-285750">
              <a:buFont typeface="Wingdings" panose="05000000000000000000" charset="0"/>
              <a:buChar char="Ø"/>
            </a:pPr>
            <a:endParaRPr lang="zh-CN" altLang="en-US" sz="2000"/>
          </a:p>
          <a:p>
            <a:pPr marL="285750" indent="-285750">
              <a:buFont typeface="Wingdings" panose="05000000000000000000" charset="0"/>
              <a:buChar char="Ø"/>
            </a:pPr>
            <a:r>
              <a:rPr lang="zh-CN" altLang="en-US" sz="2000"/>
              <a:t>同等电子温度下，空位 </a:t>
            </a:r>
            <a:r>
              <a:rPr lang="en-US" altLang="zh-CN" sz="2000"/>
              <a:t>Si </a:t>
            </a:r>
            <a:r>
              <a:rPr lang="zh-CN" altLang="en-US" sz="2000"/>
              <a:t>吸收系数整体高于完美 </a:t>
            </a:r>
            <a:r>
              <a:rPr lang="en-US" altLang="zh-CN" sz="2000"/>
              <a:t>Si</a:t>
            </a:r>
            <a:endParaRPr lang="en-US" altLang="zh-CN" sz="2000"/>
          </a:p>
        </p:txBody>
      </p:sp>
      <p:sp>
        <p:nvSpPr>
          <p:cNvPr id="2" name="Text 0"/>
          <p:cNvSpPr/>
          <p:nvPr/>
        </p:nvSpPr>
        <p:spPr>
          <a:xfrm>
            <a:off x="344424" y="256032"/>
            <a:ext cx="5379971" cy="420624"/>
          </a:xfrm>
          <a:prstGeom prst="rect">
            <a:avLst/>
          </a:prstGeom>
          <a:noFill/>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zh-CN" sz="2500" b="1" dirty="0">
                <a:solidFill>
                  <a:srgbClr val="102A43"/>
                </a:solidFill>
                <a:latin typeface="+mj-ea"/>
                <a:ea typeface="+mj-ea"/>
                <a:cs typeface="Noto Sans CJK SC" pitchFamily="34" charset="-120"/>
              </a:rPr>
              <a:t>进展</a:t>
            </a:r>
            <a:endParaRPr lang="zh-CN" sz="2500" dirty="0">
              <a:latin typeface="+mj-ea"/>
              <a:ea typeface="+mj-ea"/>
            </a:endParaRPr>
          </a:p>
        </p:txBody>
      </p:sp>
      <p:sp>
        <p:nvSpPr>
          <p:cNvPr id="3" name="文本框 2"/>
          <p:cNvSpPr txBox="1"/>
          <p:nvPr/>
        </p:nvSpPr>
        <p:spPr>
          <a:xfrm>
            <a:off x="3556000" y="676593"/>
            <a:ext cx="5080000" cy="460375"/>
          </a:xfrm>
          <a:prstGeom prst="rect">
            <a:avLst/>
          </a:prstGeom>
        </p:spPr>
        <p:txBody>
          <a:bodyPr>
            <a:spAutoFit/>
          </a:bodyPr>
          <a:lstStyle/>
          <a:p>
            <a:pPr algn="ctr"/>
            <a:r>
              <a:rPr lang="en-US" altLang="zh-CN" sz="2400" b="1" dirty="0"/>
              <a:t>光吸收系数</a:t>
            </a:r>
            <a:endParaRPr lang="en-US" altLang="zh-CN" sz="2400" b="1" dirty="0"/>
          </a:p>
        </p:txBody>
      </p:sp>
      <p:sp>
        <p:nvSpPr>
          <p:cNvPr id="4" name="文本框 3"/>
          <p:cNvSpPr txBox="1"/>
          <p:nvPr/>
        </p:nvSpPr>
        <p:spPr>
          <a:xfrm>
            <a:off x="566420" y="5145723"/>
            <a:ext cx="5080000" cy="368300"/>
          </a:xfrm>
          <a:prstGeom prst="rect">
            <a:avLst/>
          </a:prstGeom>
        </p:spPr>
        <p:txBody>
          <a:bodyPr>
            <a:spAutoFit/>
          </a:bodyPr>
          <a:lstStyle/>
          <a:p>
            <a:pPr algn="ctr"/>
            <a:r>
              <a:rPr lang="en-US" altLang="zh-CN"/>
              <a:t>α - </a:t>
            </a:r>
            <a:r>
              <a:rPr lang="zh-CN" altLang="en-US"/>
              <a:t>光子能量谱</a:t>
            </a:r>
            <a:endParaRPr lang="zh-CN" altLang="en-US"/>
          </a:p>
        </p:txBody>
      </p:sp>
      <p:sp>
        <p:nvSpPr>
          <p:cNvPr id="6" name="圆角矩形 5"/>
          <p:cNvSpPr/>
          <p:nvPr/>
        </p:nvSpPr>
        <p:spPr>
          <a:xfrm>
            <a:off x="1021080" y="4222115"/>
            <a:ext cx="836295" cy="421005"/>
          </a:xfrm>
          <a:prstGeom prst="roundRect">
            <a:avLst/>
          </a:prstGeom>
          <a:noFill/>
          <a:ln w="28575" cmpd="sng">
            <a:solidFill>
              <a:srgbClr val="00B05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圆角矩形 7"/>
          <p:cNvSpPr/>
          <p:nvPr/>
        </p:nvSpPr>
        <p:spPr>
          <a:xfrm>
            <a:off x="4114165" y="1898015"/>
            <a:ext cx="1336040" cy="1882775"/>
          </a:xfrm>
          <a:prstGeom prst="roundRect">
            <a:avLst/>
          </a:prstGeom>
          <a:noFill/>
          <a:ln w="28575" cmpd="sng">
            <a:solidFill>
              <a:srgbClr val="FFC000"/>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p:cNvSpPr txBox="1"/>
          <p:nvPr/>
        </p:nvSpPr>
        <p:spPr>
          <a:xfrm>
            <a:off x="2048510" y="2383155"/>
            <a:ext cx="2026285" cy="368935"/>
          </a:xfrm>
          <a:prstGeom prst="rect">
            <a:avLst/>
          </a:prstGeom>
        </p:spPr>
        <p:txBody>
          <a:bodyPr>
            <a:noAutofit/>
          </a:bodyPr>
          <a:lstStyle/>
          <a:p>
            <a:r>
              <a:rPr lang="zh-CN" altLang="en-US" sz="1600" b="1">
                <a:solidFill>
                  <a:srgbClr val="FFC000"/>
                </a:solidFill>
              </a:rPr>
              <a:t>高温抹平尖锐吸收峰</a:t>
            </a:r>
            <a:endParaRPr lang="zh-CN" altLang="en-US" sz="1600" b="1">
              <a:solidFill>
                <a:srgbClr val="FFC000"/>
              </a:solidFill>
            </a:endParaRPr>
          </a:p>
        </p:txBody>
      </p:sp>
      <p:sp>
        <p:nvSpPr>
          <p:cNvPr id="10" name="文本框 9"/>
          <p:cNvSpPr txBox="1"/>
          <p:nvPr/>
        </p:nvSpPr>
        <p:spPr>
          <a:xfrm>
            <a:off x="1021080" y="3780155"/>
            <a:ext cx="2363470" cy="337820"/>
          </a:xfrm>
          <a:prstGeom prst="rect">
            <a:avLst/>
          </a:prstGeom>
        </p:spPr>
        <p:txBody>
          <a:bodyPr>
            <a:noAutofit/>
          </a:bodyPr>
          <a:lstStyle/>
          <a:p>
            <a:r>
              <a:rPr lang="zh-CN" altLang="en-US" sz="1600" b="1">
                <a:solidFill>
                  <a:srgbClr val="00B050"/>
                </a:solidFill>
              </a:rPr>
              <a:t>低温下亚带隙吸收</a:t>
            </a:r>
            <a:endParaRPr lang="zh-CN" altLang="en-US" sz="1600" b="1">
              <a:solidFill>
                <a:srgbClr val="00B050"/>
              </a:solidFill>
            </a:endParaRPr>
          </a:p>
        </p:txBody>
      </p:sp>
    </p:spTree>
  </p:cSld>
  <p:clrMapOvr>
    <a:masterClrMapping/>
  </p:clrMapOvr>
</p:sld>
</file>

<file path=ppt/tags/tag1.xml><?xml version="1.0" encoding="utf-8"?>
<p:tagLst xmlns:p="http://schemas.openxmlformats.org/presentationml/2006/main">
  <p:tag name="KSO_WM_DIAGRAM_VIRTUALLY_FRAME" val="{&quot;height&quot;:152.64000000000001,&quot;left&quot;:53.04,&quot;top&quot;:119.92811023622048,&quot;width&quot;:852.4800000000001}"/>
</p:tagLst>
</file>

<file path=ppt/tags/tag2.xml><?xml version="1.0" encoding="utf-8"?>
<p:tagLst xmlns:p="http://schemas.openxmlformats.org/presentationml/2006/main">
  <p:tag name="KSO_WM_DIAGRAM_VIRTUALLY_FRAME" val="{&quot;height&quot;:152.64000000000001,&quot;left&quot;:53.04,&quot;top&quot;:119.92811023622048,&quot;width&quot;:852.4800000000001}"/>
</p:tagLst>
</file>

<file path=ppt/tags/tag3.xml><?xml version="1.0" encoding="utf-8"?>
<p:tagLst xmlns:p="http://schemas.openxmlformats.org/presentationml/2006/main">
  <p:tag name="KSO_WM_DIAGRAM_VIRTUALLY_FRAME" val="{&quot;height&quot;:204.03582677165352,&quot;left&quot;:30.07464566929134,&quot;top&quot;:25.209370078740154,&quot;width&quot;:872.9253543307086}"/>
</p:tagLst>
</file>

<file path=ppt/tags/tag4.xml><?xml version="1.0" encoding="utf-8"?>
<p:tagLst xmlns:p="http://schemas.openxmlformats.org/presentationml/2006/main">
  <p:tag name="KSO_WM_DIAGRAM_VIRTUALLY_FRAME" val="{&quot;height&quot;:316.11,&quot;left&quot;:36.75,&quot;top&quot;:73.44,&quot;width&quot;:697.65}"/>
</p:tagLst>
</file>

<file path=ppt/tags/tag5.xml><?xml version="1.0" encoding="utf-8"?>
<p:tagLst xmlns:p="http://schemas.openxmlformats.org/presentationml/2006/main">
  <p:tag name="KSO_WM_DIAGRAM_VIRTUALLY_FRAME" val="{&quot;height&quot;:316.11,&quot;left&quot;:36.75,&quot;top&quot;:73.44,&quot;width&quot;:697.65}"/>
</p:tagLst>
</file>

<file path=ppt/tags/tag6.xml><?xml version="1.0" encoding="utf-8"?>
<p:tagLst xmlns:p="http://schemas.openxmlformats.org/presentationml/2006/main">
  <p:tag name="KSO_WM_DIAGRAM_VIRTUALLY_FRAME" val="{&quot;height&quot;:316.11,&quot;left&quot;:36.75,&quot;top&quot;:73.44,&quot;width&quot;:697.65}"/>
</p:tagLst>
</file>

<file path=ppt/tags/tag7.xml><?xml version="1.0" encoding="utf-8"?>
<p:tagLst xmlns:p="http://schemas.openxmlformats.org/presentationml/2006/main">
  <p:tag name="KSO_WM_DIAGRAM_VIRTUALLY_FRAME" val="{&quot;height&quot;:316.11,&quot;left&quot;:36.75,&quot;top&quot;:73.44,&quot;width&quot;:697.65}"/>
</p:tagLst>
</file>

<file path=ppt/tags/tag8.xml><?xml version="1.0" encoding="utf-8"?>
<p:tagLst xmlns:p="http://schemas.openxmlformats.org/presentationml/2006/main">
  <p:tag name="KSO_WM_DIAGRAM_VIRTUALLY_FRAME" val="{&quot;height&quot;:316.11,&quot;left&quot;:36.75,&quot;top&quot;:73.44,&quot;width&quot;:697.65}"/>
</p:tagLst>
</file>

<file path=ppt/tags/tag9.xml><?xml version="1.0" encoding="utf-8"?>
<p:tagLst xmlns:p="http://schemas.openxmlformats.org/presentationml/2006/main">
  <p:tag name="KSO_WM_DIAGRAM_VIRTUALLY_FRAME" val="{&quot;height&quot;:316.11,&quot;left&quot;:36.75,&quot;top&quot;:73.44,&quot;width&quot;:697.65}"/>
</p:tagLst>
</file>

<file path=ppt/tags/tag10.xml><?xml version="1.0" encoding="utf-8"?>
<p:tagLst xmlns:p="http://schemas.openxmlformats.org/presentationml/2006/main">
  <p:tag name="KSO_WM_DIAGRAM_VIRTUALLY_FRAME" val="{&quot;height&quot;:152.64000000000001,&quot;left&quot;:53.04,&quot;top&quot;:119.92811023622048,&quot;width&quot;:852.4800000000001}"/>
</p:tagLst>
</file>

<file path=ppt/tags/tag11.xml><?xml version="1.0" encoding="utf-8"?>
<p:tagLst xmlns:p="http://schemas.openxmlformats.org/presentationml/2006/main">
  <p:tag name="KSO_WM_DIAGRAM_VIRTUALLY_FRAME" val="{&quot;height&quot;:152.64000000000001,&quot;left&quot;:53.04,&quot;top&quot;:119.92811023622048,&quot;width&quot;:852.4800000000001}"/>
</p:tagLst>
</file>

<file path=ppt/tags/tag12.xml><?xml version="1.0" encoding="utf-8"?>
<p:tagLst xmlns:p="http://schemas.openxmlformats.org/presentationml/2006/main">
  <p:tag name="KSO_WM_DIAGRAM_VIRTUALLY_FRAME" val="{&quot;height&quot;:152.64000000000001,&quot;left&quot;:53.04,&quot;top&quot;:119.92811023622048,&quot;width&quot;:852.4800000000001}"/>
</p:tagLst>
</file>

<file path=ppt/tags/tag13.xml><?xml version="1.0" encoding="utf-8"?>
<p:tagLst xmlns:p="http://schemas.openxmlformats.org/presentationml/2006/main">
  <p:tag name="KSO_WM_DIAGRAM_VIRTUALLY_FRAME" val="{&quot;height&quot;:152.64000000000001,&quot;left&quot;:53.04,&quot;top&quot;:119.92811023622048,&quot;width&quot;:852.4800000000001}"/>
</p:tagLst>
</file>

<file path=ppt/tags/tag14.xml><?xml version="1.0" encoding="utf-8"?>
<p:tagLst xmlns:p="http://schemas.openxmlformats.org/presentationml/2006/main">
  <p:tag name="KSO_WM_DIAGRAM_VIRTUALLY_FRAME" val="{&quot;height&quot;:152.64000000000001,&quot;left&quot;:53.04,&quot;top&quot;:119.92811023622048,&quot;width&quot;:852.4800000000001}"/>
</p:tagLst>
</file>

<file path=ppt/tags/tag15.xml><?xml version="1.0" encoding="utf-8"?>
<p:tagLst xmlns:p="http://schemas.openxmlformats.org/presentationml/2006/main">
  <p:tag name="KSO_WM_DIAGRAM_VIRTUALLY_FRAME" val="{&quot;height&quot;:152.64000000000001,&quot;left&quot;:53.04,&quot;top&quot;:119.92811023622048,&quot;width&quot;:852.4800000000001}"/>
</p:tagLst>
</file>

<file path=ppt/tags/tag16.xml><?xml version="1.0" encoding="utf-8"?>
<p:tagLst xmlns:p="http://schemas.openxmlformats.org/presentationml/2006/main">
  <p:tag name="KSO_WM_DIAGRAM_VIRTUALLY_FRAME" val="{&quot;height&quot;:152.64000000000001,&quot;left&quot;:53.04,&quot;top&quot;:119.92811023622048,&quot;width&quot;:852.4800000000001}"/>
</p:tagLst>
</file>

<file path=ppt/tags/tag17.xml><?xml version="1.0" encoding="utf-8"?>
<p:tagLst xmlns:p="http://schemas.openxmlformats.org/presentationml/2006/main">
  <p:tag name="KSO_WM_DIAGRAM_VIRTUALLY_FRAME" val="{&quot;height&quot;:152.64000000000001,&quot;left&quot;:53.04,&quot;top&quot;:119.92811023622048,&quot;width&quot;:852.4800000000001}"/>
</p:tagLst>
</file>

<file path=ppt/tags/tag18.xml><?xml version="1.0" encoding="utf-8"?>
<p:tagLst xmlns:p="http://schemas.openxmlformats.org/presentationml/2006/main">
  <p:tag name="KSO_WM_DIAGRAM_VIRTUALLY_FRAME" val="{&quot;height&quot;:152.64000000000001,&quot;left&quot;:53.04,&quot;top&quot;:119.92811023622048,&quot;width&quot;:852.4800000000001}"/>
</p:tagLst>
</file>

<file path=ppt/tags/tag19.xml><?xml version="1.0" encoding="utf-8"?>
<p:tagLst xmlns:p="http://schemas.openxmlformats.org/presentationml/2006/main">
  <p:tag name="KSO_WM_DIAGRAM_VIRTUALLY_FRAME" val="{&quot;height&quot;:152.64000000000001,&quot;left&quot;:53.04,&quot;top&quot;:119.92811023622048,&quot;width&quot;:852.4800000000001}"/>
</p:tagLst>
</file>

<file path=ppt/tags/tag20.xml><?xml version="1.0" encoding="utf-8"?>
<p:tagLst xmlns:p="http://schemas.openxmlformats.org/presentationml/2006/main">
  <p:tag name="KSO_WM_DIAGRAM_VIRTUALLY_FRAME" val="{&quot;height&quot;:152.64000000000001,&quot;left&quot;:53.04,&quot;top&quot;:119.92811023622048,&quot;width&quot;:852.4800000000001}"/>
</p:tagLst>
</file>

<file path=ppt/tags/tag21.xml><?xml version="1.0" encoding="utf-8"?>
<p:tagLst xmlns:p="http://schemas.openxmlformats.org/presentationml/2006/main">
  <p:tag name="KSO_WM_DIAGRAM_VIRTUALLY_FRAME" val="{&quot;height&quot;:152.64000000000001,&quot;left&quot;:53.04,&quot;top&quot;:119.92811023622048,&quot;width&quot;:852.480000000000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vtizio5t">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3395</Words>
  <Application>WPS 演示</Application>
  <PresentationFormat>宽屏</PresentationFormat>
  <Paragraphs>351</Paragraphs>
  <Slides>14</Slides>
  <Notes>13</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32</vt:i4>
      </vt:variant>
      <vt:variant>
        <vt:lpstr>幻灯片标题</vt:lpstr>
      </vt:variant>
      <vt:variant>
        <vt:i4>14</vt:i4>
      </vt:variant>
    </vt:vector>
  </HeadingPairs>
  <TitlesOfParts>
    <vt:vector size="60" baseType="lpstr">
      <vt:lpstr>Arial</vt:lpstr>
      <vt:lpstr>宋体</vt:lpstr>
      <vt:lpstr>Wingdings</vt:lpstr>
      <vt:lpstr>微软雅黑</vt:lpstr>
      <vt:lpstr>Times New Roman</vt:lpstr>
      <vt:lpstr>Cambria Math</vt:lpstr>
      <vt:lpstr>Noto Sans CJK SC</vt:lpstr>
      <vt:lpstr>MingLiU-ExtB</vt:lpstr>
      <vt:lpstr>Wingdings</vt:lpstr>
      <vt:lpstr>Noto Sans CJK SC</vt:lpstr>
      <vt:lpstr>微软雅黑</vt:lpstr>
      <vt:lpstr>Arial Unicode MS</vt:lpstr>
      <vt:lpstr>Calibri</vt:lpstr>
      <vt:lpstr>1_Office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〃八月柒秋叶初凉-ぐ</cp:lastModifiedBy>
  <cp:revision>401</cp:revision>
  <dcterms:created xsi:type="dcterms:W3CDTF">2019-06-19T02:08:00Z</dcterms:created>
  <dcterms:modified xsi:type="dcterms:W3CDTF">2026-10-13T06:44:35Z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2052-12.1.0.28505</vt:lpwstr>
  </property>
  <property fmtid="{D5CDD505-2E9C-101B-9397-08002B2CF9AE}" pid="3" name="ICV">
    <vt:lpwstr>66F794D86EA940F1AB2DD97FFA83D290_11</vt:lpwstr>
  </property>
</Properties>
</file>