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1968" r:id="rId2"/>
    <p:sldId id="1974" r:id="rId3"/>
    <p:sldId id="1969" r:id="rId4"/>
    <p:sldId id="196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5686"/>
    <a:srgbClr val="ED1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044" autoAdjust="0"/>
  </p:normalViewPr>
  <p:slideViewPr>
    <p:cSldViewPr snapToGrid="0">
      <p:cViewPr varScale="1">
        <p:scale>
          <a:sx n="99" d="100"/>
          <a:sy n="99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A64C2-50CB-4C9A-AA69-B69ABBACDB3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BA143-6F37-4B20-AA81-00D95A421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278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BA143-6F37-4B20-AA81-00D95A4214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525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AIMD</a:t>
            </a:r>
            <a:r>
              <a:rPr lang="zh-CN" altLang="en-US"/>
              <a:t>的目的是得到一个沿实际 </a:t>
            </a:r>
            <a:r>
              <a:rPr lang="en-US" altLang="zh-CN"/>
              <a:t>DFT </a:t>
            </a:r>
            <a:r>
              <a:rPr lang="zh-CN" altLang="en-US"/>
              <a:t>力场响应后的新构型，从而扩充非平衡构型空间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BA143-6F37-4B20-AA81-00D95A4214B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821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>
                <a:solidFill>
                  <a:srgbClr val="0F1115"/>
                </a:solidFill>
                <a:effectLst/>
                <a:latin typeface="quote-cjk-patch"/>
              </a:rPr>
              <a:t>LDA</a:t>
            </a:r>
            <a:r>
              <a:rPr lang="zh-CN" altLang="en-US" b="0">
                <a:solidFill>
                  <a:srgbClr val="0F1115"/>
                </a:solidFill>
                <a:effectLst/>
                <a:latin typeface="quote-cjk-patch"/>
              </a:rPr>
              <a:t>（局域密度近似）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>
                <a:solidFill>
                  <a:srgbClr val="0F1115"/>
                </a:solidFill>
                <a:effectLst/>
                <a:latin typeface="quote-cjk-patch"/>
              </a:rPr>
              <a:t>GGA</a:t>
            </a:r>
            <a:r>
              <a:rPr lang="zh-CN" altLang="en-US" b="0">
                <a:solidFill>
                  <a:srgbClr val="0F1115"/>
                </a:solidFill>
                <a:effectLst/>
                <a:latin typeface="quote-cjk-patch"/>
              </a:rPr>
              <a:t>（广义梯度近似）</a:t>
            </a:r>
            <a:endParaRPr lang="en-US" altLang="zh-CN" b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/>
              <a:t>meta-GGA</a:t>
            </a:r>
            <a:r>
              <a:rPr lang="zh-CN" altLang="en-US" b="0"/>
              <a:t>：更高一阶的半局域泛函</a:t>
            </a:r>
            <a:endParaRPr lang="en-US" altLang="zh-CN" b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/>
              <a:t>HSE06</a:t>
            </a:r>
            <a:r>
              <a:rPr lang="zh-CN" altLang="en-US" b="0"/>
              <a:t>：固体中最常用的杂化泛函之一</a:t>
            </a:r>
            <a:endParaRPr lang="zh-CN" altLang="en-US" b="0">
              <a:solidFill>
                <a:srgbClr val="0F1115"/>
              </a:solidFill>
              <a:effectLst/>
              <a:latin typeface="quote-cjk-patch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BA143-6F37-4B20-AA81-00D95A4214B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703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B56C7-D0BB-405B-A40B-E5078A24B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75A72B-29AA-4311-8D97-3C9B6AAFE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90B007-35ED-403A-9C07-718C38DA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60BF50-141D-4DE6-A29B-8053ED20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99C6F9-5ED9-41A0-B848-16FE70A6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43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5D1C2-0D6C-494E-A550-62EC917D6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F48455-5CF1-4486-BE2F-B38107BA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F60ED8-F251-4617-BEF1-F1561DE8C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7B11C3-416A-4A32-AD76-67590E08E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8FF2C4-FE4D-4782-8096-370C3E904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84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41505-8B7E-4AFF-9A42-8007EE6E8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A40D3E-783D-4F74-9AEC-DA9FEC670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AAD93-43F6-4052-96CD-FDB5EB97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C10A13-77C2-4C85-9E06-2233570F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F04DF7-C138-4C21-87FD-1B49EE1D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042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17FFA-80FA-4CF1-B446-CF3DA1A1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FFF4A9-7906-4142-AA9A-15B676C29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EB7DDE-B2F1-4DEF-A28C-8DAE6AA95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A0FF3A-ECEF-40F7-AC98-D90C5812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044691-5368-44B4-8153-A1A98E85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8DAA84-5744-40E4-9694-E976F233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58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17531-5BDB-4BA8-9ABE-D76D3BC55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16EE39-403A-449A-9D44-D44C6B29F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EF1D24-B3DA-4754-904A-B2502C327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581682-07C0-46A1-8FBC-CB72510C7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2AFDDB-C676-4574-8B55-FB83C3EA3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B97E78-3B20-49B4-99C4-5B0FB5437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A4C4E4-2B5F-4A85-A11F-4F375E85B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265F43-F2F4-46FC-B561-C60F19EE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C2A3C-CF88-4BEB-AE1B-3C2D7247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D9AC66-F62D-4103-99FF-9E9DADD7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DAC482-CC77-4518-9372-8A012411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89EF65-BEC6-45A4-AF0F-A6CA0D92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13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C08729-D1DC-409B-A7AF-DD52B1C7F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666D1-6ED9-4D82-AC3C-4947869F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E54E4-9029-412D-94B3-551914BB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53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32A58-7B6D-4DBD-9DF3-7FC8E763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6FD5A-372A-4BCC-921F-3DAC5FCF0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EA83A0-979E-40F7-A338-031CAF480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88131C-8184-4B9C-B623-77787EA5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4A0EE8-8B3D-46C4-A5DB-009F454B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23FD71-7F47-486F-8859-77CCE706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90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5B292-5FE1-4093-AD42-B415C9A14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45E6B3-6F1A-4DD1-98B2-7553B5A58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8A8B8B-5D32-4CA1-AC9B-F13AF6665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2359B0-C63D-4A63-9546-D5E2B6FA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B3243B-7250-4085-AD68-AA8ADA2C3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AA967E-0FD5-42CE-B5FA-F24CDE62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01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6E53D-5CC9-4653-A9E3-7DB3AF5A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C44AE1-2E9F-45A6-9D1E-9F1D4D6D8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CF5AE9-C140-491D-A6EA-B8B72FE0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899578-9F39-4451-BB3E-383A83A1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FDFA78-BBAF-43FC-8417-875A05CC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652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669575-472E-46A1-8EF9-9EDDB742A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4E4C8F-ACF1-4C8D-9D80-CE6AC467A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45EA6B-4B90-415C-8A3C-4E89CE5E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6D9D0-7F1C-4445-AAC7-5FD842D55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CAECC1-85CD-409D-93D4-58A1ADFD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72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AA2BB-9504-4189-B840-54ED67D0D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45" y="161862"/>
            <a:ext cx="11525692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36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87691E1-50FC-481C-A0B4-BBBEE439F289}"/>
              </a:ext>
            </a:extLst>
          </p:cNvPr>
          <p:cNvCxnSpPr>
            <a:cxnSpLocks/>
          </p:cNvCxnSpPr>
          <p:nvPr userDrawn="1"/>
        </p:nvCxnSpPr>
        <p:spPr>
          <a:xfrm>
            <a:off x="0" y="81754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896C1A8-51E3-4600-8481-2CBB686F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038" y="6433470"/>
            <a:ext cx="995109" cy="365125"/>
          </a:xfrm>
        </p:spPr>
        <p:txBody>
          <a:bodyPr/>
          <a:lstStyle>
            <a:lvl1pPr>
              <a:defRPr sz="1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fld id="{8F805578-1D46-46B1-B6A4-39E4C4437D9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64988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56915C-2F92-4CEC-BE4B-339C45517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C9013A-0A05-467A-9EB6-79B0E3259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D32DEA-4495-4E2F-83E4-754A4AB86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3E7D5D-FFFF-43D9-94F2-4258923EE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D4839F-D8F4-423A-90AB-D223823A2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09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C17A51D-68BF-4BB7-9679-23054C4E3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12974"/>
              </p:ext>
            </p:extLst>
          </p:nvPr>
        </p:nvGraphicFramePr>
        <p:xfrm>
          <a:off x="155082" y="1285204"/>
          <a:ext cx="11881836" cy="407798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887495">
                  <a:extLst>
                    <a:ext uri="{9D8B030D-6E8A-4147-A177-3AD203B41FA5}">
                      <a16:colId xmlns:a16="http://schemas.microsoft.com/office/drawing/2014/main" val="685530442"/>
                    </a:ext>
                  </a:extLst>
                </a:gridCol>
                <a:gridCol w="2720657">
                  <a:extLst>
                    <a:ext uri="{9D8B030D-6E8A-4147-A177-3AD203B41FA5}">
                      <a16:colId xmlns:a16="http://schemas.microsoft.com/office/drawing/2014/main" val="2010147098"/>
                    </a:ext>
                  </a:extLst>
                </a:gridCol>
                <a:gridCol w="2800952">
                  <a:extLst>
                    <a:ext uri="{9D8B030D-6E8A-4147-A177-3AD203B41FA5}">
                      <a16:colId xmlns:a16="http://schemas.microsoft.com/office/drawing/2014/main" val="3429998198"/>
                    </a:ext>
                  </a:extLst>
                </a:gridCol>
                <a:gridCol w="3472732">
                  <a:extLst>
                    <a:ext uri="{9D8B030D-6E8A-4147-A177-3AD203B41FA5}">
                      <a16:colId xmlns:a16="http://schemas.microsoft.com/office/drawing/2014/main" val="3941006484"/>
                    </a:ext>
                  </a:extLst>
                </a:gridCol>
              </a:tblGrid>
              <a:tr h="41708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600" b="1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任务</a:t>
                      </a:r>
                      <a:endParaRPr lang="zh-CN" altLang="en-US" sz="1600" b="1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600" b="1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模型不足</a:t>
                      </a:r>
                      <a:endParaRPr lang="zh-CN" altLang="en-US" sz="1600" b="1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600" b="1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增补构型</a:t>
                      </a:r>
                      <a:endParaRPr lang="zh-CN" altLang="en-US" sz="1600" b="1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600" b="1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评价指标（与</a:t>
                      </a:r>
                      <a:r>
                        <a:rPr lang="en-US" altLang="zh-CN" sz="1600" b="1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DFT</a:t>
                      </a:r>
                      <a:r>
                        <a:rPr lang="zh-CN" altLang="en-US" sz="1600" b="1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结果预测对比）</a:t>
                      </a:r>
                      <a:endParaRPr lang="zh-CN" altLang="en-US" sz="1600" b="1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341968"/>
                  </a:ext>
                </a:extLst>
              </a:tr>
              <a:tr h="1116904">
                <a:tc>
                  <a:txBody>
                    <a:bodyPr/>
                    <a:lstStyle/>
                    <a:p>
                      <a:pPr marL="0" marR="0" lvl="0" indent="4572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探明不同</a:t>
                      </a:r>
                      <a:r>
                        <a:rPr lang="zh-CN" altLang="en-US" sz="1600" b="0" u="none" strike="noStrik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界面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结构与应力对各相稳定性的影响关系</a:t>
                      </a:r>
                      <a:endParaRPr lang="en-US" altLang="zh-CN" sz="1600" b="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 无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HfO</a:t>
                      </a:r>
                      <a:r>
                        <a:rPr lang="en-US" altLang="zh-CN" sz="1600" b="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/ZrO</a:t>
                      </a:r>
                      <a:r>
                        <a:rPr lang="en-US" altLang="zh-CN" sz="1600" b="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2 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异质界面数据，不能正确描述界面原子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9 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类 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M/O/T 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相组合界面构型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能量与力、层间距、层应力误差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756511"/>
                  </a:ext>
                </a:extLst>
              </a:tr>
              <a:tr h="864700">
                <a:tc>
                  <a:txBody>
                    <a:bodyPr/>
                    <a:lstStyle/>
                    <a:p>
                      <a:pPr marL="0" indent="457200" algn="l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超晶格中</a:t>
                      </a:r>
                      <a:r>
                        <a:rPr lang="zh-CN" altLang="en-US" sz="1600" b="0" u="none" strike="noStrik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氧空位缺陷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的形成与迁移</a:t>
                      </a:r>
                      <a:endParaRPr lang="en-US" altLang="zh-CN" sz="1600" b="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缺陷形成能预测精度不足，无迁移路径构型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3V</a:t>
                      </a:r>
                      <a:r>
                        <a:rPr lang="en-US" altLang="zh-CN" sz="1600" b="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/4V</a:t>
                      </a:r>
                      <a:r>
                        <a:rPr lang="en-US" altLang="zh-CN" sz="1600" b="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在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HfO</a:t>
                      </a:r>
                      <a:r>
                        <a:rPr lang="en-US" altLang="zh-CN" sz="1600" b="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层、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ZrO</a:t>
                      </a:r>
                      <a:r>
                        <a:rPr lang="en-US" altLang="zh-CN" sz="1600" b="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层、界面处缺陷构型及迁移路径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形成能、迁移势垒误差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544991"/>
                  </a:ext>
                </a:extLst>
              </a:tr>
              <a:tr h="612495">
                <a:tc>
                  <a:txBody>
                    <a:bodyPr/>
                    <a:lstStyle/>
                    <a:p>
                      <a:pPr marL="0" marR="0" lvl="0" indent="4572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揭示不同叠层厚度下各相之间的转变路径如何竞争，明确</a:t>
                      </a:r>
                      <a:r>
                        <a:rPr kumimoji="0" lang="zh-CN" alt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界面应力</a:t>
                      </a:r>
                      <a:r>
                        <a:rPr kumimoji="0" lang="en-US" altLang="zh-CN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—</a:t>
                      </a:r>
                      <a:r>
                        <a:rPr kumimoji="0" lang="zh-CN" alt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氧空位</a:t>
                      </a: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—</a:t>
                      </a:r>
                      <a:r>
                        <a:rPr kumimoji="0" lang="zh-CN" alt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相稳定性耦合关系</a:t>
                      </a:r>
                      <a:endParaRPr lang="en-US" altLang="zh-CN" sz="1600" b="0" u="none" strike="noStrike" kern="12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缺非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平衡相变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中间态，势垒预测不准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3/3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5/5 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的 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M→O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T→O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T→M 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相变路径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相变势垒，路径能量排序，相变竞争关系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6861"/>
                  </a:ext>
                </a:extLst>
              </a:tr>
              <a:tr h="612495">
                <a:tc>
                  <a:txBody>
                    <a:bodyPr/>
                    <a:lstStyle/>
                    <a:p>
                      <a:pPr marL="0" marR="0" lvl="0" indent="4572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提高模型对</a:t>
                      </a:r>
                      <a:r>
                        <a:rPr lang="zh-CN" altLang="en-US" sz="1600" b="0" u="none" strike="noStrik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铁电开关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相关结构空间的覆盖能力</a:t>
                      </a:r>
                      <a:endParaRPr lang="en-US" altLang="zh-CN" sz="1600" b="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需补充极化翻转路径上的非平衡构型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模拟电场作用下的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3/3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5/5 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的上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下极化翻转路径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翻转路径能量、结构、局域极化变化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635339"/>
                  </a:ext>
                </a:extLst>
              </a:tr>
            </a:tbl>
          </a:graphicData>
        </a:graphic>
      </p:graphicFrame>
      <p:sp>
        <p:nvSpPr>
          <p:cNvPr id="7" name="标题 1">
            <a:extLst>
              <a:ext uri="{FF2B5EF4-FFF2-40B4-BE49-F238E27FC236}">
                <a16:creationId xmlns:a16="http://schemas.microsoft.com/office/drawing/2014/main" id="{EEEAC881-FEAD-4C4D-8743-A49607CE4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189516"/>
            <a:ext cx="11526838" cy="590931"/>
          </a:xfrm>
        </p:spPr>
        <p:txBody>
          <a:bodyPr/>
          <a:lstStyle/>
          <a:p>
            <a:r>
              <a:rPr lang="zh-CN" altLang="en-US"/>
              <a:t>微调数据集构建</a:t>
            </a:r>
          </a:p>
        </p:txBody>
      </p:sp>
    </p:spTree>
    <p:extLst>
      <p:ext uri="{BB962C8B-B14F-4D97-AF65-F5344CB8AC3E}">
        <p14:creationId xmlns:p14="http://schemas.microsoft.com/office/powerpoint/2010/main" val="223903349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F979DE6-DC58-4447-9A0F-1159368C72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63075"/>
              </p:ext>
            </p:extLst>
          </p:nvPr>
        </p:nvGraphicFramePr>
        <p:xfrm>
          <a:off x="2857269" y="1629859"/>
          <a:ext cx="2638742" cy="432357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14817">
                  <a:extLst>
                    <a:ext uri="{9D8B030D-6E8A-4147-A177-3AD203B41FA5}">
                      <a16:colId xmlns:a16="http://schemas.microsoft.com/office/drawing/2014/main" val="2010147098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1381698832"/>
                    </a:ext>
                  </a:extLst>
                </a:gridCol>
              </a:tblGrid>
              <a:tr h="35284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氧空位</a:t>
                      </a:r>
                      <a:endParaRPr lang="zh-CN" altLang="en-US" sz="14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u="none" strike="noStrike" kern="12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构型数目</a:t>
                      </a:r>
                      <a:endParaRPr lang="zh-CN" altLang="en-US" sz="14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341968"/>
                  </a:ext>
                </a:extLst>
              </a:tr>
              <a:tr h="32566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3V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-ZrO2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756511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3V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-HfO2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544991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3V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-interface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6861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4V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-HfO2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635339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4V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-ZrO2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441629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4V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-interface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6027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3V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-HfO₂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层内迁移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340997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3V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界面层迁移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946166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3V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-ZrO₂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层内迁移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97150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4V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-HfO₂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层内迁移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872090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4V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界面层迁移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16034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4V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-ZrO₂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层内迁移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43722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D8B9543-4B55-42C0-B9B4-958E0600D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113998"/>
              </p:ext>
            </p:extLst>
          </p:nvPr>
        </p:nvGraphicFramePr>
        <p:xfrm>
          <a:off x="243902" y="1633077"/>
          <a:ext cx="2369185" cy="332946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30655">
                  <a:extLst>
                    <a:ext uri="{9D8B030D-6E8A-4147-A177-3AD203B41FA5}">
                      <a16:colId xmlns:a16="http://schemas.microsoft.com/office/drawing/2014/main" val="685530442"/>
                    </a:ext>
                  </a:extLst>
                </a:gridCol>
                <a:gridCol w="938530">
                  <a:extLst>
                    <a:ext uri="{9D8B030D-6E8A-4147-A177-3AD203B41FA5}">
                      <a16:colId xmlns:a16="http://schemas.microsoft.com/office/drawing/2014/main" val="2010147098"/>
                    </a:ext>
                  </a:extLst>
                </a:gridCol>
              </a:tblGrid>
              <a:tr h="35284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结构</a:t>
                      </a:r>
                      <a:endParaRPr lang="zh-CN" altLang="en-US" sz="14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u="none" strike="noStrike" kern="12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构型数目</a:t>
                      </a:r>
                      <a:endParaRPr lang="zh-CN" altLang="en-US" sz="14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341968"/>
                  </a:ext>
                </a:extLst>
              </a:tr>
              <a:tr h="32566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M-HfO₂/M-ZrO₂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756511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M-HfO₂/O-ZrO₂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544991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M-HfO₂/T-ZrO₂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6861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O-HfO₂/M-ZrO₂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635339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O-HfO₂/O-ZrO₂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441629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O-HfO₂/T-ZrO₂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6027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T-HfO₂/M-ZrO₂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030734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T-HfO₂/O-ZrO₂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194932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T-HfO₂/T-ZrO₂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91887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E423BC6-B56B-4FAF-A053-E5D7B2E1A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766373"/>
              </p:ext>
            </p:extLst>
          </p:nvPr>
        </p:nvGraphicFramePr>
        <p:xfrm>
          <a:off x="5740193" y="1629859"/>
          <a:ext cx="3309303" cy="517310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21143">
                  <a:extLst>
                    <a:ext uri="{9D8B030D-6E8A-4147-A177-3AD203B41FA5}">
                      <a16:colId xmlns:a16="http://schemas.microsoft.com/office/drawing/2014/main" val="103889696"/>
                    </a:ext>
                  </a:extLst>
                </a:gridCol>
                <a:gridCol w="849630">
                  <a:extLst>
                    <a:ext uri="{9D8B030D-6E8A-4147-A177-3AD203B41FA5}">
                      <a16:colId xmlns:a16="http://schemas.microsoft.com/office/drawing/2014/main" val="2953833290"/>
                    </a:ext>
                  </a:extLst>
                </a:gridCol>
                <a:gridCol w="938530">
                  <a:extLst>
                    <a:ext uri="{9D8B030D-6E8A-4147-A177-3AD203B41FA5}">
                      <a16:colId xmlns:a16="http://schemas.microsoft.com/office/drawing/2014/main" val="378611492"/>
                    </a:ext>
                  </a:extLst>
                </a:gridCol>
              </a:tblGrid>
              <a:tr h="35284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叠层厚度（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3/3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路径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构型数目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218312"/>
                  </a:ext>
                </a:extLst>
              </a:tr>
              <a:tr h="325666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完美晶格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M → 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247709"/>
                  </a:ext>
                </a:extLst>
              </a:tr>
              <a:tr h="331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 → 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780400"/>
                  </a:ext>
                </a:extLst>
              </a:tr>
              <a:tr h="331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 → 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331076"/>
                  </a:ext>
                </a:extLst>
              </a:tr>
              <a:tr h="33136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HfO₂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层内 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3V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(4V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 → 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342695"/>
                  </a:ext>
                </a:extLst>
              </a:tr>
              <a:tr h="331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 → 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875463"/>
                  </a:ext>
                </a:extLst>
              </a:tr>
              <a:tr h="33136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ZrO₂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层内 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4VO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 → 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926747"/>
                  </a:ext>
                </a:extLst>
              </a:tr>
              <a:tr h="331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 → 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416857"/>
                  </a:ext>
                </a:extLst>
              </a:tr>
              <a:tr h="33136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界面处 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4VO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 → 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212830"/>
                  </a:ext>
                </a:extLst>
              </a:tr>
              <a:tr h="331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 → 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671574"/>
                  </a:ext>
                </a:extLst>
              </a:tr>
              <a:tr h="33136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完美晶格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下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 →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上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979947"/>
                  </a:ext>
                </a:extLst>
              </a:tr>
              <a:tr h="331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上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 →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下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410848"/>
                  </a:ext>
                </a:extLst>
              </a:tr>
              <a:tr h="40073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HfO₂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层内 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3V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(4V</a:t>
                      </a:r>
                      <a:r>
                        <a:rPr lang="en-US" altLang="zh-CN" sz="1400" u="none" strike="noStrike" kern="1200" baseline="-250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上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 →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下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46818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ZrO₂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层内 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4VO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下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 →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上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766058"/>
                  </a:ext>
                </a:extLst>
              </a:tr>
              <a:tr h="33136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界面处 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4VO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上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 →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下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57173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EC4707D-F192-4A26-9C5C-C14F61975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593723"/>
              </p:ext>
            </p:extLst>
          </p:nvPr>
        </p:nvGraphicFramePr>
        <p:xfrm>
          <a:off x="9210110" y="1652299"/>
          <a:ext cx="2927347" cy="214273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31684">
                  <a:extLst>
                    <a:ext uri="{9D8B030D-6E8A-4147-A177-3AD203B41FA5}">
                      <a16:colId xmlns:a16="http://schemas.microsoft.com/office/drawing/2014/main" val="103889696"/>
                    </a:ext>
                  </a:extLst>
                </a:gridCol>
                <a:gridCol w="849630">
                  <a:extLst>
                    <a:ext uri="{9D8B030D-6E8A-4147-A177-3AD203B41FA5}">
                      <a16:colId xmlns:a16="http://schemas.microsoft.com/office/drawing/2014/main" val="2953833290"/>
                    </a:ext>
                  </a:extLst>
                </a:gridCol>
                <a:gridCol w="546033">
                  <a:extLst>
                    <a:ext uri="{9D8B030D-6E8A-4147-A177-3AD203B41FA5}">
                      <a16:colId xmlns:a16="http://schemas.microsoft.com/office/drawing/2014/main" val="378611492"/>
                    </a:ext>
                  </a:extLst>
                </a:gridCol>
              </a:tblGrid>
              <a:tr h="35284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叠层厚度（单层）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路径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构型数目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218312"/>
                  </a:ext>
                </a:extLst>
              </a:tr>
              <a:tr h="325666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HfO₂(1)/ZrO₂(1)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M → 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247709"/>
                  </a:ext>
                </a:extLst>
              </a:tr>
              <a:tr h="331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 → 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780400"/>
                  </a:ext>
                </a:extLst>
              </a:tr>
              <a:tr h="27207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 → 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baseline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331076"/>
                  </a:ext>
                </a:extLst>
              </a:tr>
              <a:tr h="33136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HfO₂(1)/ZrO₂(1)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下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 →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上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979947"/>
                  </a:ext>
                </a:extLst>
              </a:tr>
              <a:tr h="3313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上</a:t>
                      </a:r>
                      <a:r>
                        <a:rPr lang="en-US" altLang="zh-CN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 → </a:t>
                      </a:r>
                      <a:r>
                        <a:rPr lang="zh-CN" altLang="en-US" sz="1400" u="none" strike="noStrike" kern="1200" baseline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下</a:t>
                      </a:r>
                      <a:endParaRPr lang="en-US" altLang="zh-CN" sz="1400" u="none" strike="noStrike" kern="1200" baseline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410848"/>
                  </a:ext>
                </a:extLst>
              </a:tr>
            </a:tbl>
          </a:graphicData>
        </a:graphic>
      </p:graphicFrame>
      <p:sp>
        <p:nvSpPr>
          <p:cNvPr id="10" name="标题 1">
            <a:extLst>
              <a:ext uri="{FF2B5EF4-FFF2-40B4-BE49-F238E27FC236}">
                <a16:creationId xmlns:a16="http://schemas.microsoft.com/office/drawing/2014/main" id="{D3E4F786-927D-4C4C-A0CD-94E863A3F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98" y="1242680"/>
            <a:ext cx="1315391" cy="369332"/>
          </a:xfrm>
        </p:spPr>
        <p:txBody>
          <a:bodyPr/>
          <a:lstStyle/>
          <a:p>
            <a:r>
              <a:rPr lang="zh-CN" altLang="en-US" sz="2000">
                <a:solidFill>
                  <a:schemeClr val="tx1"/>
                </a:solidFill>
              </a:rPr>
              <a:t>界面数据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DA93AF73-41B0-4793-82C1-BCB4D642D7C1}"/>
              </a:ext>
            </a:extLst>
          </p:cNvPr>
          <p:cNvSpPr txBox="1">
            <a:spLocks/>
          </p:cNvSpPr>
          <p:nvPr/>
        </p:nvSpPr>
        <p:spPr>
          <a:xfrm>
            <a:off x="2999180" y="1242680"/>
            <a:ext cx="2577056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>
                <a:solidFill>
                  <a:schemeClr val="tx1"/>
                </a:solidFill>
              </a:rPr>
              <a:t>氧空位缺陷及迁移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955BACA-6BE2-4140-A5B6-9BAB63E3A1AD}"/>
              </a:ext>
            </a:extLst>
          </p:cNvPr>
          <p:cNvSpPr txBox="1"/>
          <p:nvPr/>
        </p:nvSpPr>
        <p:spPr>
          <a:xfrm>
            <a:off x="7760968" y="1066874"/>
            <a:ext cx="25770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相变与极化翻转路径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5134B472-5BEF-4A90-A3F8-D0C173447814}"/>
              </a:ext>
            </a:extLst>
          </p:cNvPr>
          <p:cNvSpPr txBox="1">
            <a:spLocks/>
          </p:cNvSpPr>
          <p:nvPr/>
        </p:nvSpPr>
        <p:spPr>
          <a:xfrm>
            <a:off x="307975" y="189516"/>
            <a:ext cx="11526838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微调数据集构建</a:t>
            </a:r>
          </a:p>
        </p:txBody>
      </p:sp>
    </p:spTree>
    <p:extLst>
      <p:ext uri="{BB962C8B-B14F-4D97-AF65-F5344CB8AC3E}">
        <p14:creationId xmlns:p14="http://schemas.microsoft.com/office/powerpoint/2010/main" val="325948851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C17A51D-68BF-4BB7-9679-23054C4E3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955"/>
              </p:ext>
            </p:extLst>
          </p:nvPr>
        </p:nvGraphicFramePr>
        <p:xfrm>
          <a:off x="229385" y="1140823"/>
          <a:ext cx="11733229" cy="444664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94564">
                  <a:extLst>
                    <a:ext uri="{9D8B030D-6E8A-4147-A177-3AD203B41FA5}">
                      <a16:colId xmlns:a16="http://schemas.microsoft.com/office/drawing/2014/main" val="685530442"/>
                    </a:ext>
                  </a:extLst>
                </a:gridCol>
                <a:gridCol w="3049251">
                  <a:extLst>
                    <a:ext uri="{9D8B030D-6E8A-4147-A177-3AD203B41FA5}">
                      <a16:colId xmlns:a16="http://schemas.microsoft.com/office/drawing/2014/main" val="2010147098"/>
                    </a:ext>
                  </a:extLst>
                </a:gridCol>
                <a:gridCol w="6189414">
                  <a:extLst>
                    <a:ext uri="{9D8B030D-6E8A-4147-A177-3AD203B41FA5}">
                      <a16:colId xmlns:a16="http://schemas.microsoft.com/office/drawing/2014/main" val="3429998198"/>
                    </a:ext>
                  </a:extLst>
                </a:gridCol>
              </a:tblGrid>
              <a:tr h="41708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600" b="1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任务</a:t>
                      </a:r>
                      <a:endParaRPr lang="zh-CN" altLang="en-US" sz="1600" b="1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600" b="1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如何构建</a:t>
                      </a:r>
                      <a:endParaRPr lang="zh-CN" altLang="en-US" sz="1600" b="1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600" b="1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具体做法</a:t>
                      </a:r>
                      <a:endParaRPr lang="zh-CN" altLang="en-US" sz="1600" b="1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341968"/>
                  </a:ext>
                </a:extLst>
              </a:tr>
              <a:tr h="111690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界面构型</a:t>
                      </a:r>
                      <a:endParaRPr lang="en-US" altLang="zh-CN" sz="1600" b="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已有的同质界面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+DFT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构建异质界面构型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457200" algn="l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对初始晶格缩放（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0.95, 1.00, 1.05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），随机扰动原子位置（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次），施加应变，进行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步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AIMD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；生成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15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个包含不同层间距、界面应力和局域原子偏移的界面构型</a:t>
                      </a:r>
                      <a:endParaRPr lang="zh-CN" altLang="en-US" sz="1600" b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756511"/>
                  </a:ext>
                </a:extLst>
              </a:tr>
              <a:tr h="864700">
                <a:tc>
                  <a:txBody>
                    <a:bodyPr/>
                    <a:lstStyle/>
                    <a:p>
                      <a:pPr marL="0" indent="457200" algn="l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含氧空位缺陷构型</a:t>
                      </a:r>
                      <a:endParaRPr lang="en-US" altLang="zh-CN" sz="1600" b="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已有的缺陷构型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+DFT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单点能计算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457200" algn="l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对已有缺陷构型进行晶格缩放、随机扰动和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AIMD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，生成不同缺陷环境下的构型</a:t>
                      </a:r>
                      <a:endParaRPr lang="zh-CN" altLang="en-US" sz="1600" b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544991"/>
                  </a:ext>
                </a:extLst>
              </a:tr>
              <a:tr h="612495">
                <a:tc>
                  <a:txBody>
                    <a:bodyPr/>
                    <a:lstStyle/>
                    <a:p>
                      <a:pPr marL="0" marR="0" lvl="0" indent="4572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   氧空位迁移路径</a:t>
                      </a:r>
                      <a:endParaRPr lang="en-US" altLang="zh-CN" sz="1600" b="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基于初态和末态氧空位位置，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生成迁移路径中间构型</a:t>
                      </a:r>
                      <a:endParaRPr lang="zh-CN" altLang="en-US" sz="1600" b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457200" algn="l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沿用已有缺陷构型作为初末态，线性插值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image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的初始路径后采用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VC-NEB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优化，提取各 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image 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作为候选训练构型，进行 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DFT 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单点计算，提高模型对缺陷迁移势垒和过渡态构型的预测能力。</a:t>
                      </a:r>
                      <a:endParaRPr lang="zh-CN" altLang="en-US" sz="1600" b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61"/>
                  </a:ext>
                </a:extLst>
              </a:tr>
              <a:tr h="6124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相变路径</a:t>
                      </a:r>
                      <a:endParaRPr lang="en-US" altLang="zh-CN" sz="1600" b="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基于不同相结构构建非平衡路径构型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l"/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沿用已优化后的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M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O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T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相界面构型为初末态，线性插值构建 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8 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个中间 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image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；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VC-NEB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优化，</a:t>
                      </a:r>
                      <a:r>
                        <a:rPr lang="en-US" altLang="zh-CN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DFT</a:t>
                      </a:r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计算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635339"/>
                  </a:ext>
                </a:extLst>
              </a:tr>
              <a:tr h="6124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极化翻转路径</a:t>
                      </a:r>
                      <a:endParaRPr lang="en-US" altLang="zh-CN" sz="1600" b="0" u="none" strike="noStrike" kern="120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有限电场辅助 </a:t>
                      </a:r>
                      <a:r>
                        <a:rPr lang="en-US" altLang="zh-CN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VC-NEB </a:t>
                      </a:r>
                      <a:r>
                        <a:rPr lang="zh-CN" altLang="en-US" sz="16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生成路径构型</a:t>
                      </a:r>
                      <a:endParaRPr lang="zh-CN" altLang="en-US" sz="16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 algn="l"/>
                      <a:r>
                        <a:rPr lang="zh-CN" altLang="en-US" sz="16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分别优化极化向上和向下的构型，构建电场偏置下的翻转路径，电场作为路径构型生成和筛选手段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624575"/>
                  </a:ext>
                </a:extLst>
              </a:tr>
            </a:tbl>
          </a:graphicData>
        </a:graphic>
      </p:graphicFrame>
      <p:sp>
        <p:nvSpPr>
          <p:cNvPr id="7" name="标题 1">
            <a:extLst>
              <a:ext uri="{FF2B5EF4-FFF2-40B4-BE49-F238E27FC236}">
                <a16:creationId xmlns:a16="http://schemas.microsoft.com/office/drawing/2014/main" id="{EEEAC881-FEAD-4C4D-8743-A49607CE4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5" y="189516"/>
            <a:ext cx="11526838" cy="590931"/>
          </a:xfrm>
        </p:spPr>
        <p:txBody>
          <a:bodyPr/>
          <a:lstStyle/>
          <a:p>
            <a:r>
              <a:rPr lang="zh-CN" altLang="en-US"/>
              <a:t>数据产生</a:t>
            </a:r>
          </a:p>
        </p:txBody>
      </p:sp>
    </p:spTree>
    <p:extLst>
      <p:ext uri="{BB962C8B-B14F-4D97-AF65-F5344CB8AC3E}">
        <p14:creationId xmlns:p14="http://schemas.microsoft.com/office/powerpoint/2010/main" val="395929794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51D816C-C3CA-4C3C-AB7D-80B95B66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328183"/>
              </p:ext>
            </p:extLst>
          </p:nvPr>
        </p:nvGraphicFramePr>
        <p:xfrm>
          <a:off x="110466" y="1075311"/>
          <a:ext cx="11790947" cy="49536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18867">
                  <a:extLst>
                    <a:ext uri="{9D8B030D-6E8A-4147-A177-3AD203B41FA5}">
                      <a16:colId xmlns:a16="http://schemas.microsoft.com/office/drawing/2014/main" val="685530442"/>
                    </a:ext>
                  </a:extLst>
                </a:gridCol>
                <a:gridCol w="2712161">
                  <a:extLst>
                    <a:ext uri="{9D8B030D-6E8A-4147-A177-3AD203B41FA5}">
                      <a16:colId xmlns:a16="http://schemas.microsoft.com/office/drawing/2014/main" val="2010147098"/>
                    </a:ext>
                  </a:extLst>
                </a:gridCol>
                <a:gridCol w="2193546">
                  <a:extLst>
                    <a:ext uri="{9D8B030D-6E8A-4147-A177-3AD203B41FA5}">
                      <a16:colId xmlns:a16="http://schemas.microsoft.com/office/drawing/2014/main" val="4142427536"/>
                    </a:ext>
                  </a:extLst>
                </a:gridCol>
                <a:gridCol w="2901792">
                  <a:extLst>
                    <a:ext uri="{9D8B030D-6E8A-4147-A177-3AD203B41FA5}">
                      <a16:colId xmlns:a16="http://schemas.microsoft.com/office/drawing/2014/main" val="2379254526"/>
                    </a:ext>
                  </a:extLst>
                </a:gridCol>
                <a:gridCol w="2964581">
                  <a:extLst>
                    <a:ext uri="{9D8B030D-6E8A-4147-A177-3AD203B41FA5}">
                      <a16:colId xmlns:a16="http://schemas.microsoft.com/office/drawing/2014/main" val="4029695792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泛函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优点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缺点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适合方向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相对计算成本</a:t>
                      </a:r>
                      <a:r>
                        <a:rPr lang="en-US" altLang="zh-CN" sz="1400" u="none" strike="noStrike" kern="1200" baseline="30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</a:rPr>
                        <a:t>[1],[2]</a:t>
                      </a:r>
                      <a:endParaRPr lang="zh-CN" altLang="en-US" sz="1400" u="none" strike="noStrike" kern="1200" baseline="30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341968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LDA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计算便宜，速度快，结构收敛稳定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分子结合能严重高估（过结合），晶格常数偏小，带隙低估极严重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简单金属；高压相；早期基准对照；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最低，约为 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PBE 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的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0.8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倍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75651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PBE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最常用，通用性强，数值稳定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晶格常数偏大、结合能偏弱、带隙低估，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一般固体，氧化物结构优化； 大规模缺陷计算；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优化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96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个原子超胞的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PO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相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HfO</a:t>
                      </a:r>
                      <a:r>
                        <a:rPr lang="en-US" altLang="zh-CN" sz="1400" u="none" strike="noStrike" kern="1200" baseline="-25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所需的 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CPU 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时间约为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9.5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小时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54499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PBEsol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对固体晶格常数、体积、应力、弹性常数等力学性质预测准确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带隙仍然低估，反应能、分子体系、吸附能不一定更优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适合界面应力、薄膜应变、氧化物结构稳定性，精确体相结构弛豫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与 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PBE 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基本同量级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686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SCAN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同时对晶格、形成能，相稳定性、带隙有均衡提升，自带中程范德华描述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比 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PBE 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贵，更难收敛，对 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K 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点和截断能要求高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多相竞争材料；氧化物；铁电体；中小体系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约为 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PBE 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的 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5 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倍，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635339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r</a:t>
                      </a:r>
                      <a:r>
                        <a:rPr lang="en-US" altLang="zh-CN" sz="1400" u="none" strike="noStrike" kern="1200" baseline="30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SCAN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SCAN 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的正则化版本，精度相当或略优，而数值稳定性大幅改善，更易收敛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仍有少许噪声，成本高于 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GGA</a:t>
                      </a:r>
                      <a:endParaRPr lang="zh-CN" altLang="en-US" sz="1400" u="none" strike="noStrike" kern="120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关键相稳定性校验；缺陷形成能校验；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约为 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SCAN 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的 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0.9 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倍，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PBE 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的 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4 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倍更易收敛</a:t>
                      </a:r>
                      <a:endParaRPr lang="zh-CN" altLang="en-US" sz="1400" u="none" strike="noStrik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441629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HSE06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对缺陷能级、电子局域化、极化相关电子结构更可靠，带隙计算准确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收敛难度更高，成本远高于 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PBE/PBEsol</a:t>
                      </a:r>
                      <a:endParaRPr lang="zh-CN" altLang="en-US" sz="1400" u="none" strike="noStrike" kern="120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算带隙；缺陷能级；局域电子态；关键结构验证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最高，为 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PBE 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的 </a:t>
                      </a:r>
                      <a:r>
                        <a:rPr lang="en-US" altLang="zh-CN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10–100 </a:t>
                      </a:r>
                      <a:r>
                        <a:rPr lang="zh-CN" altLang="en-US" sz="1400" u="none" strike="noStrike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602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7EBCD46-10A4-4CB7-BA68-AFAFC80D10CC}"/>
              </a:ext>
            </a:extLst>
          </p:cNvPr>
          <p:cNvSpPr txBox="1"/>
          <p:nvPr/>
        </p:nvSpPr>
        <p:spPr>
          <a:xfrm>
            <a:off x="110466" y="122157"/>
            <a:ext cx="116131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</a:rPr>
              <a:t>不同泛函的速度差异受体系大小、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</a:rPr>
              <a:t>k 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</a:rPr>
              <a:t>点、</a:t>
            </a:r>
            <a:r>
              <a:rPr lang="en-US" altLang="zh-CN" sz="2400">
                <a:latin typeface="Times New Roman" panose="02020603050405020304" pitchFamily="18" charset="0"/>
                <a:ea typeface="微软雅黑" panose="020B0503020204020204" pitchFamily="34" charset="-122"/>
              </a:rPr>
              <a:t>ENCUT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pitchFamily="34" charset="-122"/>
              </a:rPr>
              <a:t>、是否自旋、收敛阈值、并行设置影响很大，整体成本随体系规模呈三次方增长。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34ADA91-1532-4E4E-9253-8265B365E661}"/>
              </a:ext>
            </a:extLst>
          </p:cNvPr>
          <p:cNvSpPr txBox="1"/>
          <p:nvPr/>
        </p:nvSpPr>
        <p:spPr>
          <a:xfrm>
            <a:off x="-91665" y="6151068"/>
            <a:ext cx="115045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[1]Furness J W, Kaplan A D, et al. The journal of physical chemistry letters, 2020, 11(19): 8208-8215.</a:t>
            </a:r>
          </a:p>
          <a:p>
            <a:r>
              <a:rPr lang="en-US" altLang="zh-CN" sz="1600" b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[2]Kingsbury, Ryan, et al.Physical Review Materials 6.1 (2022): 013801.</a:t>
            </a:r>
          </a:p>
        </p:txBody>
      </p:sp>
    </p:spTree>
    <p:extLst>
      <p:ext uri="{BB962C8B-B14F-4D97-AF65-F5344CB8AC3E}">
        <p14:creationId xmlns:p14="http://schemas.microsoft.com/office/powerpoint/2010/main" val="186905673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3949</TotalTime>
  <Words>1187</Words>
  <Application>Microsoft Office PowerPoint</Application>
  <PresentationFormat>宽屏</PresentationFormat>
  <Paragraphs>190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quote-cjk-patch</vt:lpstr>
      <vt:lpstr>等线</vt:lpstr>
      <vt:lpstr>等线 Light</vt:lpstr>
      <vt:lpstr>微软雅黑</vt:lpstr>
      <vt:lpstr>Arial</vt:lpstr>
      <vt:lpstr>Times New Roman</vt:lpstr>
      <vt:lpstr>Office 主题​​</vt:lpstr>
      <vt:lpstr>微调数据集构建</vt:lpstr>
      <vt:lpstr>界面数据</vt:lpstr>
      <vt:lpstr>数据产生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超晶格</dc:title>
  <dc:creator>QB</dc:creator>
  <cp:lastModifiedBy>QB</cp:lastModifiedBy>
  <cp:revision>252</cp:revision>
  <dcterms:created xsi:type="dcterms:W3CDTF">2026-01-05T02:03:48Z</dcterms:created>
  <dcterms:modified xsi:type="dcterms:W3CDTF">2026-06-23T06:37:18Z</dcterms:modified>
</cp:coreProperties>
</file>